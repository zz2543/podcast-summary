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21792"/>
            <a:ext cx="676656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4200" b="1">
                <a:solidFill>
                  <a:srgbClr val="181F2B"/>
                </a:solidFill>
                <a:latin typeface="Aptos"/>
              </a:rPr>
              <a:t>GotIt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81328"/>
            <a:ext cx="658368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C58A6"/>
                </a:solidFill>
                <a:latin typeface="Aptos"/>
              </a:rPr>
              <a:t>本地端到端播客摘要工具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800" b="0">
                <a:solidFill>
                  <a:srgbClr val="181F2B"/>
                </a:solidFill>
                <a:latin typeface="Aptos"/>
              </a:rPr>
              <a:t>将一小时播客压缩为 30 秒可听、可验证、可导出的结构化摘要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630936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00" b="0">
                <a:solidFill>
                  <a:srgbClr val="181F2B"/>
                </a:solidFill>
                <a:latin typeface="Aptos"/>
              </a:rPr>
              <a:t>• 端到端处理：链接 / 文件输入、ASR、摘要、章节、引用、实体、TTS 与导出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00" b="0">
                <a:solidFill>
                  <a:srgbClr val="181F2B"/>
                </a:solidFill>
                <a:latin typeface="Aptos"/>
              </a:rPr>
              <a:t>• 面向真实使用场景：自用工具，而非一次性 demo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00" b="0">
                <a:solidFill>
                  <a:srgbClr val="181F2B"/>
                </a:solidFill>
                <a:latin typeface="Aptos"/>
              </a:rPr>
              <a:t>• 展示重点：工程完整性、技术实现与人工验证投入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532120"/>
            <a:ext cx="4389120" cy="329184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350" b="0">
                <a:solidFill>
                  <a:srgbClr val="5C6879"/>
                </a:solidFill>
                <a:latin typeface="Aptos"/>
              </a:rPr>
              <a:t>[你的名字] · 2026.05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749808"/>
            <a:ext cx="4160520" cy="507492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首页截图 + episode 卡片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保留给 v2 首页或真实运行截图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问题定义与产品定位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6583680" cy="2286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• 长音频内容成本高：单集播客通常持续 40-90 分钟，筛选与回看都需要额外时间。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• 用户目标并非完整转录，而是快速判断内容价值、结构脉络与值得回听的位置。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• 现有工具在轻量化、章节化、摘要浓缩与原文可验证性之间仍存在明显缺口。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• GotIt 的目标是用单个链接触发完整流程，并输出 hook、三幕结构、章节、引用、实体与 30 秒 TTS 摘要。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33087"/>
            <a:ext cx="6583680" cy="822960"/>
          </a:xfrm>
          <a:prstGeom prst="roundRect">
            <a:avLst/>
          </a:prstGeom>
          <a:solidFill>
            <a:srgbClr val="E5EEFC"/>
          </a:solidFill>
          <a:ln>
            <a:solidFill>
              <a:srgbClr val="B5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09728" bIns="91440"/>
          <a:lstStyle/>
          <a:p>
            <a:pPr algn="ctr"/>
            <a:r>
              <a:rPr sz="1650" b="1">
                <a:solidFill>
                  <a:srgbClr val="1C58A6"/>
                </a:solidFill>
                <a:latin typeface="Aptos"/>
              </a:rPr>
              <a:t>给一个链接，10 分钟后拿到可读、可听、可验证的播客浓缩。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353312"/>
            <a:ext cx="3566160" cy="196596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1 小时音频波形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703320"/>
            <a:ext cx="3566160" cy="196596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摘要卡片 + digest 播放器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P3 ·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Demo 导览：从输入到可听摘要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577840" cy="32461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1. 粘贴 YouTube / Bilibili / mp3 链接，或提交本地音频文件。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2. 通过 WebSocket 查看实时阶段进度：下载、ASR、摘要、章节、TTS。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3. 进入详情页查看 hook 引用、三幕摘要、章节时间轴与可点击原文引用。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4. 按需生成音频概览：由豆包大模型语音朗读摘要。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>
                <a:solidFill>
                  <a:srgbClr val="181F2B"/>
                </a:solidFill>
                <a:latin typeface="Aptos"/>
              </a:rPr>
              <a:t>5. 导出 Markdown、JSON 与 MP3，便于复盘、归档或二次处理。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298448"/>
            <a:ext cx="4434840" cy="393192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60 秒现场 demo / 备用视频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074920"/>
            <a:ext cx="5577840" cy="777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6948AC"/>
                </a:solidFill>
                <a:latin typeface="Aptos"/>
              </a:rPr>
              <a:t>讲述策略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本页只做口头预告，避免用截图替代现场演示；demo 翻车时切换到备用视频。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P4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端到端 Pipeline：八阶段异步处理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pic>
        <p:nvPicPr>
          <p:cNvPr id="7" name="Picture 6" descr="pipeline-architecture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38560" cy="5074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20624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fetch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ASR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LLM 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引用验证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35824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实体抽取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4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导出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88168" y="1965960"/>
            <a:ext cx="804672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867912"/>
            <a:ext cx="20116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58A6"/>
                </a:solidFill>
                <a:latin typeface="Aptos"/>
              </a:rPr>
              <a:t>React v1 /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867912"/>
            <a:ext cx="214884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208060"/>
                </a:solidFill>
                <a:latin typeface="Aptos"/>
              </a:rPr>
              <a:t>FastAPI · 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867912"/>
            <a:ext cx="2194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6948AC"/>
                </a:solidFill>
                <a:latin typeface="Aptos"/>
              </a:rPr>
              <a:t>SQLite / Event Bus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144768"/>
            <a:ext cx="1088136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80" b="0">
                <a:solidFill>
                  <a:srgbClr val="181F2B"/>
                </a:solidFill>
                <a:latin typeface="Aptos"/>
              </a:rPr>
              <a:t>关键机制：每个 stage 独立 retry、独立失败、独立可重做；stage_progress 写入 SQLite，前端订阅 WS 事件。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P5 · UI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真实界面：列表页与任务状态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629400" cy="443484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列表页全屏截图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353312"/>
            <a:ext cx="3566160" cy="3886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20" b="0">
                <a:solidFill>
                  <a:srgbClr val="181F2B"/>
                </a:solidFill>
                <a:latin typeface="Aptos"/>
              </a:rPr>
              <a:t>• 状态点以低干扰方式表达运行、完成与失败状态。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20" b="0">
                <a:solidFill>
                  <a:srgbClr val="181F2B"/>
                </a:solidFill>
                <a:latin typeface="Aptos"/>
              </a:rPr>
              <a:t>• 活动任务条显示后端实时推送的处理阶段，而不是前端轮询结果。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20" b="0">
                <a:solidFill>
                  <a:srgbClr val="181F2B"/>
                </a:solidFill>
                <a:latin typeface="Aptos"/>
              </a:rPr>
              <a:t>• 搜索与五类状态过滤用于快速定位 episode。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20" b="0">
                <a:solidFill>
                  <a:srgbClr val="181F2B"/>
                </a:solidFill>
                <a:latin typeface="Aptos"/>
              </a:rPr>
              <a:t>• 提交弹窗分为本地上传、Audio URL、YouTube / Bilibili 三类入口。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20" b="0">
                <a:solidFill>
                  <a:srgbClr val="181F2B"/>
                </a:solidFill>
                <a:latin typeface="Aptos"/>
              </a:rPr>
              <a:t>• “+ GotIt” 主按钮作为唯一高优先级操作入口。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P6 · Detail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真实界面：详情页与验证交互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98448"/>
            <a:ext cx="5989320" cy="452628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详情页滚动 GIF / 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417320"/>
            <a:ext cx="4160520" cy="3063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181F2B"/>
                </a:solidFill>
                <a:latin typeface="Aptos"/>
              </a:rPr>
              <a:t>1. Hook 大字引用：用 30 字内内容定位本集主题。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181F2B"/>
                </a:solidFill>
                <a:latin typeface="Aptos"/>
              </a:rPr>
              <a:t>2. Sticky 原音频播放器：滚动阅读时仍可随时播放原音频。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181F2B"/>
                </a:solidFill>
                <a:latin typeface="Aptos"/>
              </a:rPr>
              <a:t>3. 章节引用可点击：时间戳由线性插值估算，点击后 seek 到原位置并播放。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181F2B"/>
                </a:solidFill>
                <a:latin typeface="Aptos"/>
              </a:rPr>
              <a:t>4. AI Digest 播放器：与原音频播放器视觉区分，突出 30 秒浓缩摘要。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4754880"/>
            <a:ext cx="4160520" cy="89611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208060"/>
                </a:solidFill>
                <a:latin typeface="Aptos"/>
              </a:rPr>
              <a:t>设计重心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详情页服务于“读摘要 + 回到原文验证”这一真实动作，因此交互准确性比装饰性更重要。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P7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系统架构：单进程本地工具的分层实现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pic>
        <p:nvPicPr>
          <p:cNvPr id="7" name="Picture 6" descr="pipeline-architecture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07008"/>
            <a:ext cx="6583680" cy="3703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417320" y="2743200"/>
            <a:ext cx="17373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C58A6"/>
                </a:solidFill>
                <a:latin typeface="Apto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3840480"/>
            <a:ext cx="178308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08060"/>
                </a:solidFill>
                <a:latin typeface="Aptos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5001768"/>
            <a:ext cx="11887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6948AC"/>
                </a:solidFill>
                <a:latin typeface="Aptos"/>
              </a:rPr>
              <a:t>LLM / 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325880"/>
            <a:ext cx="3840480" cy="4389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Frontend：React + CSS 的 v1 与 React + Tailwind / Framer / Aceternity 的 v2 共享后端接口。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Backend：FastAPI 单进程运行，asyncio 负责 pipeline 调度，tenacity 提供重试能力。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State：SQLite 存储 episode、job 与 stage_progress；文件系统保存音频、导出与中间产物。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External services：Doubao ASR、DeepSeek / Qwen / Anthropic LLM、Doubao BigTTS 通过适配层接入。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扩展策略：当前不上 Celery / Redis，但接口边界保留队列化与多用户化空间。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P8 ·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技术栈与选型理由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25880"/>
          <a:ext cx="109270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572000"/>
                <a:gridCol w="5212080"/>
              </a:tblGrid>
              <a:tr h="48006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层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选型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FFFFFF"/>
                          </a:solidFill>
                          <a:latin typeface="Aptos"/>
                        </a:rPr>
                        <a:t>理由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后端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FastAPI / SQLAlchemy 2 / Alembic / Pydantic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类型严格、async 友好、迁移可控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asyncio / tenacity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本地工具无需额外队列，保持实现轻量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前端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React 19 / Vite /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功能完整，依赖最小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前端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React 19 / Tailwind / Framer / Aceternity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用于视觉与交互对比实验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ASR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豆包流式 / 录音文件大模型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中文识别质量与成本较优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DeepSeek / Qwen / 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多供应商抽象，便于成本与质量切换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豆包 v1 / 豆包 BigTTS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双轨可回退，支持 30 秒音频概览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下载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yt-dlp / ffmpeg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兼容主流音视频来源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pytest / Vitest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181F2B"/>
                          </a:solidFill>
                          <a:latin typeface="Aptos"/>
                        </a:rPr>
                        <a:t>domain 模块覆盖率门禁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P9 ·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八阶段流水线与实时事件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298448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316736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16736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yt-dlp 下载与 ffmpeg 归一化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73936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792224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transcribe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92224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豆包录音文件 ASR，base64 提交与轮询查询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249424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267712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summarize_hook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67712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一句话 hook，JSON schema 强校验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724912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2743200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summarize_three_act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743200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三幕结构摘要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00400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218688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chapter_outline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218688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章节与章节内 quote 候选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675887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2" y="3694175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quote_verify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694175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NFKC / 空白归一 / 子串匹配 / 段内插值时间戳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151375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4169663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entity_extract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169663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人名、书名、产品等命名实体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626863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4645151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645151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Markdown 与 JSON 输出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102351"/>
            <a:ext cx="475488" cy="384048"/>
          </a:xfrm>
          <a:prstGeom prst="roundRect">
            <a:avLst/>
          </a:prstGeom>
          <a:solidFill>
            <a:srgbClr val="E5EE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5120639"/>
            <a:ext cx="201168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50" b="1">
                <a:solidFill>
                  <a:srgbClr val="1C58A6"/>
                </a:solidFill>
                <a:latin typeface="Aptos"/>
              </a:rPr>
              <a:t>tts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120639"/>
            <a:ext cx="804672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120" b="0">
                <a:solidFill>
                  <a:srgbClr val="181F2B"/>
                </a:solidFill>
                <a:latin typeface="Aptos"/>
              </a:rPr>
              <a:t>独立触发的双向流 WebSocket 音频合成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779008"/>
            <a:ext cx="10789920" cy="512064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208060"/>
                </a:solidFill>
                <a:latin typeface="Aptos"/>
              </a:rPr>
              <a:t>运行时事实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每个阶段独立 retry；状态变化推送到 /api/ws/jobs；stage_progress 持久化后支持重启后继续观察。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P10 · Provider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多供应商抽象与 BigTTS 协议实现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20640" cy="4343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抽象层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ASR、LLM、TTS 都通过 create_xxx_client() 工厂与 Protocol 接口接入。调用方只依赖能力协议，不感知具体供应商。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4526280" cy="2240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ASR：doubao / openai_whisper / qwen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LLM：deepseek / qwen / anthropic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TTS：doubao legacy / doubao bigmodel / qwen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250" b="0">
                <a:solidFill>
                  <a:srgbClr val="181F2B"/>
                </a:solidFill>
                <a:latin typeface="Aptos"/>
              </a:rPr>
              <a:t>• 统一切换：通过 env 配置改变默认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074920" cy="4343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6948AC"/>
                </a:solidFill>
                <a:latin typeface="Aptos"/>
              </a:rPr>
              <a:t>协议实现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豆包 BigTTS 2.0 使用 WebSocket 二进制帧，而非一次性 HTTP 接口。项目内实现了 header、event id、payload size、session 生命周期与 AudioOnlyServer 分片接收。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0256" y="3456432"/>
            <a:ext cx="4343400" cy="169164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二进制帧 / factory 代码片段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后续粘贴代码截图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P11 · Debugging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Hard-Won Bugs：工程投入的证据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201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828800"/>
                <a:gridCol w="2743200"/>
                <a:gridCol w="1965960"/>
                <a:gridCol w="4251960"/>
              </a:tblGrid>
              <a:tr h="620485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现象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根因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修法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学到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TTS 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Authorization 需要 Bearer;&lt;token&gt;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修正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不能默认所有 API 遵守 OAuth 习惯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TTS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v1 单次文本 ≤1024 字节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按 UTF-8 字节切句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协议限制常藏在脚注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BigTTS 并发超限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resource_id 使用内部数字编号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改为 seed-tts-2.0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错误信息需要反证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digest.mp3 为空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mixed 语言路由到英文音色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mixed 归类为中文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静默失败更危险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多个 quote 时间戳相同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旧逻辑只返回 segment 起点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段内字符比例插值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C03342"/>
                          </a:solidFill>
                          <a:latin typeface="Aptos"/>
                        </a:rPr>
                        <a:t>要检查数据分布</a:t>
                      </a:r>
                    </a:p>
                  </a:txBody>
                  <a:tcPr>
                    <a:solidFill>
                      <a:srgbClr val="FFF4F4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Retry 后 PendingRollback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quote_verify 重跑撞 unique 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前置清理 +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10" b="0">
                          <a:solidFill>
                            <a:srgbClr val="181F2B"/>
                          </a:solidFill>
                          <a:latin typeface="Aptos"/>
                        </a:rPr>
                        <a:t>幂等是基础要求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236208"/>
            <a:ext cx="10881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050" b="0">
                <a:solidFill>
                  <a:srgbClr val="C03342"/>
                </a:solidFill>
                <a:latin typeface="Aptos"/>
              </a:rPr>
              <a:t>重点讲 #3 与 #5：它们最能体现协议排查、日志阅读、数据验证与测试补强。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P12 · Spec-Driven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SDD：先写规范再写代码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4983480" cy="4480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规范目录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specs/001-podcast-summary/
├── spec.md / plan.md / research.md
├── data-model.md / tasks.md / quickstart.md
├── ui-brief.md
├── contracts/
│   ├── http-api.md
│   ├── job-events.md
│   └── episode-output.schema.json
└── design/...
.specify/memory/constitution.md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16636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先定义用户故事、验收标准、数据模型与 API 契约，再进入任务拆解与实现。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Constitution 明确五条原则：英文交付、Python 3.11+、domain 覆盖率、配置外置、prompt 版本化。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Domain 模块 ≥80% 覆盖率是 NON-NEGOTIABLE 质量门。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所有 LLM prompt 集中维护在 prompts/，避免散落在业务代码中。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736592"/>
            <a:ext cx="4800600" cy="100584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specs 目录树截图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P13 ·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测试与质量门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5166360" cy="2011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测试结构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backend/tests/
├── unit/          12 files
└── integration/    8 files
frontend: Vitest + jsdom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639312"/>
            <a:ext cx="5166360" cy="1389888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C03342"/>
                </a:solidFill>
                <a:latin typeface="Aptos"/>
              </a:rPr>
              <a:t>覆盖率门禁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--cov=backend/src/podsum/domain
--cov-fail-under=80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4892040" cy="2560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Domain 模块尽量纯函数化，单测不依赖数据库与外部 API。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quote_verifier 插值 bug 修复同步加入回归测试。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流水线 stage 与 provider client 使用 mock 完成集成验证。</a:t>
            </a:r>
          </a:p>
          <a:p>
            <a:pPr>
              <a:lnSpc>
                <a:spcPct val="112000"/>
              </a:lnSpc>
              <a:spcAft>
                <a:spcPts val="430"/>
              </a:spcAft>
            </a:pPr>
            <a:r>
              <a:rPr sz="1300" b="0">
                <a:solidFill>
                  <a:srgbClr val="181F2B"/>
                </a:solidFill>
                <a:latin typeface="Aptos"/>
              </a:rPr>
              <a:t>• 质量门的目标不是形式覆盖，而是保护真实调试中暴露出的边界条件。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343400"/>
            <a:ext cx="4800600" cy="1298448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pytest --cov 终端截图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P14 · Frontend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两套前端：一个工程化视觉实验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25880"/>
          <a:ext cx="5440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48840"/>
                <a:gridCol w="219456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维度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v1 frontend/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v2 frontend-v2/</a:t>
                      </a:r>
                    </a:p>
                  </a:txBody>
                  <a:tcPr>
                    <a:solidFill>
                      <a:srgbClr val="1C58A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5173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5174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样式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纯 CSS + 渐变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Tailwind + Apple Liquid Glass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动效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framer-motion + Aceternity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风格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功能优先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内容优先 + 克制配色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用途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当前主力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81F2B"/>
                          </a:solidFill>
                          <a:latin typeface="Aptos"/>
                        </a:rPr>
                        <a:t>A/B 视觉测试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" y="3703320"/>
            <a:ext cx="5303520" cy="8686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208060"/>
                </a:solidFill>
                <a:latin typeface="Aptos"/>
              </a:rPr>
              <a:t>共同点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两套前端共享同一后端、API client 与 WebSocket 协议，可通过 make run-both 同时运行。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25880"/>
            <a:ext cx="2377440" cy="425196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v1 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25880"/>
            <a:ext cx="2377440" cy="425196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v2 截图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60120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900" b="1">
                <a:solidFill>
                  <a:srgbClr val="1C58A6"/>
                </a:solidFill>
                <a:latin typeface="Aptos"/>
              </a:rPr>
              <a:t>P15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9966960" cy="47548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2300" b="1">
                <a:solidFill>
                  <a:srgbClr val="181F2B"/>
                </a:solidFill>
                <a:latin typeface="Aptos"/>
              </a:rPr>
              <a:t>边界意识：未来路线与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84048"/>
            <a:ext cx="640080" cy="256032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850" b="0">
                <a:solidFill>
                  <a:srgbClr val="5C6879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60704"/>
            <a:ext cx="10972800" cy="13716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5029200" cy="1828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750" b="0">
                <a:solidFill>
                  <a:srgbClr val="5C6879"/>
                </a:solidFill>
                <a:latin typeface="Aptos"/>
              </a:rPr>
              <a:t>GotIt / Podsum 项目展示 · source: presentation/outline.md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325880"/>
            <a:ext cx="3291840" cy="3291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208060"/>
                </a:solidFill>
                <a:latin typeface="Aptos"/>
              </a:rPr>
              <a:t>今天能做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✓ 本地端到端跑通
✓ 5 天 / 93 次提交
✓ 8 stage / 20 个测试
✓ 可导出 md / json / mp3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3291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1C58A6"/>
                </a:solidFill>
                <a:latin typeface="Aptos"/>
              </a:rPr>
              <a:t>下一步可做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多用户认证
内容审核
PWA / 原生 App 化
部署与成本兜底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325880"/>
            <a:ext cx="3291840" cy="32918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0584" bIns="73152" wrap="square"/>
          <a:lstStyle/>
          <a:p>
            <a:pPr algn="ctr"/>
            <a:r>
              <a:rPr sz="1250" b="1">
                <a:solidFill>
                  <a:srgbClr val="C4671F"/>
                </a:solidFill>
                <a:latin typeface="Aptos"/>
              </a:rPr>
              <a:t>有意不做</a:t>
            </a:r>
          </a:p>
          <a:p>
            <a:pPr>
              <a:spcBef>
                <a:spcPts val="400"/>
              </a:spcBef>
            </a:pPr>
            <a:r>
              <a:rPr sz="1120" b="0">
                <a:solidFill>
                  <a:srgbClr val="181F2B"/>
                </a:solidFill>
                <a:latin typeface="Aptos"/>
              </a:rPr>
              <a:t>Celery / Redis：本地工具不值得
公开转录：版权边界不清晰
复杂云部署：不符合当前自用定位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983480"/>
            <a:ext cx="3291840" cy="868680"/>
          </a:xfrm>
          <a:prstGeom prst="roundRect">
            <a:avLst/>
          </a:prstGeom>
          <a:solidFill>
            <a:srgbClr val="FAFBFD"/>
          </a:solidFill>
          <a:ln w="15875">
            <a:solidFill>
              <a:srgbClr val="B8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5C6879"/>
                </a:solidFill>
                <a:latin typeface="Aptos"/>
              </a:rPr>
              <a:t>Logo / GitHub 链接</a:t>
            </a:r>
          </a:p>
          <a:p>
            <a:pPr algn="ctr"/>
            <a:r>
              <a:rPr sz="1050" b="0">
                <a:solidFill>
                  <a:srgbClr val="5C6879"/>
                </a:solidFill>
                <a:latin typeface="Aptos"/>
              </a:rPr>
              <a:t>后续粘贴截图 / 视频 / 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10912"/>
            <a:ext cx="3657600" cy="658368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3400" b="1">
                <a:solidFill>
                  <a:srgbClr val="1C58A6"/>
                </a:solidFill>
                <a:latin typeface="Aptos"/>
              </a:rPr>
              <a:t>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74920"/>
            <a:ext cx="38862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r>
              <a:rPr sz="1300" b="0">
                <a:solidFill>
                  <a:srgbClr val="181F2B"/>
                </a:solidFill>
                <a:latin typeface="Aptos"/>
              </a:rPr>
              <a:t>AI 是协作工具；决策、排查与验证仍由人完成。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