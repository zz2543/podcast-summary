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3f7af168b64690" /><Relationship Type="http://schemas.openxmlformats.org/officeDocument/2006/relationships/extended-properties" Target="/docProps/app.xml" Id="R0692c35d1d454499" /><Relationship Type="http://schemas.openxmlformats.org/officeDocument/2006/relationships/officeDocument" Target="/ppt/presentation.xml" Id="R4e4a9a6df22e41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fce6cc04fc47d3"/>
  </p:sldMasterIdLst>
  <p:notesMasterIdLst>
    <p:notesMasterId xmlns:r="http://schemas.openxmlformats.org/officeDocument/2006/relationships" r:id="R9ce03ac945d54b7a"/>
  </p:notesMasterIdLst>
  <p:sldIdLst>
    <p:sldId xmlns:r="http://schemas.openxmlformats.org/officeDocument/2006/relationships" id="256" r:id="R3be8daeb8b4f4868"/>
    <p:sldId xmlns:r="http://schemas.openxmlformats.org/officeDocument/2006/relationships" id="257" r:id="Re8119ca2bbc64ddb"/>
    <p:sldId xmlns:r="http://schemas.openxmlformats.org/officeDocument/2006/relationships" id="258" r:id="Rbd3e440d721a42bd"/>
    <p:sldId xmlns:r="http://schemas.openxmlformats.org/officeDocument/2006/relationships" id="259" r:id="R9db047eb57b2404f"/>
    <p:sldId xmlns:r="http://schemas.openxmlformats.org/officeDocument/2006/relationships" id="260" r:id="R54c41456c81b48e4"/>
    <p:sldId xmlns:r="http://schemas.openxmlformats.org/officeDocument/2006/relationships" id="261" r:id="Rd9ee9c788385468c"/>
    <p:sldId xmlns:r="http://schemas.openxmlformats.org/officeDocument/2006/relationships" id="262" r:id="R2687f552072c46df"/>
    <p:sldId xmlns:r="http://schemas.openxmlformats.org/officeDocument/2006/relationships" id="263" r:id="R3a4da912e51d4f64"/>
    <p:sldId xmlns:r="http://schemas.openxmlformats.org/officeDocument/2006/relationships" id="264" r:id="R485d037f7abb4bb1"/>
    <p:sldId xmlns:r="http://schemas.openxmlformats.org/officeDocument/2006/relationships" id="265" r:id="R696bc368608c438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fce6cc04fc47d3" /><Relationship Type="http://schemas.openxmlformats.org/officeDocument/2006/relationships/theme" Target="/ppt/theme/theme1.xml" Id="Rc2e6aa557d564956" /><Relationship Type="http://schemas.openxmlformats.org/officeDocument/2006/relationships/notesMaster" Target="/ppt/notesMasters/notesMaster1.xml" Id="R9ce03ac945d54b7a" /><Relationship Type="http://schemas.openxmlformats.org/officeDocument/2006/relationships/presProps" Target="/ppt/presProps.xml" Id="R078ae30f80384c93" /><Relationship Type="http://schemas.openxmlformats.org/officeDocument/2006/relationships/viewProps" Target="/ppt/viewProps.xml" Id="Rb9ba7bdbe36b4602" /><Relationship Type="http://schemas.openxmlformats.org/officeDocument/2006/relationships/tableStyles" Target="/ppt/tableStyles.xml" Id="R4940fb13470b4970" /><Relationship Type="http://schemas.openxmlformats.org/officeDocument/2006/relationships/slide" Target="/ppt/slides/slide1.xml" Id="R3be8daeb8b4f4868" /><Relationship Type="http://schemas.openxmlformats.org/officeDocument/2006/relationships/slide" Target="/ppt/slides/slide2.xml" Id="Re8119ca2bbc64ddb" /><Relationship Type="http://schemas.openxmlformats.org/officeDocument/2006/relationships/slide" Target="/ppt/slides/slide3.xml" Id="Rbd3e440d721a42bd" /><Relationship Type="http://schemas.openxmlformats.org/officeDocument/2006/relationships/slide" Target="/ppt/slides/slide4.xml" Id="R9db047eb57b2404f" /><Relationship Type="http://schemas.openxmlformats.org/officeDocument/2006/relationships/slide" Target="/ppt/slides/slide5.xml" Id="R54c41456c81b48e4" /><Relationship Type="http://schemas.openxmlformats.org/officeDocument/2006/relationships/slide" Target="/ppt/slides/slide6.xml" Id="Rd9ee9c788385468c" /><Relationship Type="http://schemas.openxmlformats.org/officeDocument/2006/relationships/slide" Target="/ppt/slides/slide7.xml" Id="R2687f552072c46df" /><Relationship Type="http://schemas.openxmlformats.org/officeDocument/2006/relationships/slide" Target="/ppt/slides/slide8.xml" Id="R3a4da912e51d4f64" /><Relationship Type="http://schemas.openxmlformats.org/officeDocument/2006/relationships/slide" Target="/ppt/slides/slide9.xml" Id="R485d037f7abb4bb1" /><Relationship Type="http://schemas.openxmlformats.org/officeDocument/2006/relationships/slide" Target="/ppt/slides/slide10.xml" Id="R696bc368608c43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953850ae70d42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7de20a5c3a4633" /><Relationship Type="http://schemas.openxmlformats.org/officeDocument/2006/relationships/notesMaster" Target="/ppt/notesMasters/notesMaster1.xml" Id="Rd94c23dd472343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91ce08fe4f4e75" /><Relationship Type="http://schemas.openxmlformats.org/officeDocument/2006/relationships/notesMaster" Target="/ppt/notesMasters/notesMaster1.xml" Id="R6bcbb0acf6924b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c474d33bac4524" /><Relationship Type="http://schemas.openxmlformats.org/officeDocument/2006/relationships/notesMaster" Target="/ppt/notesMasters/notesMaster1.xml" Id="Ra65a8d88b49349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4b83ca69a840b9" /><Relationship Type="http://schemas.openxmlformats.org/officeDocument/2006/relationships/notesMaster" Target="/ppt/notesMasters/notesMaster1.xml" Id="R830212e5f37c46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0ee65efea54665" /><Relationship Type="http://schemas.openxmlformats.org/officeDocument/2006/relationships/notesMaster" Target="/ppt/notesMasters/notesMaster1.xml" Id="R66d5be09b09d4a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f6ec7278d2474c" /><Relationship Type="http://schemas.openxmlformats.org/officeDocument/2006/relationships/notesMaster" Target="/ppt/notesMasters/notesMaster1.xml" Id="R42d0d0c4588f40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a1d1e2b98b49e2" /><Relationship Type="http://schemas.openxmlformats.org/officeDocument/2006/relationships/notesMaster" Target="/ppt/notesMasters/notesMaster1.xml" Id="Rf19faeb06adb44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5200b55ece4f24" /><Relationship Type="http://schemas.openxmlformats.org/officeDocument/2006/relationships/notesMaster" Target="/ppt/notesMasters/notesMaster1.xml" Id="R5f05c4aefee244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2f00ca008584963" /><Relationship Type="http://schemas.openxmlformats.org/officeDocument/2006/relationships/notesMaster" Target="/ppt/notesMasters/notesMaster1.xml" Id="R3ca26a2e8bbe431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194a2b7d6245ec" /><Relationship Type="http://schemas.openxmlformats.org/officeDocument/2006/relationships/notesMaster" Target="/ppt/notesMasters/notesMaster1.xml" Id="Rcffefd2dcb4d40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0e85e0ed9146f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0a9c74ed5dc46ca" /><Relationship Type="http://schemas.openxmlformats.org/officeDocument/2006/relationships/slideLayout" Target="/ppt/slideLayouts/slideLayout2.xml" Id="R80f29fdac87d41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f29fdac87d41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32661da78b4aca" /><Relationship Type="http://schemas.openxmlformats.org/officeDocument/2006/relationships/image" Target="/ppt/media/image.png" Id="R3356db3a94e24525" /><Relationship Type="http://schemas.openxmlformats.org/officeDocument/2006/relationships/image" Target="/ppt/media/image.svg" Id="R4332505aae6243bf" /><Relationship Type="http://schemas.openxmlformats.org/officeDocument/2006/relationships/notesSlide" Target="/ppt/notesSlides/notesSlide1.xml" Id="Rab716e84769f4b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b7586d68cc4a84" /><Relationship Type="http://schemas.openxmlformats.org/officeDocument/2006/relationships/image" Target="/ppt/media/image2.png" Id="R85145e56874449a7" /><Relationship Type="http://schemas.openxmlformats.org/officeDocument/2006/relationships/image" Target="/ppt/media/image2.svg" Id="R8ee57a29d7244c21" /><Relationship Type="http://schemas.openxmlformats.org/officeDocument/2006/relationships/image" Target="/ppt/media/image3.png" Id="R54d368a0c6b14cb9" /><Relationship Type="http://schemas.openxmlformats.org/officeDocument/2006/relationships/image" Target="/ppt/media/image3.svg" Id="R4bfd7c6a9bad4b0f" /><Relationship Type="http://schemas.openxmlformats.org/officeDocument/2006/relationships/image" Target="/ppt/media/image4.png" Id="R5535913c44534e49" /><Relationship Type="http://schemas.openxmlformats.org/officeDocument/2006/relationships/image" Target="/ppt/media/image4.svg" Id="R50fd2b5bf571487c" /><Relationship Type="http://schemas.openxmlformats.org/officeDocument/2006/relationships/notesSlide" Target="/ppt/notesSlides/notesSlide2.xml" Id="Ra348ca7c014849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514f70c1304e1c" /><Relationship Type="http://schemas.openxmlformats.org/officeDocument/2006/relationships/image" Target="/ppt/media/image5.png" Id="Rc37c5a4b4e0e4564" /><Relationship Type="http://schemas.openxmlformats.org/officeDocument/2006/relationships/image" Target="/ppt/media/image5.svg" Id="Rb9a17607848846c5" /><Relationship Type="http://schemas.openxmlformats.org/officeDocument/2006/relationships/notesSlide" Target="/ppt/notesSlides/notesSlide3.xml" Id="Rc957aea85c9f4b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1384eaa1574dcd" /><Relationship Type="http://schemas.openxmlformats.org/officeDocument/2006/relationships/image" Target="/ppt/media/image6.png" Id="R254668a4b7c3478c" /><Relationship Type="http://schemas.openxmlformats.org/officeDocument/2006/relationships/image" Target="/ppt/media/image6.svg" Id="R3f54915a9fb84a0f" /><Relationship Type="http://schemas.openxmlformats.org/officeDocument/2006/relationships/image" Target="/ppt/media/image7.png" Id="R2bb27b5cbfd14c85" /><Relationship Type="http://schemas.openxmlformats.org/officeDocument/2006/relationships/image" Target="/ppt/media/image7.svg" Id="Rb313d5013173450f" /><Relationship Type="http://schemas.openxmlformats.org/officeDocument/2006/relationships/image" Target="/ppt/media/image8.png" Id="R69b9b5d49a2746c5" /><Relationship Type="http://schemas.openxmlformats.org/officeDocument/2006/relationships/image" Target="/ppt/media/image8.svg" Id="Re9079d1ebfc340e6" /><Relationship Type="http://schemas.openxmlformats.org/officeDocument/2006/relationships/image" Target="/ppt/media/image9.png" Id="R5556f496a925441a" /><Relationship Type="http://schemas.openxmlformats.org/officeDocument/2006/relationships/image" Target="/ppt/media/image9.svg" Id="Rd26979b59a264f37" /><Relationship Type="http://schemas.openxmlformats.org/officeDocument/2006/relationships/image" Target="/ppt/media/image10.png" Id="Ref96bc5bcf114ec1" /><Relationship Type="http://schemas.openxmlformats.org/officeDocument/2006/relationships/image" Target="/ppt/media/image10.svg" Id="Rab8d8e70aa88438e" /><Relationship Type="http://schemas.openxmlformats.org/officeDocument/2006/relationships/image" Target="/ppt/media/image11.png" Id="R9c48d7316efd4660" /><Relationship Type="http://schemas.openxmlformats.org/officeDocument/2006/relationships/image" Target="/ppt/media/image11.svg" Id="R664bd6d3ac9d4e2e" /><Relationship Type="http://schemas.openxmlformats.org/officeDocument/2006/relationships/image" Target="/ppt/media/image12.png" Id="Rc8123620bc9a4a2d" /><Relationship Type="http://schemas.openxmlformats.org/officeDocument/2006/relationships/image" Target="/ppt/media/image12.svg" Id="R3bba0cdf4d2045e0" /><Relationship Type="http://schemas.openxmlformats.org/officeDocument/2006/relationships/image" Target="/ppt/media/image13.png" Id="R111d4b9a3c374a99" /><Relationship Type="http://schemas.openxmlformats.org/officeDocument/2006/relationships/image" Target="/ppt/media/image13.svg" Id="Re7368992e7964179" /><Relationship Type="http://schemas.openxmlformats.org/officeDocument/2006/relationships/notesSlide" Target="/ppt/notesSlides/notesSlide4.xml" Id="R98c779a1034844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eefdf1184b4764" /><Relationship Type="http://schemas.openxmlformats.org/officeDocument/2006/relationships/image" Target="/ppt/media/image14.png" Id="R762bdfde40ce43bd" /><Relationship Type="http://schemas.openxmlformats.org/officeDocument/2006/relationships/image" Target="/ppt/media/image14.svg" Id="R03712fa0e6794025" /><Relationship Type="http://schemas.openxmlformats.org/officeDocument/2006/relationships/image" Target="/ppt/media/image15.png" Id="R226f84db3e7e47a0" /><Relationship Type="http://schemas.openxmlformats.org/officeDocument/2006/relationships/image" Target="/ppt/media/image15.svg" Id="R191a85a635da4d8a" /><Relationship Type="http://schemas.openxmlformats.org/officeDocument/2006/relationships/image" Target="/ppt/media/image16.png" Id="R379617ce043843a5" /><Relationship Type="http://schemas.openxmlformats.org/officeDocument/2006/relationships/image" Target="/ppt/media/image16.svg" Id="Re4a69dc0e9b442c0" /><Relationship Type="http://schemas.openxmlformats.org/officeDocument/2006/relationships/image" Target="/ppt/media/image17.png" Id="Rd3d319665c964c88" /><Relationship Type="http://schemas.openxmlformats.org/officeDocument/2006/relationships/image" Target="/ppt/media/image17.svg" Id="R459dedb596ca459a" /><Relationship Type="http://schemas.openxmlformats.org/officeDocument/2006/relationships/image" Target="/ppt/media/image18.png" Id="R765d8cddfa7946d0" /><Relationship Type="http://schemas.openxmlformats.org/officeDocument/2006/relationships/image" Target="/ppt/media/image18.svg" Id="R2fed53518c614adf" /><Relationship Type="http://schemas.openxmlformats.org/officeDocument/2006/relationships/notesSlide" Target="/ppt/notesSlides/notesSlide5.xml" Id="R80f8bb15d66a48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14adacefdc4762" /><Relationship Type="http://schemas.openxmlformats.org/officeDocument/2006/relationships/notesSlide" Target="/ppt/notesSlides/notesSlide6.xml" Id="R83247a96c73f49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7a9b68fa994a98" /><Relationship Type="http://schemas.openxmlformats.org/officeDocument/2006/relationships/image" Target="/ppt/media/image19.png" Id="Rae3254fe70c14331" /><Relationship Type="http://schemas.openxmlformats.org/officeDocument/2006/relationships/image" Target="/ppt/media/image19.svg" Id="R8c04c7e4e91a4b4d" /><Relationship Type="http://schemas.openxmlformats.org/officeDocument/2006/relationships/image" Target="/ppt/media/image20.png" Id="R0050a33c08004a42" /><Relationship Type="http://schemas.openxmlformats.org/officeDocument/2006/relationships/image" Target="/ppt/media/image20.svg" Id="R3addc600b2714d51" /><Relationship Type="http://schemas.openxmlformats.org/officeDocument/2006/relationships/image" Target="/ppt/media/image21.png" Id="R0cc36e17a5934115" /><Relationship Type="http://schemas.openxmlformats.org/officeDocument/2006/relationships/image" Target="/ppt/media/image21.svg" Id="R59932c884e404a39" /><Relationship Type="http://schemas.openxmlformats.org/officeDocument/2006/relationships/image" Target="/ppt/media/image22.png" Id="Rd16c038d2c7e482e" /><Relationship Type="http://schemas.openxmlformats.org/officeDocument/2006/relationships/image" Target="/ppt/media/image22.svg" Id="R61b0beda846441fc" /><Relationship Type="http://schemas.openxmlformats.org/officeDocument/2006/relationships/notesSlide" Target="/ppt/notesSlides/notesSlide7.xml" Id="R26dcdebf827242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70bcae654e4dba" /><Relationship Type="http://schemas.openxmlformats.org/officeDocument/2006/relationships/image" Target="/ppt/media/image23.png" Id="Rb3161519231642dd" /><Relationship Type="http://schemas.openxmlformats.org/officeDocument/2006/relationships/image" Target="/ppt/media/image23.svg" Id="R21d2b6b478aa410f" /><Relationship Type="http://schemas.openxmlformats.org/officeDocument/2006/relationships/image" Target="/ppt/media/image24.png" Id="Rac004277cbac48af" /><Relationship Type="http://schemas.openxmlformats.org/officeDocument/2006/relationships/image" Target="/ppt/media/image24.svg" Id="R8f840d36c3ed404d" /><Relationship Type="http://schemas.openxmlformats.org/officeDocument/2006/relationships/notesSlide" Target="/ppt/notesSlides/notesSlide8.xml" Id="R5a6c5f1ec5f544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3d42ea438b4510" /><Relationship Type="http://schemas.openxmlformats.org/officeDocument/2006/relationships/notesSlide" Target="/ppt/notesSlides/notesSlide9.xml" Id="R9fd70df52a3e46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da77403a6d4914" /><Relationship Type="http://schemas.openxmlformats.org/officeDocument/2006/relationships/notesSlide" Target="/ppt/notesSlides/notesSlide10.xml" Id="Rf65cde756d8a48c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5D7283-D4AC-44FD-B31D-E3B3375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C382BA-2377-404F-B37C-15EEEEDF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1C252-2BB1-4F8F-8AFE-966CA75A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48207E-D286-4AD5-B18E-C0D6A701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AE1C9-326A-4EA7-B8CD-253EE270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65FD1-2754-4606-AA45-02B2F80B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522EA-6773-42D6-A0A4-8CACCA2A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6FF5A-C8CB-4586-88B1-DB1BA656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5E1E50-461B-42DA-BCEA-741CD372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1C07D9-05D6-44F0-860B-F3EA7806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52F573-D112-4999-B8B8-F1C80976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FB584F-84CB-4BDE-B882-9FBFAACB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D89D7F-8B35-417B-A695-2AF8D4F7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2D971E-750D-49FF-8419-137382E9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E09550-65CF-4E9D-8A00-610E5565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FB40B1-8610-41EC-ABE4-C19DF177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C7EAEF-65CD-4D5C-8445-AB29142A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B4D9C0-0758-419D-9C4B-81A0510D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A00806-1629-468F-B19F-FF0BA240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D5C703-52F1-41A9-851B-0C2D0CC4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0F8446-FD82-4054-BAF8-B54CA436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869856-1DB2-453A-A2E8-3D80B7BC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7A2F4A-E68C-4AF9-91A2-12F42279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FC532E-3C11-4E09-930F-9189FA1F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E9DD60-5D63-45A4-A0C2-7019896E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D22E94-0A88-4A4D-BF1D-42B28F74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E31E93-E231-4AEC-B49F-0847177B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0D7AAC-D207-472F-ADCD-091553CC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28B4C6-DAC2-4457-A4FF-0111BB38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84044E-831F-4823-AA5A-3937E5BD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7E037F-AB26-4927-9732-014D985D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0A91AA-C467-4F95-87C9-ABFF0C8E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05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DAADD2-1BCB-4467-BE61-9B1938B8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6868B"/>
                </a:solidFill>
                <a:latin typeface="SF Pro Text"/>
                <a:ea typeface="SF Pro Text"/>
                <a:cs typeface="SF Pro Text"/>
              </a:defRPr>
            </a:pPr>
            <a:r>
              <a:rPr sz="825" b="1">
                <a:solidFill>
                  <a:srgbClr val="86868B"/>
                </a:solidFill>
                <a:latin typeface="SF Pro Text"/>
                <a:ea typeface="SF Pro Text"/>
                <a:cs typeface="SF Pro Text"/>
              </a:rPr>
              <a:t>PODCAST SUMMARY SYSTEM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16D54B-42D8-455A-9B3A-59EB0F8F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76300"/>
            <a:ext cx="581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rPr sz="300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rPr>
              <a:t>从播客消费到知识沉淀的完整工作流网站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641968-628B-447B-9437-B7AA2C38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533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1200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不是一次性的 AI 总结 demo，而是围绕真实学习场景设计的本地 Web 产品：输入、理解、验证、导出、复用。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F4CD8-3421-49B2-8907-28CE71E0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352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D86E13-C11C-4920-ADF0-A349C563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1123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1D1F"/>
                </a:solidFill>
                <a:latin typeface="SF Pro Text"/>
                <a:ea typeface="SF Pro Text"/>
                <a:cs typeface="SF Pro Text"/>
              </a:defRPr>
            </a:pPr>
            <a:r>
              <a:rPr sz="750" b="1">
                <a:solidFill>
                  <a:srgbClr val="1D1D1F"/>
                </a:solidFill>
                <a:latin typeface="SF Pro Text"/>
                <a:ea typeface="SF Pro Text"/>
                <a:cs typeface="SF Pro Text"/>
              </a:rPr>
              <a:t>ASR + LLM + TTS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CF5F01-A25D-40D0-B8ED-6AEAD470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333750"/>
            <a:ext cx="1504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28A02E-B6A9-4A28-94F8-CCC4CFED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409950"/>
            <a:ext cx="1276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1D1F"/>
                </a:solidFill>
                <a:latin typeface="SF Pro Text"/>
                <a:ea typeface="SF Pro Text"/>
                <a:cs typeface="SF Pro Text"/>
              </a:defRPr>
            </a:pPr>
            <a:r>
              <a:rPr sz="750" b="1">
                <a:solidFill>
                  <a:srgbClr val="1D1D1F"/>
                </a:solidFill>
                <a:latin typeface="SF Pro Text"/>
                <a:ea typeface="SF Pro Text"/>
                <a:cs typeface="SF Pro Text"/>
              </a:rPr>
              <a:t>Quote verification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947950-22D6-4C68-8367-01B19811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33750"/>
            <a:ext cx="1333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E53B6C-732F-4C32-9EC3-7C173DEC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09950"/>
            <a:ext cx="1104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1D1F"/>
                </a:solidFill>
                <a:latin typeface="SF Pro Text"/>
                <a:ea typeface="SF Pro Text"/>
                <a:cs typeface="SF Pro Text"/>
              </a:defRPr>
            </a:pPr>
            <a:r>
              <a:rPr sz="750" b="1">
                <a:solidFill>
                  <a:srgbClr val="1D1D1F"/>
                </a:solidFill>
                <a:latin typeface="SF Pro Text"/>
                <a:ea typeface="SF Pro Text"/>
                <a:cs typeface="SF Pro Text"/>
              </a:rPr>
              <a:t>Obsidian-ready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F98EED-19FD-4752-8C41-15D9A5DD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781050"/>
            <a:ext cx="4095750" cy="495300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BDB9E5-2E45-4654-9F6F-55DE5269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04850"/>
            <a:ext cx="4095750" cy="495300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2B8EF1-A0BF-479E-9EE8-66066DAA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04850"/>
            <a:ext cx="4095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0">
            <a:solidFill>
              <a:srgbClr val="E5E5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3FDCC41-CC20-47D7-908B-EEEE0A01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857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BF02447-1F99-4BC2-BB12-01D40247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857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EC690AE-57FF-4032-88B3-71BCE883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57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7A35EF9-DD7D-4696-A883-A4DB7853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8001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rPr sz="90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rPr>
              <a:t>Podsum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D1F20A3-3352-4764-909C-84F744A1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83820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86868B"/>
                </a:solidFill>
                <a:latin typeface="SF Pro Text"/>
                <a:ea typeface="SF Pro Text"/>
                <a:cs typeface="SF Pro Text"/>
              </a:defRPr>
            </a:pPr>
            <a:r>
              <a:rPr sz="525" b="0">
                <a:solidFill>
                  <a:srgbClr val="86868B"/>
                </a:solidFill>
                <a:latin typeface="SF Pro Text"/>
                <a:ea typeface="SF Pro Text"/>
                <a:cs typeface="SF Pro Text"/>
              </a:rPr>
              <a:t>v2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7E12724-D860-42A7-98DF-496186EB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742950"/>
            <a:ext cx="533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CFEBD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98C024C-6A0A-4AB7-A994-CD1BAF2E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819150"/>
            <a:ext cx="304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48A48"/>
                </a:solidFill>
                <a:latin typeface="SF Pro Text"/>
                <a:ea typeface="SF Pro Text"/>
                <a:cs typeface="SF Pro Text"/>
              </a:defRPr>
            </a:pPr>
            <a:r>
              <a:rPr sz="750" b="1">
                <a:solidFill>
                  <a:srgbClr val="248A48"/>
                </a:solidFill>
                <a:latin typeface="SF Pro Text"/>
                <a:ea typeface="SF Pro Text"/>
                <a:cs typeface="SF Pro Text"/>
              </a:rPr>
              <a:t>Live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F686F02-0EDC-427C-A77D-2651227F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428750"/>
            <a:ext cx="3333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FCD7F3D-C1BF-47E7-98D7-18750886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352550"/>
            <a:ext cx="3333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549AA51-B8EF-40C9-996D-B5938E73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430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6868B"/>
                </a:solidFill>
                <a:latin typeface="SF Pro Text"/>
                <a:ea typeface="SF Pro Text"/>
                <a:cs typeface="SF Pro Text"/>
              </a:defRPr>
            </a:pPr>
            <a:r>
              <a:rPr sz="750" b="1">
                <a:solidFill>
                  <a:srgbClr val="86868B"/>
                </a:solidFill>
                <a:latin typeface="SF Pro Text"/>
                <a:ea typeface="SF Pro Text"/>
                <a:cs typeface="SF Pro Text"/>
              </a:rPr>
              <a:t>Hook hero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215F0B4-52BD-4500-B65D-94CBFA28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52600"/>
            <a:ext cx="2781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1D1F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>
                <a:solidFill>
                  <a:srgbClr val="1D1D1F"/>
                </a:solidFill>
                <a:latin typeface="SF Pro Text"/>
                <a:ea typeface="SF Pro Text"/>
                <a:cs typeface="SF Pro Text"/>
              </a:rPr>
              <a:t>How one long interview becomes a reusable learning asset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821A488-B401-42C9-9877-33A5CA32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495550"/>
            <a:ext cx="14859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8BB87DF-36AF-4029-A2B5-F4104A8F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19350"/>
            <a:ext cx="14859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1E470E4-1A82-408F-A105-4703F2D7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289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1D1F"/>
                </a:solidFill>
                <a:latin typeface="SF Pro Text"/>
                <a:ea typeface="SF Pro Text"/>
                <a:cs typeface="SF Pro Text"/>
              </a:defRPr>
            </a:pPr>
            <a:r>
              <a:rPr sz="825" b="1">
                <a:solidFill>
                  <a:srgbClr val="1D1D1F"/>
                </a:solidFill>
                <a:latin typeface="SF Pro Text"/>
                <a:ea typeface="SF Pro Text"/>
                <a:cs typeface="SF Pro Text"/>
              </a:rPr>
              <a:t>Background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7ACAEA0-AE9F-429F-9C3E-3988449B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76550"/>
            <a:ext cx="1009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713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Context before detail, so users know what problem the episode answers.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33894D3-1441-43D0-B7E3-DF3739F4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95550"/>
            <a:ext cx="14859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6D9B0EE-F4BF-4314-AB27-B4292AB5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19350"/>
            <a:ext cx="14859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0346A7A-F0D8-41F1-89F3-3B553C7A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289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1D1F"/>
                </a:solidFill>
                <a:latin typeface="SF Pro Text"/>
                <a:ea typeface="SF Pro Text"/>
                <a:cs typeface="SF Pro Text"/>
              </a:defRPr>
            </a:pPr>
            <a:r>
              <a:rPr sz="825" b="1">
                <a:solidFill>
                  <a:srgbClr val="1D1D1F"/>
                </a:solidFill>
                <a:latin typeface="SF Pro Text"/>
                <a:ea typeface="SF Pro Text"/>
                <a:cs typeface="SF Pro Text"/>
              </a:rPr>
              <a:t>Core argument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051DFC8-612E-4F92-8675-01C0FE54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76550"/>
            <a:ext cx="990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713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The central claim is separated from supporting details.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B823D2A-B00B-42C9-A200-B836F25C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867150"/>
            <a:ext cx="3333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93C1DD9-C1BD-4496-A479-09E765AD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90950"/>
            <a:ext cx="3333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6db3a94e24525">
            <a:extLst>
              <a:ext uri="{96DAC541-7B7A-43D3-8B79-37D633B846F1}">
                <asvg:svgBlip xmlns:asvg="http://schemas.microsoft.com/office/drawing/2016/SVG/main" r:embed="R4332505aae6243b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524750" y="40386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21930D8-35B4-4EB4-B8C4-EC6D232A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5765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1D1F"/>
                </a:solidFill>
                <a:latin typeface="SF Pro Text"/>
                <a:ea typeface="SF Pro Text"/>
                <a:cs typeface="SF Pro Text"/>
              </a:defRPr>
            </a:pPr>
            <a:r>
              <a:rPr sz="825" b="1">
                <a:solidFill>
                  <a:srgbClr val="1D1D1F"/>
                </a:solidFill>
                <a:latin typeface="SF Pro Text"/>
                <a:ea typeface="SF Pro Text"/>
                <a:cs typeface="SF Pro Text"/>
              </a:rPr>
              <a:t>14:32 verified quote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F487502-3005-4BA2-9C02-925B6902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053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713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Click quote chips to jump back to the original audio evidence.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5DA767A-A719-4471-B09D-C8AA9076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62450"/>
            <a:ext cx="571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1D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484D272-55B8-44D3-A269-B11196E2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29100"/>
            <a:ext cx="57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D74BBAF-03F8-4FE1-A71C-3FB0D46F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05300"/>
            <a:ext cx="571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1D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95737E4-DE62-49AE-8CEF-7DA6214C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133850"/>
            <a:ext cx="571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CD063CB-AA79-41EB-B1F1-AEBF600F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248150"/>
            <a:ext cx="57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1D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08B6741-A37A-4763-AD18-B8B57A28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386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6902F6A-E549-4A15-A052-4DC3AC7C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343400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1D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D1E7385-E905-44E4-9CB7-080B0119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191000"/>
            <a:ext cx="571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7EE2290-A5E8-40AE-9373-68556CDB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267200"/>
            <a:ext cx="57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1D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096EF57-78C2-4D73-9396-113BD10C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095750"/>
            <a:ext cx="57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E6BE711-0ED3-4987-89E0-C4215362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14900"/>
            <a:ext cx="292100" cy="3619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6B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13EBF27-23B7-45C7-9701-29B8F0D6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7775" y="4914900"/>
            <a:ext cx="292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F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AD163B1-2121-4DC1-B937-3D65E69D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350" y="4914900"/>
            <a:ext cx="292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8A90F1B-BE14-4559-9BFC-4F9A4ECF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914900"/>
            <a:ext cx="292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B708545-53B9-4CB7-8D12-61D75FBA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500" y="4914900"/>
            <a:ext cx="292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6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62EC377-4DDE-464A-9943-32DC8787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8075" y="4914900"/>
            <a:ext cx="292100" cy="3619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E85C437-698A-411A-838F-27C3E393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010150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SF Pro Text"/>
                <a:ea typeface="SF Pro Text"/>
                <a:cs typeface="SF Pro Text"/>
              </a:defRPr>
            </a:pPr>
            <a:r>
              <a:rPr sz="825" b="1">
                <a:solidFill>
                  <a:srgbClr val="FFFFFF"/>
                </a:solidFill>
                <a:latin typeface="SF Pro Text"/>
                <a:ea typeface="SF Pro Text"/>
                <a:cs typeface="SF Pro Text"/>
              </a:rPr>
              <a:t>Generate audio digest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E05ED60-00A2-47A7-804C-F53BCFEA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953000"/>
            <a:ext cx="819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F7F70B7-6A56-4470-BF6F-513ADED9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029200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1D1F"/>
                </a:solidFill>
                <a:latin typeface="SF Pro Text"/>
                <a:ea typeface="SF Pro Text"/>
                <a:cs typeface="SF Pro Text"/>
              </a:defRPr>
            </a:pPr>
            <a:r>
              <a:rPr sz="750" b="1">
                <a:solidFill>
                  <a:srgbClr val="1D1D1F"/>
                </a:solidFill>
                <a:latin typeface="SF Pro Text"/>
                <a:ea typeface="SF Pro Text"/>
                <a:cs typeface="SF Pro Text"/>
              </a:rPr>
              <a:t>Markdown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FFE9251-CB95-4C33-AFCE-46F5709E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953000"/>
            <a:ext cx="552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44A1375-7A6F-4595-9EE9-F82B3764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0292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1D1F"/>
                </a:solidFill>
                <a:latin typeface="SF Pro Text"/>
                <a:ea typeface="SF Pro Text"/>
                <a:cs typeface="SF Pro Text"/>
              </a:defRPr>
            </a:pPr>
            <a:r>
              <a:rPr sz="750" b="1">
                <a:solidFill>
                  <a:srgbClr val="1D1D1F"/>
                </a:solidFill>
                <a:latin typeface="SF Pro Text"/>
                <a:ea typeface="SF Pro Text"/>
                <a:cs typeface="SF Pro Text"/>
              </a:rPr>
              <a:t>JSON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CA076E4-CA1F-45E2-9F1E-308CC81C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42F7DD6-FF3D-4E1F-BB4A-33783B7C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6868B"/>
                </a:solidFill>
                <a:latin typeface="SF Pro Text"/>
                <a:ea typeface="SF Pro Text"/>
                <a:cs typeface="SF Pro Text"/>
              </a:defRPr>
            </a:pPr>
            <a:r>
              <a:rPr sz="750" b="0">
                <a:solidFill>
                  <a:srgbClr val="86868B"/>
                </a:solidFill>
                <a:latin typeface="SF Pro Text"/>
                <a:ea typeface="SF Pro Text"/>
                <a:cs typeface="SF Pro Text"/>
              </a:rPr>
              <a:t>Podsum v2 · podcast knowledge workflow</a:t>
            </a:r>
          </a:p>
        </p:txBody>
      </p:sp>
    </p:spTree>
    <p:extLst>
      <p:ext uri="{BB962C8B-B14F-4D97-AF65-F5344CB8AC3E}">
        <p14:creationId xmlns:p14="http://schemas.microsoft.com/office/powerpoint/2010/main" val="14104472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EFDE47-7993-43C3-8047-AB13DBB8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B1D3B-2018-4C11-8429-9E7A2A0F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D9FF64-B1FA-4EFC-AD95-FBB61348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35A12-C7C5-4F7A-951E-7CF6FBDD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7D1192-B022-4A69-BE8D-4F90B438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AD853-FA6F-4918-A4F2-C5D364DC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9FD16-3725-4FD4-AE95-EBBC2C89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BE6839-36DD-4CFA-8360-A0EFE6F3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2B227A-B953-45F6-B9E0-714940D6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BE5308-7A18-4F92-AA85-6F81E56E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A8ED86-DEC7-4B3D-AF0D-EB113F70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652F29-9C84-4A07-B510-B56F2E2C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011447-A507-4C6E-8CE0-610CAFCC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31547F-9207-4C2F-95F5-34E8D670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40E78D-C300-43A4-BD85-3643BE39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34C0EB-E591-429C-9AA7-58427375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132E-0BF1-4FB8-90E6-7287CABE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955250-8D8F-410B-BC3A-3ECEA6DC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544075-6101-44CC-BC62-07C2458A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F648BE-55FF-445E-BC6D-A25A9268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703533-21CA-43C3-B2DD-3EACFFC1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53A208-7E8A-4AFA-B1D5-7D9D6F6F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6D63FD-EFAD-4FAA-8673-68CADA88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01961F-195E-46C1-AE56-D6FC1C48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3D298D-E7BA-4D35-A8AD-FDEAB24E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A4FA96-630C-4C3C-9CCC-4D6E428D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94383D-E453-4E7D-83DF-89C91D6F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8EB37E-5FEB-4905-9DEA-DBF7340A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4B8D57-E78C-4C1E-9C0E-A093FF90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5A9799-DD74-47E6-86CC-CF9BD88B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CF2EBD-53B4-4B7E-8209-46972E2C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0D56E8-9A66-44F1-AB66-E9387556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05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8D50E1-EC42-4CDD-9F12-96E7D0AB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6868B"/>
                </a:solidFill>
                <a:latin typeface="SF Pro Text"/>
                <a:ea typeface="SF Pro Text"/>
                <a:cs typeface="SF Pro Text"/>
              </a:defRPr>
            </a:pPr>
            <a:r>
              <a:rPr sz="825" b="1">
                <a:solidFill>
                  <a:srgbClr val="86868B"/>
                </a:solidFill>
                <a:latin typeface="SF Pro Text"/>
                <a:ea typeface="SF Pro Text"/>
                <a:cs typeface="SF Pro Text"/>
              </a:rPr>
              <a:t>PROBLEM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2547CF-7505-4063-A463-52E3A89C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6868B"/>
                </a:solidFill>
                <a:latin typeface="SF Pro Text"/>
                <a:ea typeface="SF Pro Text"/>
                <a:cs typeface="SF Pro Text"/>
              </a:defRPr>
            </a:pPr>
            <a:r>
              <a:rPr sz="900" b="1">
                <a:solidFill>
                  <a:srgbClr val="86868B"/>
                </a:solidFill>
                <a:latin typeface="SF Pro Text"/>
                <a:ea typeface="SF Pro Text"/>
                <a:cs typeface="SF Pro Text"/>
              </a:rPr>
              <a:t>01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1518C0-A6DF-435C-BB78-3EA6316A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8001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rPr>
              <a:t>长播客的痛点不是听不完，而是筛选、复盘、沉淀都很低效。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A8798C-018D-4385-8174-C31A1C31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685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1200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目标是把 60-90 分钟的音频，转化成可以快速判断、可信复盘、长期复用的学习材料。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B03A66-B398-49E1-865B-CAC94845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05150"/>
            <a:ext cx="30099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3A819F-46A0-4760-87B3-7B3BE231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30099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145e56874449a7">
            <a:extLst>
              <a:ext uri="{96DAC541-7B7A-43D3-8B79-37D633B846F1}">
                <asvg:svgBlip xmlns:asvg="http://schemas.microsoft.com/office/drawing/2016/SVG/main" r:embed="R8ee57a29d7244c2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4900" y="32575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BA193D-9731-43E3-AE7A-E6F12AE1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957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725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rPr>
              <a:t>快速理解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9B9530-399C-4C53-875E-9FDA3EF7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1050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先用 hook 与三段式摘要判断这期是否值得深入。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402284-372A-40E8-A9B1-6123919C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863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6868B"/>
                </a:solidFill>
                <a:latin typeface="SF Pro Text"/>
                <a:ea typeface="SF Pro Text"/>
                <a:cs typeface="SF Pro Text"/>
              </a:defRPr>
            </a:pPr>
            <a:r>
              <a:rPr sz="825" b="1">
                <a:solidFill>
                  <a:srgbClr val="86868B"/>
                </a:solidFill>
                <a:latin typeface="SF Pro Text"/>
                <a:ea typeface="SF Pro Text"/>
                <a:cs typeface="SF Pro Text"/>
              </a:rPr>
              <a:t>Scan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5F6A33-0D1F-4A00-BED5-7C843882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05150"/>
            <a:ext cx="30099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9442770-1AD7-4DEF-91B0-774F55A2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028950"/>
            <a:ext cx="30099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d368a0c6b14cb9">
            <a:extLst>
              <a:ext uri="{96DAC541-7B7A-43D3-8B79-37D633B846F1}">
                <asvg:svgBlip xmlns:asvg="http://schemas.microsoft.com/office/drawing/2016/SVG/main" r:embed="R4bfd7c6a9bad4b0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81525" y="32575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920DC1D-01B0-4051-AC7D-D38CFA78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6957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725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rPr>
              <a:t>可信复盘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B3F98AA-C583-4324-A49F-F3E5AFC5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0957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1050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通过章节、原文 quote 和时间戳回到证据本身。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6CFB4B2-8F62-477A-9EFC-32A6AE62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6863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6868B"/>
                </a:solidFill>
                <a:latin typeface="SF Pro Text"/>
                <a:ea typeface="SF Pro Text"/>
                <a:cs typeface="SF Pro Text"/>
              </a:defRPr>
            </a:pPr>
            <a:r>
              <a:rPr sz="825" b="1">
                <a:solidFill>
                  <a:srgbClr val="86868B"/>
                </a:solidFill>
                <a:latin typeface="SF Pro Text"/>
                <a:ea typeface="SF Pro Text"/>
                <a:cs typeface="SF Pro Text"/>
              </a:rPr>
              <a:t>Verify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EE096CF-EF85-4781-9150-59D49EDE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05150"/>
            <a:ext cx="30099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093D80A-AA62-4E49-8C76-4463CA1C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28950"/>
            <a:ext cx="30099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35913c44534e49">
            <a:extLst>
              <a:ext uri="{96DAC541-7B7A-43D3-8B79-37D633B846F1}">
                <asvg:svgBlip xmlns:asvg="http://schemas.microsoft.com/office/drawing/2016/SVG/main" r:embed="R50fd2b5bf571487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58150" y="32575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2FE0D00-C678-4982-A0C4-41946485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957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725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rPr>
              <a:t>知识沉淀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3FEC204-9272-4A84-9168-5E7C2091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957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1050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导出 Markdown/JSON，进入 Obsidian 等笔记系统。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3AEBF94-5604-413D-A85A-0B718C31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863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6868B"/>
                </a:solidFill>
                <a:latin typeface="SF Pro Text"/>
                <a:ea typeface="SF Pro Text"/>
                <a:cs typeface="SF Pro Text"/>
              </a:defRPr>
            </a:pPr>
            <a:r>
              <a:rPr sz="825" b="1">
                <a:solidFill>
                  <a:srgbClr val="86868B"/>
                </a:solidFill>
                <a:latin typeface="SF Pro Text"/>
                <a:ea typeface="SF Pro Text"/>
                <a:cs typeface="SF Pro Text"/>
              </a:rPr>
              <a:t>Reuse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49A9415-C6DE-4976-A1CA-8EF47231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CDDF6E7-23AC-4CD2-8CD0-6417045E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6868B"/>
                </a:solidFill>
                <a:latin typeface="SF Pro Text"/>
                <a:ea typeface="SF Pro Text"/>
                <a:cs typeface="SF Pro Text"/>
              </a:defRPr>
            </a:pPr>
            <a:r>
              <a:rPr sz="750" b="0">
                <a:solidFill>
                  <a:srgbClr val="86868B"/>
                </a:solidFill>
                <a:latin typeface="SF Pro Text"/>
                <a:ea typeface="SF Pro Text"/>
                <a:cs typeface="SF Pro Text"/>
              </a:rPr>
              <a:t>Podsum v2 · podcast knowledge workflow</a:t>
            </a:r>
          </a:p>
        </p:txBody>
      </p:sp>
    </p:spTree>
    <p:extLst>
      <p:ext uri="{BB962C8B-B14F-4D97-AF65-F5344CB8AC3E}">
        <p14:creationId xmlns:p14="http://schemas.microsoft.com/office/powerpoint/2010/main" val="20575474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A930CD-8661-474E-9B54-4264DB4F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BACE6-100B-4163-A12C-CABA4A35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BD872A-1F37-459A-83C1-4540B7CD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B7169-FAF6-4925-BC50-486731AA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B88E4E-A02D-4BBB-A959-E4868574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7CC4C4-F7EE-4973-A325-0D6C9272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7FC4B2-5F78-45A8-B442-85AE49E9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378224-5D85-4150-A1AC-ED7ACF29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82CFF0-2776-4B70-9EED-68311F04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EDABDD-BAD7-4757-9845-33AEA215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C01876-2833-4692-8351-065CAAB8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27324D-354A-4068-9B8B-BFA509F5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01A97F-5FEB-4D3C-AA08-9AC65A5E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74B701-26A0-4F4F-9F7F-4538B831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5454CF-EBE3-4916-9654-23F2937C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F454E2-7968-4F0F-9561-BCE77F14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6A5A3A-3B61-44AA-8162-FACF77B4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A5C9BE-A230-4098-984C-7F843959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01F23B-E675-49DA-940B-DECCBBDB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6CD908-499F-4E83-8737-D3ACCA26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49252A-BCC7-4C58-876F-31D0080A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27581C-D99F-41B4-AFA5-1D1B3A53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1FA38B-9DDC-4414-87FA-20296CEE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848570-9850-49F6-8A34-9C33CA2C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226E9B-80B4-4A46-8016-B0EDAD39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DEE0E6-275F-48E4-BA22-B7116B38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5DAEC1-8101-4624-A953-C6CF8EA5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5F0A25-DE44-4557-95FB-A2D78599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76D16F-767D-46F4-AF95-A116D0F6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6C9286-66C1-4563-997A-CC114A53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801031-B457-43F3-A4F2-24C462E4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536001-A603-4460-8BED-19F74EB4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05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C5371B-C294-4EA2-89C9-8DA3C33A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6868B"/>
                </a:solidFill>
                <a:latin typeface="SF Pro Text"/>
                <a:ea typeface="SF Pro Text"/>
                <a:cs typeface="SF Pro Text"/>
              </a:defRPr>
            </a:pPr>
            <a:r>
              <a:rPr sz="825" b="1">
                <a:solidFill>
                  <a:srgbClr val="86868B"/>
                </a:solidFill>
                <a:latin typeface="SF Pro Text"/>
                <a:ea typeface="SF Pro Text"/>
                <a:cs typeface="SF Pro Text"/>
              </a:rPr>
              <a:t>V2 PRODUCT EXPERIENCE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E10AD5-5BFD-4559-96CD-971D08FF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6868B"/>
                </a:solidFill>
                <a:latin typeface="SF Pro Text"/>
                <a:ea typeface="SF Pro Text"/>
                <a:cs typeface="SF Pro Text"/>
              </a:defRPr>
            </a:pPr>
            <a:r>
              <a:rPr sz="900" b="1">
                <a:solidFill>
                  <a:srgbClr val="86868B"/>
                </a:solidFill>
                <a:latin typeface="SF Pro Text"/>
                <a:ea typeface="SF Pro Text"/>
                <a:cs typeface="SF Pro Text"/>
              </a:rPr>
              <a:t>02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8DF407-279A-46EA-9CA1-64F666EB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7524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rPr sz="240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rPr>
              <a:t>前端参考 V2：浅色玻璃质感、bento 卡片和明确的交互状态。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1D3278-6881-4036-89CC-3FDFF1B1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90750"/>
            <a:ext cx="459105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2DE3A2-72C9-4F28-9FA4-7E0DFA5C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459105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3BAD0A-7097-4698-A60C-8C2E9CE3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rPr>
              <a:t>Library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9659D0-E98A-4A4B-800F-92CA228D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43150"/>
            <a:ext cx="457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CFEB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0EA6A3-D5A6-46C0-A66F-652D6815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19350"/>
            <a:ext cx="228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48A48"/>
                </a:solidFill>
                <a:latin typeface="SF Pro Text"/>
                <a:ea typeface="SF Pro Text"/>
                <a:cs typeface="SF Pro Text"/>
              </a:defRPr>
            </a:pPr>
            <a:r>
              <a:rPr sz="750" b="1">
                <a:solidFill>
                  <a:srgbClr val="248A48"/>
                </a:solidFill>
                <a:latin typeface="SF Pro Text"/>
                <a:ea typeface="SF Pro Text"/>
                <a:cs typeface="SF Pro Text"/>
              </a:rPr>
              <a:t>Live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FC33D7-263A-4064-9964-8F0A1B20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857500"/>
            <a:ext cx="1809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A770E96-5400-442F-88CF-AAF45C11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809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740EBF3-452D-4186-913B-5103DF11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90850"/>
            <a:ext cx="1047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6868B"/>
                </a:solidFill>
                <a:latin typeface="SF Pro Text"/>
                <a:ea typeface="SF Pro Text"/>
                <a:cs typeface="SF Pro Text"/>
              </a:defRPr>
            </a:pPr>
            <a:r>
              <a:rPr sz="750" b="1">
                <a:solidFill>
                  <a:srgbClr val="86868B"/>
                </a:solidFill>
                <a:latin typeface="SF Pro Text"/>
                <a:ea typeface="SF Pro Text"/>
                <a:cs typeface="SF Pro Text"/>
              </a:rPr>
              <a:t>Active job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0D370F2-5F74-4AB5-9803-73A64666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385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1D1F"/>
                </a:solidFill>
                <a:latin typeface="SF Pro Text"/>
                <a:ea typeface="SF Pro Text"/>
                <a:cs typeface="SF Pro Text"/>
              </a:defRPr>
            </a:pPr>
            <a:r>
              <a:rPr sz="975" b="1">
                <a:solidFill>
                  <a:srgbClr val="1D1D1F"/>
                </a:solidFill>
                <a:latin typeface="SF Pro Text"/>
                <a:ea typeface="SF Pro Text"/>
                <a:cs typeface="SF Pro Text"/>
              </a:rPr>
              <a:t>Transcribing episode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5465C15-219E-4FDA-A498-55C33A92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38550"/>
            <a:ext cx="1162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E5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1CB5A41-2D4C-4646-9897-ED0C396A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385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A28FA07-8E62-4C0A-B433-44C8EB87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857500"/>
            <a:ext cx="1809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C6BB3A-472C-4383-8362-026437A8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81300"/>
            <a:ext cx="1809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750B40F-D0DB-4B73-B89A-544FF71A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90850"/>
            <a:ext cx="1104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6868B"/>
                </a:solidFill>
                <a:latin typeface="SF Pro Text"/>
                <a:ea typeface="SF Pro Text"/>
                <a:cs typeface="SF Pro Text"/>
              </a:defRPr>
            </a:pPr>
            <a:r>
              <a:rPr sz="750" b="1">
                <a:solidFill>
                  <a:srgbClr val="86868B"/>
                </a:solidFill>
                <a:latin typeface="SF Pro Text"/>
                <a:ea typeface="SF Pro Text"/>
                <a:cs typeface="SF Pro Text"/>
              </a:rPr>
              <a:t>Bento episode card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8B1EC23-C0DA-418B-899E-58CC5E2C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385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1D1F"/>
                </a:solidFill>
                <a:latin typeface="SF Pro Text"/>
                <a:ea typeface="SF Pro Text"/>
                <a:cs typeface="SF Pro Text"/>
              </a:defRPr>
            </a:pPr>
            <a:r>
              <a:rPr sz="975" b="1">
                <a:solidFill>
                  <a:srgbClr val="1D1D1F"/>
                </a:solidFill>
                <a:latin typeface="SF Pro Text"/>
                <a:ea typeface="SF Pro Text"/>
                <a:cs typeface="SF Pro Text"/>
              </a:rPr>
              <a:t>Hook preview + status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790045C-DBD8-42FF-AD3B-A05E219C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3855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4C759"/>
                </a:solidFill>
                <a:latin typeface="SF Pro Text"/>
                <a:ea typeface="SF Pro Text"/>
                <a:cs typeface="SF Pro Text"/>
              </a:defRPr>
            </a:pPr>
            <a:r>
              <a:rPr sz="825" b="1">
                <a:solidFill>
                  <a:srgbClr val="34C759"/>
                </a:solidFill>
                <a:latin typeface="SF Pro Text"/>
                <a:ea typeface="SF Pro Text"/>
                <a:cs typeface="SF Pro Text"/>
              </a:rPr>
              <a:t>Done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0AA57BA-6620-42BA-984E-15599CC0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190750"/>
            <a:ext cx="449580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B53D03B-5CE3-4B5B-8129-DCF323CE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14550"/>
            <a:ext cx="449580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B936B28-2758-492F-906E-6645A2DC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622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rPr>
              <a:t>Detail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AE10A2C-4051-4ED0-8FD9-D79FEA75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24100"/>
            <a:ext cx="292100" cy="3619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6B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D7CA7D8-3FEB-4535-BD23-E6BE6E7C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3125" y="2324100"/>
            <a:ext cx="292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F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2609F35-91EA-488D-AD0D-8971AB51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5700" y="2324100"/>
            <a:ext cx="292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24BBE87-85E3-4C52-8204-4EB620EF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324100"/>
            <a:ext cx="292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ECCC735-C1E5-4E60-A968-7D4B6F25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0850" y="2324100"/>
            <a:ext cx="292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6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B16F24E-6B9E-41A9-81AF-21D8E0A6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3425" y="2324100"/>
            <a:ext cx="292100" cy="3619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52E6EB3-7B8B-46E4-AC1E-8A9E8082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19350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SF Pro Text"/>
                <a:ea typeface="SF Pro Text"/>
                <a:cs typeface="SF Pro Text"/>
              </a:defRPr>
            </a:pPr>
            <a:r>
              <a:rPr sz="825" b="1">
                <a:solidFill>
                  <a:srgbClr val="FFFFFF"/>
                </a:solidFill>
                <a:latin typeface="SF Pro Text"/>
                <a:ea typeface="SF Pro Text"/>
                <a:cs typeface="SF Pro Text"/>
              </a:rPr>
              <a:t>Generate audio digest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8E86A3E-20FE-409E-A9DA-9C6B9157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33700"/>
            <a:ext cx="36576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C7B18C2-D9C1-407D-BD68-080CC722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57500"/>
            <a:ext cx="36576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C08D319-96B5-4A17-BB7B-6391B70D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6705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1D1F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>
                <a:solidFill>
                  <a:srgbClr val="1D1D1F"/>
                </a:solidFill>
                <a:latin typeface="SF Pro Text"/>
                <a:ea typeface="SF Pro Text"/>
                <a:cs typeface="SF Pro Text"/>
              </a:rPr>
              <a:t>"A long episode becomes a structured learning asset."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B7F50F8-1183-4955-B224-C37B624B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48100"/>
            <a:ext cx="16954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D84A8B6-A3A7-42DE-80A6-9D207D07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71900"/>
            <a:ext cx="16954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13A4D56-71FC-4D26-98F2-5B8D435B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8145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1D1F"/>
                </a:solidFill>
                <a:latin typeface="SF Pro Text"/>
                <a:ea typeface="SF Pro Text"/>
                <a:cs typeface="SF Pro Text"/>
              </a:defRPr>
            </a:pPr>
            <a:r>
              <a:rPr sz="825" b="1">
                <a:solidFill>
                  <a:srgbClr val="1D1D1F"/>
                </a:solidFill>
                <a:latin typeface="SF Pro Text"/>
                <a:ea typeface="SF Pro Text"/>
                <a:cs typeface="SF Pro Text"/>
              </a:rPr>
              <a:t>Three-act panel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C482A44-BE50-4DEE-83C7-B5047D3E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2910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788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Background</a:t>
            </a:r>
          </a:p>
          <a:p xmlns:a="http://schemas.openxmlformats.org/drawingml/2006/main">
            <a:pPr algn="l">
              <a:defRPr sz="788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788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Core argument</a:t>
            </a:r>
          </a:p>
          <a:p xmlns:a="http://schemas.openxmlformats.org/drawingml/2006/main">
            <a:pPr algn="l">
              <a:defRPr sz="788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788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Conclusion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27A2955-8877-42D5-BA27-2C1BC81C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48100"/>
            <a:ext cx="1752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5841A39-4697-469B-8F1D-E878EE1E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71900"/>
            <a:ext cx="1752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7c5a4b4e0e4564">
            <a:extLst>
              <a:ext uri="{96DAC541-7B7A-43D3-8B79-37D633B846F1}">
                <asvg:svgBlip xmlns:asvg="http://schemas.microsoft.com/office/drawing/2016/SVG/main" r:embed="Rb9a17607848846c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20100" y="40195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4DD2280-ED47-4D49-8EED-A8435CC0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29075"/>
            <a:ext cx="838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1D1F"/>
                </a:solidFill>
                <a:latin typeface="SF Pro Text"/>
                <a:ea typeface="SF Pro Text"/>
                <a:cs typeface="SF Pro Text"/>
              </a:defRPr>
            </a:pPr>
            <a:r>
              <a:rPr sz="825" b="1">
                <a:solidFill>
                  <a:srgbClr val="1D1D1F"/>
                </a:solidFill>
                <a:latin typeface="SF Pro Text"/>
                <a:ea typeface="SF Pro Text"/>
                <a:cs typeface="SF Pro Text"/>
              </a:rPr>
              <a:t>Quote chip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7547058-33F2-4F1E-9CEC-22901BEA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86300"/>
            <a:ext cx="571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1D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1BF27E0-B980-45FA-9841-FC2AF203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52950"/>
            <a:ext cx="57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32F3C8D-95A8-4B09-88A3-D20CB526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29150"/>
            <a:ext cx="571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1D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D305E77-E1F2-452E-BE7B-895A2A97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57700"/>
            <a:ext cx="571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D2E1305-B2DA-4FAB-ABE7-74D41889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572000"/>
            <a:ext cx="57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1D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595E1BA-7AD9-48C5-A4D2-1393DA3D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36245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6DA8ADC-4E23-4576-A434-52E0F946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667250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1D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6634014-7D99-4A62-BA73-9CAEFC24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514850"/>
            <a:ext cx="571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23825B8-4F99-42BF-A082-7E7B375B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91050"/>
            <a:ext cx="57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1D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CAFDC65-8038-437A-81FF-3FF20665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419600"/>
            <a:ext cx="57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9BF740C-C730-43F4-BB25-0DAF441B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1717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A84FF"/>
                </a:solidFill>
                <a:latin typeface="SF Pro Text"/>
                <a:ea typeface="SF Pro Text"/>
                <a:cs typeface="SF Pro Text"/>
              </a:defRPr>
            </a:pPr>
            <a:r>
              <a:rPr sz="825" b="1">
                <a:solidFill>
                  <a:srgbClr val="0A84FF"/>
                </a:solidFill>
                <a:latin typeface="SF Pro Text"/>
                <a:ea typeface="SF Pro Text"/>
                <a:cs typeface="SF Pro Text"/>
              </a:rPr>
              <a:t>Motion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674CCFB-5E52-49E3-AE20-A9008513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400300"/>
            <a:ext cx="914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765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Framer Motion 进入动画让摘要与章节逐步出现。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A636A3F-7A57-46BE-AB14-E28ADAB8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9718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A84FF"/>
                </a:solidFill>
                <a:latin typeface="SF Pro Text"/>
                <a:ea typeface="SF Pro Text"/>
                <a:cs typeface="SF Pro Text"/>
              </a:defRPr>
            </a:pPr>
            <a:r>
              <a:rPr sz="825" b="1">
                <a:solidFill>
                  <a:srgbClr val="0A84FF"/>
                </a:solidFill>
                <a:latin typeface="SF Pro Text"/>
                <a:ea typeface="SF Pro Text"/>
                <a:cs typeface="SF Pro Text"/>
              </a:rPr>
              <a:t>Feedback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13472B5-A00C-4A34-9D92-215DF40B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200400"/>
            <a:ext cx="914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765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Live 状态、进度条、toast、按钮 disabled 都表达系统状态。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97E8730-128C-4F3C-B780-0ACCDAE7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7719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A84FF"/>
                </a:solidFill>
                <a:latin typeface="SF Pro Text"/>
                <a:ea typeface="SF Pro Text"/>
                <a:cs typeface="SF Pro Text"/>
              </a:defRPr>
            </a:pPr>
            <a:r>
              <a:rPr sz="825" b="1">
                <a:solidFill>
                  <a:srgbClr val="0A84FF"/>
                </a:solidFill>
                <a:latin typeface="SF Pro Text"/>
                <a:ea typeface="SF Pro Text"/>
                <a:cs typeface="SF Pro Text"/>
              </a:rPr>
              <a:t>Utility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E49A40B-E434-4EEC-B6C3-8104ABA6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000500"/>
            <a:ext cx="914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765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浮动 dock 提供 Markdown、JSON、音频、重试和删除。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A7D5985-F167-479F-929A-CCDB8ABF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B7248E0-2F60-414E-B132-94270C13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6868B"/>
                </a:solidFill>
                <a:latin typeface="SF Pro Text"/>
                <a:ea typeface="SF Pro Text"/>
                <a:cs typeface="SF Pro Text"/>
              </a:defRPr>
            </a:pPr>
            <a:r>
              <a:rPr sz="750" b="0">
                <a:solidFill>
                  <a:srgbClr val="86868B"/>
                </a:solidFill>
                <a:latin typeface="SF Pro Text"/>
                <a:ea typeface="SF Pro Text"/>
                <a:cs typeface="SF Pro Text"/>
              </a:rPr>
              <a:t>Podsum v2 · podcast knowledge workflow</a:t>
            </a:r>
          </a:p>
        </p:txBody>
      </p:sp>
    </p:spTree>
    <p:extLst>
      <p:ext uri="{BB962C8B-B14F-4D97-AF65-F5344CB8AC3E}">
        <p14:creationId xmlns:p14="http://schemas.microsoft.com/office/powerpoint/2010/main" val="23818297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EFAF04-FF4C-4A74-93A6-633C4640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66DDAA-164A-4F2F-B263-02F16DA9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841E59-009E-4952-8B0F-66569A5B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9B231B-EABE-474C-9652-478D4FC0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49170F-8E50-45E3-8812-15784D7B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B086E-62CE-49B1-8BB6-03BE0D40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B72DF8-6467-4856-A83E-A6E2FB74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5C7DDB-C1C3-4D07-A9AD-A58CE5EB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1DB866-7919-4BD1-A85A-8799BE41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AC3467-D9F6-4F0D-994C-1104655E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0C5C6-7875-45D6-9F85-AF4A6952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F38825-D473-43A6-A22C-94016B09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5A454A-8662-484B-BDE8-1AE4ECEC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C5CB3A-CF03-4BB6-8FB1-A15A1269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5CF90F-B1D6-4CE9-89CA-6B9C9CA7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084C81-9A19-4751-AF24-5659DC57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655E86-C836-43D9-AB65-744F3157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F975D9-E99B-457E-BEE7-26A5B650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FEB89B-ACC0-4259-AD93-F23E4C40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6D3F8D-BEAA-4014-9DA0-6DF8E08C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8F1387-4B19-47B1-8E4E-B3C7EC01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BE7ACB-AF6D-4D25-8E9A-EC3A6A48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B271EA-56E9-4BF7-A988-8A01CBD7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22141F-CA27-4748-9369-FEFD062C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4C1EFE-A91C-476C-8A8F-B454112F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8DB80D-C718-45CB-B7DE-42127A0F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326F3C-2545-4042-9C23-BA42E9FD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5534C8-7076-48B7-B89D-3C196440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CA80DE-6E99-4612-BD3A-FCD3F66A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F07359-4790-4DD9-8360-250D74DB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92E846-53FA-4877-A045-861E1EF7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BC0BBF-9DFD-4035-B1FB-E7763CD8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05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BB732F-EF3E-47B1-981A-243189D8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6868B"/>
                </a:solidFill>
                <a:latin typeface="SF Pro Text"/>
                <a:ea typeface="SF Pro Text"/>
                <a:cs typeface="SF Pro Text"/>
              </a:defRPr>
            </a:pPr>
            <a:r>
              <a:rPr sz="825" b="1">
                <a:solidFill>
                  <a:srgbClr val="86868B"/>
                </a:solidFill>
                <a:latin typeface="SF Pro Text"/>
                <a:ea typeface="SF Pro Text"/>
                <a:cs typeface="SF Pro Text"/>
              </a:rPr>
              <a:t>CORE WORKFLOW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B4D51B-C5C5-4D87-9452-7F8F5F73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6868B"/>
                </a:solidFill>
                <a:latin typeface="SF Pro Text"/>
                <a:ea typeface="SF Pro Text"/>
                <a:cs typeface="SF Pro Text"/>
              </a:defRPr>
            </a:pPr>
            <a:r>
              <a:rPr sz="900" b="1">
                <a:solidFill>
                  <a:srgbClr val="86868B"/>
                </a:solidFill>
                <a:latin typeface="SF Pro Text"/>
                <a:ea typeface="SF Pro Text"/>
                <a:cs typeface="SF Pro Text"/>
              </a:rPr>
              <a:t>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CC557C-192E-48BA-B261-42D6073F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7429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rPr>
              <a:t>一条端到端流程：从音频输入到 Obsidian 知识库。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7DCC03-B455-46D7-A336-02D72F5D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43150"/>
            <a:ext cx="21526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A45305-956F-4DB5-AB10-9B70D190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21526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4668a4b7c3478c">
            <a:extLst>
              <a:ext uri="{96DAC541-7B7A-43D3-8B79-37D633B846F1}">
                <asvg:svgBlip xmlns:asvg="http://schemas.microsoft.com/office/drawing/2016/SVG/main" r:embed="R3f54915a9fb84a0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5350" y="24765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FE5CF4-A372-4585-AD1D-A38541C8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65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125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rPr>
              <a:t>Input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3E7FB4-022F-4EC3-918D-E45F78C3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173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863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Audio / URL / YouTube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A37656-5676-412A-8E83-EA7B5B3D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19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5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8CC129-1E88-45DC-8D2D-D7C1368B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813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5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05C195E-9B08-4667-8462-A7B28D40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343150"/>
            <a:ext cx="21526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B47E83F-46ED-4AB0-A7DB-2ACC2208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66950"/>
            <a:ext cx="21526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b27b5cbfd14c85">
            <a:extLst>
              <a:ext uri="{96DAC541-7B7A-43D3-8B79-37D633B846F1}">
                <asvg:svgBlip xmlns:asvg="http://schemas.microsoft.com/office/drawing/2016/SVG/main" r:embed="Rb313d5013173450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638550" y="24765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CCBD84A-3FC2-4349-A0CF-E36910B7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4765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125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rPr>
              <a:t>Acquire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C27FFAF-953E-4B76-AD0C-F4A2879D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57500"/>
            <a:ext cx="173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863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fetch, validate, normalize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CFBEF7E-2CF5-4E7B-9E4D-630CC67C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19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5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95005DA-2745-4193-A5E9-7C8D7E87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813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5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A9C5D40-BE0B-4519-976C-1A3106A5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43150"/>
            <a:ext cx="21526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14CC9C7-96F7-4FEB-A93D-964A261B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66950"/>
            <a:ext cx="21526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b9b5d49a2746c5">
            <a:extLst>
              <a:ext uri="{96DAC541-7B7A-43D3-8B79-37D633B846F1}">
                <asvg:svgBlip xmlns:asvg="http://schemas.microsoft.com/office/drawing/2016/SVG/main" r:embed="Re9079d1ebfc340e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0" y="24765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2ED3879-048D-4EA8-B3EC-65D38CB8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765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125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rPr>
              <a:t>ASR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AAA0711-990E-4217-947F-49558164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173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863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timestamped transcript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E286C7F-9454-4697-9DAC-99EE1AA1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19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5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EAC5D2F-6546-4D21-92C1-038C3A47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813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5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FC913A7-309B-4701-976B-FBF47121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343150"/>
            <a:ext cx="21526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1A602E4-FF21-4628-8F7C-CBA25B24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21526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56f496a925441a">
            <a:extLst>
              <a:ext uri="{96DAC541-7B7A-43D3-8B79-37D633B846F1}">
                <asvg:svgBlip xmlns:asvg="http://schemas.microsoft.com/office/drawing/2016/SVG/main" r:embed="Rd26979b59a264f3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24950" y="24765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28A56EA-446D-4E20-97CB-B7421693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765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125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rPr>
              <a:t>Prompt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2582839-A98D-43DD-924E-956C0DA7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57500"/>
            <a:ext cx="173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863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structured summary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2C83124-B326-4026-9D22-AF6926A4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038600"/>
            <a:ext cx="21526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B486B0B-58ED-4C39-9B2D-076CA6BE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21526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96bc5bcf114ec1">
            <a:extLst>
              <a:ext uri="{96DAC541-7B7A-43D3-8B79-37D633B846F1}">
                <asvg:svgBlip xmlns:asvg="http://schemas.microsoft.com/office/drawing/2016/SVG/main" r:embed="Rab8d8e70aa88438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5350" y="41719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9513672-8E33-4F8A-A4A6-8D392899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719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125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rPr>
              <a:t>Browse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C2208AD-1F7C-488C-8298-31980693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52950"/>
            <a:ext cx="173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863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hook + three-act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84D17BC-E695-4119-A234-4A25DECC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5148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5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8495472-BBAB-4BEB-A8C9-1255AFDD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4767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5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8F95792-97E4-4324-B460-776C92CF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038600"/>
            <a:ext cx="21526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C408974-3979-4AC5-A861-93689BFC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962400"/>
            <a:ext cx="21526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48d7316efd4660">
            <a:extLst>
              <a:ext uri="{96DAC541-7B7A-43D3-8B79-37D633B846F1}">
                <asvg:svgBlip xmlns:asvg="http://schemas.microsoft.com/office/drawing/2016/SVG/main" r:embed="R664bd6d3ac9d4e2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638550" y="41719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7EFF93C-C1BD-4FD7-9995-2B504247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1719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125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rPr>
              <a:t>Review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8F9B092-3228-4B24-A068-39616AB6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52950"/>
            <a:ext cx="173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863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chapters + quotes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E3C4B1E-21C6-4E97-86AF-509DFAD5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5148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5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7746792-9BAF-4CE4-BFCE-4669D506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4767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5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3618078-7B2A-42A8-98C8-D414680F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38600"/>
            <a:ext cx="21526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FDFF882-873E-446B-AA0B-D4934FAD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62400"/>
            <a:ext cx="21526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123620bc9a4a2d">
            <a:extLst>
              <a:ext uri="{96DAC541-7B7A-43D3-8B79-37D633B846F1}">
                <asvg:svgBlip xmlns:asvg="http://schemas.microsoft.com/office/drawing/2016/SVG/main" r:embed="R3bba0cdf4d2045e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0" y="41719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FFBFF50-4411-490F-B0B3-4F66F876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719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125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rPr>
              <a:t>Export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EA460EF-B67E-4948-87C6-B77D0FA0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52950"/>
            <a:ext cx="173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863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MD / JSON / digest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A804B36-DB0F-4CEA-AA8C-A94F9C54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148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5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85DC806-3452-4B78-80DA-576B8190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767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5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CBD65B8-6940-495C-8A61-32D45A49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038600"/>
            <a:ext cx="21526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5D76B2E-FA7C-428D-83B7-92671886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62400"/>
            <a:ext cx="21526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0F8FF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1d4b9a3c374a99">
            <a:extLst>
              <a:ext uri="{96DAC541-7B7A-43D3-8B79-37D633B846F1}">
                <asvg:svgBlip xmlns:asvg="http://schemas.microsoft.com/office/drawing/2016/SVG/main" r:embed="Re7368992e796417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24950" y="41719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AC56D7C-189D-49A2-994D-93587159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719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125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rPr>
              <a:t>Knowledge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91EE4DC-8439-4F56-8C4D-1B6021A2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52950"/>
            <a:ext cx="173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863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Obsidian / notes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A59B6DE-A0FD-4962-858E-1CD4200C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371850"/>
            <a:ext cx="19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5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F0766DE-3B23-4F49-9100-4E39D9DF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9243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5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8981FA8-79A6-4153-8494-807EB31F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781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1200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这条链路让展示重点从“AI 能总结”升级为“网站能完成真实学习任务”。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2269FAA-0A4A-41F7-84D0-6E1FE80F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5D3ED99-97AE-4C3F-8D34-134A9102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6868B"/>
                </a:solidFill>
                <a:latin typeface="SF Pro Text"/>
                <a:ea typeface="SF Pro Text"/>
                <a:cs typeface="SF Pro Text"/>
              </a:defRPr>
            </a:pPr>
            <a:r>
              <a:rPr sz="750" b="0">
                <a:solidFill>
                  <a:srgbClr val="86868B"/>
                </a:solidFill>
                <a:latin typeface="SF Pro Text"/>
                <a:ea typeface="SF Pro Text"/>
                <a:cs typeface="SF Pro Text"/>
              </a:rPr>
              <a:t>Podsum v2 · podcast knowledge workflow</a:t>
            </a:r>
          </a:p>
        </p:txBody>
      </p:sp>
    </p:spTree>
    <p:extLst>
      <p:ext uri="{BB962C8B-B14F-4D97-AF65-F5344CB8AC3E}">
        <p14:creationId xmlns:p14="http://schemas.microsoft.com/office/powerpoint/2010/main" val="1040237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581151-0D46-4C76-A978-28FE7585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C59FF-D2BA-483C-B0AF-214B620E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71F693-7CDA-4B55-B88E-BBAC9723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4FF30A-75B6-4DC0-AF28-B9AE1FDE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647104-B297-49AB-A683-1326CD47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6A145B-B4C0-4E3A-BEEA-D669B6A2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8D169F-ABEF-424E-9CE5-11590CEC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99FA5-19CE-48AA-83D9-8FF30843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454607-A111-409A-B047-B8E8EA41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F75584-2E9A-4180-9C41-8FE3B491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572A05-FF7E-4E71-87EF-3F343522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116341-394F-47BE-B51A-27C051CA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F8A063-53EF-444D-B88B-E5298009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8C1E18-5CCF-4083-912B-8CC59096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1E8CB7-057B-4B10-A476-09FE5E13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50FAB0-999D-44EE-A7EB-45A870F9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17705B-D612-4C99-9F7C-37CCEB56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507450-1AA4-4D13-9C7D-58ABBA92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C25838-7090-413B-ACDF-C765829D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4D731B-C64C-46B9-A3DD-4DEB9D71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F68749-AB0A-4D8A-8248-1180CF89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512050-E774-4839-A54D-75B28B35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6BEFCA-E595-4690-A24E-150ADBC0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C9980C-0FED-4065-B2F4-7F85B4C0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3D6E54-5AFA-4077-AE69-83F35478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EEA067-92E7-4ABF-9695-A1D98FD4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5913AA-9AEB-4E6E-918E-8AB9A87D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F3FEAD-510C-44E6-9A59-1CD83921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1B7A44-398C-40B6-ACC0-A701B86A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52850C-241D-4702-8495-C0EBB780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EAF65C-5737-4896-A7E8-D911DC90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A828A5-39DE-42C6-B548-60F01031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05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EE2AB0-0937-47EE-AA41-4B10D940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6868B"/>
                </a:solidFill>
                <a:latin typeface="SF Pro Text"/>
                <a:ea typeface="SF Pro Text"/>
                <a:cs typeface="SF Pro Text"/>
              </a:defRPr>
            </a:pPr>
            <a:r>
              <a:rPr sz="825" b="1">
                <a:solidFill>
                  <a:srgbClr val="86868B"/>
                </a:solidFill>
                <a:latin typeface="SF Pro Text"/>
                <a:ea typeface="SF Pro Text"/>
                <a:cs typeface="SF Pro Text"/>
              </a:rPr>
              <a:t>FEATURE BREAKDOWN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860D85-BB61-4E79-9F09-3C853AB1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6868B"/>
                </a:solidFill>
                <a:latin typeface="SF Pro Text"/>
                <a:ea typeface="SF Pro Text"/>
                <a:cs typeface="SF Pro Text"/>
              </a:defRPr>
            </a:pPr>
            <a:r>
              <a:rPr sz="900" b="1">
                <a:solidFill>
                  <a:srgbClr val="86868B"/>
                </a:solidFill>
                <a:latin typeface="SF Pro Text"/>
                <a:ea typeface="SF Pro Text"/>
                <a:cs typeface="SF Pro Text"/>
              </a:rPr>
              <a:t>04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91A9E3-95C4-4FF9-BC05-35B89302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rPr>
              <a:t>功能拆分按用户路径组织，而不是按技术名词堆叠。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4733BB-D0B7-4C1A-97ED-7C4475F3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076450"/>
            <a:ext cx="10382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FD86EE-8401-4D70-A57F-43B7355B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10382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2bdfde40ce43bd">
            <a:extLst>
              <a:ext uri="{96DAC541-7B7A-43D3-8B79-37D633B846F1}">
                <asvg:svgBlip xmlns:asvg="http://schemas.microsoft.com/office/drawing/2016/SVG/main" r:embed="R03712fa0e679402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6800" y="216217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55ECDA-1439-4CF6-9C00-115A32FC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431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rPr>
              <a:t>输入层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072AC2-46F0-47ED-9225-60DAFB75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431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1013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本地音频、音频 URL、YouTube、批量提交。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5722EA-7CBC-4C34-86FE-3F2BE0A3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5265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4D0D26-152F-4866-8ED7-A086A711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4312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D1D1F"/>
                </a:solidFill>
                <a:latin typeface="SF Pro Text"/>
                <a:ea typeface="SF Pro Text"/>
                <a:cs typeface="SF Pro Text"/>
              </a:defRPr>
            </a:pPr>
            <a:r>
              <a:rPr sz="900" b="1">
                <a:solidFill>
                  <a:srgbClr val="1D1D1F"/>
                </a:solidFill>
                <a:latin typeface="SF Pro Text"/>
                <a:ea typeface="SF Pro Text"/>
                <a:cs typeface="SF Pro Text"/>
              </a:rPr>
              <a:t>Local / URL / YouTube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829F5C6-BDC4-4DC3-984C-152091DB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819400"/>
            <a:ext cx="10382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D0853A-D2D5-497F-B166-7793E557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10382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6f84db3e7e47a0">
            <a:extLst>
              <a:ext uri="{96DAC541-7B7A-43D3-8B79-37D633B846F1}">
                <asvg:svgBlip xmlns:asvg="http://schemas.microsoft.com/office/drawing/2016/SVG/main" r:embed="R191a85a635da4d8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6800" y="29051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10E30F5-E634-4924-BD85-F195D06D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8607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rPr>
              <a:t>AI 处理层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4C4AA85-4D32-40B0-BE69-43FB5DD9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8607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1013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ASR 转写、LLM 总结、TTS 音频摘要。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DBFB5F2-E1F0-445A-B078-E862DBC1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9560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74236FF-6953-44B5-A2C4-E04AA902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8607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D1D1F"/>
                </a:solidFill>
                <a:latin typeface="SF Pro Text"/>
                <a:ea typeface="SF Pro Text"/>
                <a:cs typeface="SF Pro Text"/>
              </a:defRPr>
            </a:pPr>
            <a:r>
              <a:rPr sz="900" b="1">
                <a:solidFill>
                  <a:srgbClr val="1D1D1F"/>
                </a:solidFill>
                <a:latin typeface="SF Pro Text"/>
                <a:ea typeface="SF Pro Text"/>
                <a:cs typeface="SF Pro Text"/>
              </a:rPr>
              <a:t>ASR / LLM / TTS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AADBBB0-43C1-47EC-90EE-288157CD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562350"/>
            <a:ext cx="10382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F11A397-4EF9-4851-B443-11D773BA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10382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9617ce043843a5">
            <a:extLst>
              <a:ext uri="{96DAC541-7B7A-43D3-8B79-37D633B846F1}">
                <asvg:svgBlip xmlns:asvg="http://schemas.microsoft.com/office/drawing/2016/SVG/main" r:embed="Re4a69dc0e9b442c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6800" y="364807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82A09FD-0040-4321-9831-262827CD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290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rPr>
              <a:t>认知结构层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6C3FEB1-70A1-475D-9217-CD8D1BFD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6290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1013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快速浏览、章节复盘、可信引用。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B519D63-9A57-41E3-BA64-41C7F9C3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3855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5AB3D69-39F4-4E52-8D2B-D801887F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2902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D1D1F"/>
                </a:solidFill>
                <a:latin typeface="SF Pro Text"/>
                <a:ea typeface="SF Pro Text"/>
                <a:cs typeface="SF Pro Text"/>
              </a:defRPr>
            </a:pPr>
            <a:r>
              <a:rPr sz="900" b="1">
                <a:solidFill>
                  <a:srgbClr val="1D1D1F"/>
                </a:solidFill>
                <a:latin typeface="SF Pro Text"/>
                <a:ea typeface="SF Pro Text"/>
                <a:cs typeface="SF Pro Text"/>
              </a:rPr>
              <a:t>Browse → Review → Verify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907663F-1332-4E67-BEB4-F5CB81FE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305300"/>
            <a:ext cx="10382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9DE28FB-8457-48B5-B194-D6FC99E6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10382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d319665c964c88">
            <a:extLst>
              <a:ext uri="{96DAC541-7B7A-43D3-8B79-37D633B846F1}">
                <asvg:svgBlip xmlns:asvg="http://schemas.microsoft.com/office/drawing/2016/SVG/main" r:embed="R459dedb596ca459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6800" y="43910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7F89002-DBC0-42B9-B0CB-B18EC160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7197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rPr>
              <a:t>交互体验层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2867118-8263-455C-B715-7AEE3590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7197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1013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V2 动效、Live 状态、章节展开、quote 跳转。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D2B9FE0-0ED6-4ED2-B6EA-5FCE017B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8150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B7AFBB0-666B-40C2-B567-037853B8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7197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D1D1F"/>
                </a:solidFill>
                <a:latin typeface="SF Pro Text"/>
                <a:ea typeface="SF Pro Text"/>
                <a:cs typeface="SF Pro Text"/>
              </a:defRPr>
            </a:pPr>
            <a:r>
              <a:rPr sz="900" b="1">
                <a:solidFill>
                  <a:srgbClr val="1D1D1F"/>
                </a:solidFill>
                <a:latin typeface="SF Pro Text"/>
                <a:ea typeface="SF Pro Text"/>
                <a:cs typeface="SF Pro Text"/>
              </a:rPr>
              <a:t>Motion / Status / Seek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70A751A-5201-4D44-BB23-8851C2B6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048250"/>
            <a:ext cx="10382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5C78169-47A6-4652-A343-F6AD9C7F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72050"/>
            <a:ext cx="10382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5d8cddfa7946d0">
            <a:extLst>
              <a:ext uri="{96DAC541-7B7A-43D3-8B79-37D633B846F1}">
                <asvg:svgBlip xmlns:asvg="http://schemas.microsoft.com/office/drawing/2016/SVG/main" r:embed="R2fed53518c614ad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6800" y="513397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8CBC9D6-F373-45E1-A4BC-482001AC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149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rPr>
              <a:t>知识沉淀层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FB31CD0-4830-4514-BBA1-4686566A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149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1013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Markdown、JSON、音频 digest，进入个人知识库。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545C73E-D98A-44EB-8303-468EECCE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2445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C99C58E-5117-47EA-8BA4-5AC373D0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11492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D1D1F"/>
                </a:solidFill>
                <a:latin typeface="SF Pro Text"/>
                <a:ea typeface="SF Pro Text"/>
                <a:cs typeface="SF Pro Text"/>
              </a:defRPr>
            </a:pPr>
            <a:r>
              <a:rPr sz="900" b="1">
                <a:solidFill>
                  <a:srgbClr val="1D1D1F"/>
                </a:solidFill>
                <a:latin typeface="SF Pro Text"/>
                <a:ea typeface="SF Pro Text"/>
                <a:cs typeface="SF Pro Text"/>
              </a:rPr>
              <a:t>MD / JSON / Obsidian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558B6B4-2003-4FBD-84AA-C5994842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1125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汇报时可以沿着这五层讲：先证明可用，再证明好用，最后证明能进入长期学习流程。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C480F1D-BC6B-431C-BD83-FF10D53B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A22B851-6B84-40BA-AB41-523A6564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6868B"/>
                </a:solidFill>
                <a:latin typeface="SF Pro Text"/>
                <a:ea typeface="SF Pro Text"/>
                <a:cs typeface="SF Pro Text"/>
              </a:defRPr>
            </a:pPr>
            <a:r>
              <a:rPr sz="750" b="0">
                <a:solidFill>
                  <a:srgbClr val="86868B"/>
                </a:solidFill>
                <a:latin typeface="SF Pro Text"/>
                <a:ea typeface="SF Pro Text"/>
                <a:cs typeface="SF Pro Text"/>
              </a:rPr>
              <a:t>Podsum v2 · podcast knowledge workflow</a:t>
            </a:r>
          </a:p>
        </p:txBody>
      </p:sp>
    </p:spTree>
    <p:extLst>
      <p:ext uri="{BB962C8B-B14F-4D97-AF65-F5344CB8AC3E}">
        <p14:creationId xmlns:p14="http://schemas.microsoft.com/office/powerpoint/2010/main" val="72372154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E09528-37B9-4A98-810D-395814C7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23591C-17F8-4A3A-9B2F-81CD9FE0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E71E34-84A7-4082-AEC8-0032309A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0AE00D-7BEA-4260-8162-39421DBE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445CED-5EA9-4C40-9685-F73A4805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80878-81E5-402B-BFFF-44B00F3F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39944-A9E3-4B30-A31E-CEBC811B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6E0E3-DFB7-487B-BB77-11D2F3B4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82BFB-D605-405D-A6CA-C41814CF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BC1B6-7D24-4C3A-B452-F9B162F1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D47B8A-1EEB-407A-9735-252AEC1D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7A0C7E-BCF1-4595-B7BC-8747F478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73C743-4A21-4D4A-B81C-EAA71A93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BC2176-9641-4D9F-8C52-73599DB6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685984-0601-4953-BE4F-4F900DF1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C1F0D1-53D5-4EFC-9592-30AEBDB2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990212-2911-45C2-BFE2-0576D696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A2ABF4-B205-4F5A-8714-704B48FB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776A7B-2149-4190-8CAB-DA2CF706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84A62A-CC1A-4745-A551-268F7E4D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220BB1-E041-4BEE-8B78-EDA84C2B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3A3429-69C8-4047-BBD6-88EC6B67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DAF058-AACA-4324-A411-61D40616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1960B8-8697-469B-BC46-0E343A20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7482A4-2A29-4967-8BD4-D2257BB0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3540CB-73F6-44EA-AD0C-61377277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B60E0C-D670-404E-8924-67DD1191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C03208-7E6F-4301-B39F-C157751D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0E23C4-CB61-4045-AF12-BB980F02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C85A4A-FB01-4C74-A500-872C2C2F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5EAFD2-61EF-4D56-88EF-4159B90E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33E997-7990-483B-ADA6-2866BA56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05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FE6B2A-0CC3-4DBD-8B80-767E9BCC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6868B"/>
                </a:solidFill>
                <a:latin typeface="SF Pro Text"/>
                <a:ea typeface="SF Pro Text"/>
                <a:cs typeface="SF Pro Text"/>
              </a:defRPr>
            </a:pPr>
            <a:r>
              <a:rPr sz="825" b="1">
                <a:solidFill>
                  <a:srgbClr val="86868B"/>
                </a:solidFill>
                <a:latin typeface="SF Pro Text"/>
                <a:ea typeface="SF Pro Text"/>
                <a:cs typeface="SF Pro Text"/>
              </a:rPr>
              <a:t>PROMPT &amp; COGNITION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E0F506-2D95-42D2-AE4E-2455CD40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6868B"/>
                </a:solidFill>
                <a:latin typeface="SF Pro Text"/>
                <a:ea typeface="SF Pro Text"/>
                <a:cs typeface="SF Pro Text"/>
              </a:defRPr>
            </a:pPr>
            <a:r>
              <a:rPr sz="900" b="1">
                <a:solidFill>
                  <a:srgbClr val="86868B"/>
                </a:solidFill>
                <a:latin typeface="SF Pro Text"/>
                <a:ea typeface="SF Pro Text"/>
                <a:cs typeface="SF Pro Text"/>
              </a:rPr>
              <a:t>05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E4841C-A09D-4425-B343-6D2B13C7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8382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rPr sz="240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rPr>
              <a:t>提示词设计服务人的理解流程：先判断价值，再深入复盘，再回到证据。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9E5C9B-3234-40E0-AE75-93BBFE93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247900"/>
            <a:ext cx="4762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6DCFCC-6872-4FFD-94DB-7148D8A0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4762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912DE9-1B34-4126-988E-CDEC09A0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0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rPr>
              <a:t>Quick browse layer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9307BE-248C-4C86-86A5-6D74F20D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364FBD-C545-48E7-8B6B-5F52DFAB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304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1D1F"/>
                </a:solidFill>
                <a:latin typeface="SF Pro Text"/>
                <a:ea typeface="SF Pro Text"/>
                <a:cs typeface="SF Pro Text"/>
              </a:defRPr>
            </a:pPr>
            <a:r>
              <a:rPr sz="825" b="1">
                <a:solidFill>
                  <a:srgbClr val="1D1D1F"/>
                </a:solidFill>
                <a:latin typeface="SF Pro Text"/>
                <a:ea typeface="SF Pro Text"/>
                <a:cs typeface="SF Pro Text"/>
              </a:rPr>
              <a:t>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E51627-177C-45C0-8A35-75E21EDD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670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1D1F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>
                <a:solidFill>
                  <a:srgbClr val="1D1D1F"/>
                </a:solidFill>
                <a:latin typeface="SF Pro Text"/>
                <a:ea typeface="SF Pro Text"/>
                <a:cs typeface="SF Pro Text"/>
              </a:rPr>
              <a:t>Background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2F6F54-5080-4D79-B41A-7E998C6A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7660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863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先交代背景，降低理解门槛。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346523-C6BE-4568-9FC2-0603B060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766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593626F-09F3-4EBA-86E6-E98D92D2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304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SF Pro Text"/>
                <a:ea typeface="SF Pro Text"/>
                <a:cs typeface="SF Pro Text"/>
              </a:defRPr>
            </a:pPr>
            <a:r>
              <a:rPr sz="825" b="1">
                <a:solidFill>
                  <a:srgbClr val="FFFFFF"/>
                </a:solidFill>
                <a:latin typeface="SF Pro Text"/>
                <a:ea typeface="SF Pro Text"/>
                <a:cs typeface="SF Pro Text"/>
              </a:rPr>
              <a:t>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C89A451-C829-4967-9B90-B2D350F5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957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1D1F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>
                <a:solidFill>
                  <a:srgbClr val="1D1D1F"/>
                </a:solidFill>
                <a:latin typeface="SF Pro Text"/>
                <a:ea typeface="SF Pro Text"/>
                <a:cs typeface="SF Pro Text"/>
              </a:rPr>
              <a:t>Core argument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DAF3CB7-F2BB-4EB7-8F02-47EBCB07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052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863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提炼节目真正的核心主张。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30F7929-30CB-4080-A2FC-6E66EE37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1B47C3F-7D06-4A79-A349-10903215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0"/>
            <a:ext cx="304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1D1F"/>
                </a:solidFill>
                <a:latin typeface="SF Pro Text"/>
                <a:ea typeface="SF Pro Text"/>
                <a:cs typeface="SF Pro Text"/>
              </a:defRPr>
            </a:pPr>
            <a:r>
              <a:rPr sz="825" b="1">
                <a:solidFill>
                  <a:srgbClr val="1D1D1F"/>
                </a:solidFill>
                <a:latin typeface="SF Pro Text"/>
                <a:ea typeface="SF Pro Text"/>
                <a:cs typeface="SF Pro Text"/>
              </a:rPr>
              <a:t>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43366E3-0307-4060-835D-26D4EEE6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243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1D1F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>
                <a:solidFill>
                  <a:srgbClr val="1D1D1F"/>
                </a:solidFill>
                <a:latin typeface="SF Pro Text"/>
                <a:ea typeface="SF Pro Text"/>
                <a:cs typeface="SF Pro Text"/>
              </a:rPr>
              <a:t>Conclusion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6D56BA1-52EB-41CB-9351-A48F9FE5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3390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863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给出收束判断，帮助决定是否深入。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AD976C1-0EE6-4D81-BB4A-63781809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247900"/>
            <a:ext cx="4762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B35ACAB-02BB-48B0-8C62-D77D8CB1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71700"/>
            <a:ext cx="4762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01014"/>
          </a:solidFill>
          <a:ln xmlns:a="http://schemas.openxmlformats.org/drawingml/2006/main" w="9525">
            <a:solidFill>
              <a:srgbClr val="25252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FC762EE-CEB7-4C9E-99C8-A3BBB222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574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00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Deep review layer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724DF70-5429-492E-8E53-F70BD846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28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AA30B0F-0F18-4E08-8E94-EE82C42F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099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SF Pro Text"/>
                <a:ea typeface="SF Pro Text"/>
                <a:cs typeface="SF Pro Text"/>
              </a:defRPr>
            </a:pPr>
            <a:r>
              <a:rPr sz="975" b="1">
                <a:solidFill>
                  <a:srgbClr val="FFFFFF"/>
                </a:solidFill>
                <a:latin typeface="SF Pro Text"/>
                <a:ea typeface="SF Pro Text"/>
                <a:cs typeface="SF Pro Text"/>
              </a:rPr>
              <a:t>Chapter outline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C93502C-5F15-41D9-80A4-15F332F2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099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9D9E2"/>
                </a:solidFill>
                <a:latin typeface="SF Pro Text"/>
                <a:ea typeface="SF Pro Text"/>
                <a:cs typeface="SF Pro Text"/>
              </a:defRPr>
            </a:pPr>
            <a:r>
              <a:rPr sz="825" b="0">
                <a:solidFill>
                  <a:srgbClr val="D9D9E2"/>
                </a:solidFill>
                <a:latin typeface="SF Pro Text"/>
                <a:ea typeface="SF Pro Text"/>
                <a:cs typeface="SF Pro Text"/>
              </a:rPr>
              <a:t>把长音频拆成可浏览的时间段。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805D082-1EC7-40A9-BC2B-DF05A4D2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86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2942D9A-D7F2-482C-9846-5A1A4DA6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671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SF Pro Text"/>
                <a:ea typeface="SF Pro Text"/>
                <a:cs typeface="SF Pro Text"/>
              </a:defRPr>
            </a:pPr>
            <a:r>
              <a:rPr sz="975" b="1">
                <a:solidFill>
                  <a:srgbClr val="FFFFFF"/>
                </a:solidFill>
                <a:latin typeface="SF Pro Text"/>
                <a:ea typeface="SF Pro Text"/>
                <a:cs typeface="SF Pro Text"/>
              </a:rPr>
              <a:t>Key points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EBB06DB-3202-4405-944C-5F263635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671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9D9E2"/>
                </a:solidFill>
                <a:latin typeface="SF Pro Text"/>
                <a:ea typeface="SF Pro Text"/>
                <a:cs typeface="SF Pro Text"/>
              </a:defRPr>
            </a:pPr>
            <a:r>
              <a:rPr sz="825" b="0">
                <a:solidFill>
                  <a:srgbClr val="D9D9E2"/>
                </a:solidFill>
                <a:latin typeface="SF Pro Text"/>
                <a:ea typeface="SF Pro Text"/>
                <a:cs typeface="SF Pro Text"/>
              </a:rPr>
              <a:t>每章保留原始顺序，便于复盘。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01019B8-D89E-4E43-811F-E7AD3ECA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43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D6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6A48981-0F80-4946-831C-C803B92E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243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SF Pro Text"/>
                <a:ea typeface="SF Pro Text"/>
                <a:cs typeface="SF Pro Text"/>
              </a:defRPr>
            </a:pPr>
            <a:r>
              <a:rPr sz="975" b="1">
                <a:solidFill>
                  <a:srgbClr val="FFFFFF"/>
                </a:solidFill>
                <a:latin typeface="SF Pro Text"/>
                <a:ea typeface="SF Pro Text"/>
                <a:cs typeface="SF Pro Text"/>
              </a:rPr>
              <a:t>Verified quotes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B07CEC4-371D-4AB5-95F9-33BE155B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243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9D9E2"/>
                </a:solidFill>
                <a:latin typeface="SF Pro Text"/>
                <a:ea typeface="SF Pro Text"/>
                <a:cs typeface="SF Pro Text"/>
              </a:defRPr>
            </a:pPr>
            <a:r>
              <a:rPr sz="825" b="0">
                <a:solidFill>
                  <a:srgbClr val="D9D9E2"/>
                </a:solidFill>
                <a:latin typeface="SF Pro Text"/>
                <a:ea typeface="SF Pro Text"/>
                <a:cs typeface="SF Pro Text"/>
              </a:rPr>
              <a:t>quote 必须逐字命中 transcript。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A9DF4C1-7248-4C98-B5FB-F2C1E6FC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00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CB5D1D1-EE1B-4B46-8843-830B09AF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815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SF Pro Text"/>
                <a:ea typeface="SF Pro Text"/>
                <a:cs typeface="SF Pro Text"/>
              </a:defRPr>
            </a:pPr>
            <a:r>
              <a:rPr sz="975" b="1">
                <a:solidFill>
                  <a:srgbClr val="FFFFFF"/>
                </a:solidFill>
                <a:latin typeface="SF Pro Text"/>
                <a:ea typeface="SF Pro Text"/>
                <a:cs typeface="SF Pro Text"/>
              </a:rPr>
              <a:t>Entity list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5E6943D-9912-443F-96C1-7FF6FDDE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815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9D9E2"/>
                </a:solidFill>
                <a:latin typeface="SF Pro Text"/>
                <a:ea typeface="SF Pro Text"/>
                <a:cs typeface="SF Pro Text"/>
              </a:defRPr>
            </a:pPr>
            <a:r>
              <a:rPr sz="825" b="0">
                <a:solidFill>
                  <a:srgbClr val="D9D9E2"/>
                </a:solidFill>
                <a:latin typeface="SF Pro Text"/>
                <a:ea typeface="SF Pro Text"/>
                <a:cs typeface="SF Pro Text"/>
              </a:rPr>
              <a:t>人物、书、产品被集中整理。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2BC568B-E83F-4431-A04D-A9A4C333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81650"/>
            <a:ext cx="914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1200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快速浏览回答“值不值得看”；章节总结回答“重点在哪里”；quote 回答“原文是不是这样说”。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FE171EB-119A-4C4D-B6D1-0CC669B5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7200283-43FE-494A-9EBE-7EB0BDC9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6868B"/>
                </a:solidFill>
                <a:latin typeface="SF Pro Text"/>
                <a:ea typeface="SF Pro Text"/>
                <a:cs typeface="SF Pro Text"/>
              </a:defRPr>
            </a:pPr>
            <a:r>
              <a:rPr sz="750" b="0">
                <a:solidFill>
                  <a:srgbClr val="86868B"/>
                </a:solidFill>
                <a:latin typeface="SF Pro Text"/>
                <a:ea typeface="SF Pro Text"/>
                <a:cs typeface="SF Pro Text"/>
              </a:rPr>
              <a:t>Podsum v2 · podcast knowledge workflow</a:t>
            </a:r>
          </a:p>
        </p:txBody>
      </p:sp>
    </p:spTree>
    <p:extLst>
      <p:ext uri="{BB962C8B-B14F-4D97-AF65-F5344CB8AC3E}">
        <p14:creationId xmlns:p14="http://schemas.microsoft.com/office/powerpoint/2010/main" val="90869227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D74780-C394-48DC-B7E6-27BFF194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03608-8352-4971-948D-AE3FF0EE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55046B-1F7C-4D54-8F16-EF5FB608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9FF5B-734B-44B1-8140-89864573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E879E7-1DDF-41A7-A6BE-5C338977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6986E-3F19-4D55-BCE3-C81FE1B8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CB11C-24A3-410B-8C57-95502BBD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9B0CD8-F38D-49DD-81E5-F178BAF3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90AE79-AFF6-4947-886D-35939B3F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338902-071A-4309-BD35-A12764A6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A07D58-5BDD-4987-9A54-69858111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C812B3-4501-4999-B3F0-C89D5214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CDA653-0039-4F00-BB9C-A9F12C2F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84DEC4-59F4-4AF1-BA63-25A428AA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55F591-0387-45C4-9785-1CA95796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54B027-AC12-43A7-983F-D3F2771F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D07704-000B-402C-A240-295697EF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3971E7-62BD-45ED-B96E-26401DBA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33CB6C-DD24-4D34-9DFC-9C7813A3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5A510F-B015-4BFC-A9B0-181AEF97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0012FF-A14E-4617-A83E-905A7889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CA036C-D5B6-42C6-8B00-EC49043E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B1B469-C1DD-4FBC-AFD7-56FDC4D3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EA56FC-3C4F-4EBB-A726-3E2047D1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FD17C4-65CB-4B55-AF21-B882A6CB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C2D025-4147-4E63-9BC2-2689B1DA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D87936-EC61-4390-AF3F-D3EF24FA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41EC77-5E3D-4A4A-9557-868F97D8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677940-3976-47C4-BCC2-41278D2D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A88FB2-D412-4775-A69B-7D596066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B26EBB-2D58-4C93-B579-905CD9E3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A27197-93F8-4AAC-B539-E3DB1139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05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A2177E-215E-4879-B4F8-87D91D32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6868B"/>
                </a:solidFill>
                <a:latin typeface="SF Pro Text"/>
                <a:ea typeface="SF Pro Text"/>
                <a:cs typeface="SF Pro Text"/>
              </a:defRPr>
            </a:pPr>
            <a:r>
              <a:rPr sz="825" b="1">
                <a:solidFill>
                  <a:srgbClr val="86868B"/>
                </a:solidFill>
                <a:latin typeface="SF Pro Text"/>
                <a:ea typeface="SF Pro Text"/>
                <a:cs typeface="SF Pro Text"/>
              </a:rPr>
              <a:t>KNOWLEDGE WORKFLOW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97ED5A-184C-48C4-84D1-F31E4F91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6868B"/>
                </a:solidFill>
                <a:latin typeface="SF Pro Text"/>
                <a:ea typeface="SF Pro Text"/>
                <a:cs typeface="SF Pro Text"/>
              </a:defRPr>
            </a:pPr>
            <a:r>
              <a:rPr sz="900" b="1">
                <a:solidFill>
                  <a:srgbClr val="86868B"/>
                </a:solidFill>
                <a:latin typeface="SF Pro Text"/>
                <a:ea typeface="SF Pro Text"/>
                <a:cs typeface="SF Pro Text"/>
              </a:rPr>
              <a:t>06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2CFA4E-6294-43E5-8189-80555907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rPr>
              <a:t>Markdown 导出把播客接入 Obsidian，完成知识效率闭环。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56463B-50DF-4867-81BC-86027791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809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1163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这里不是“可以下载文件”这么简单，而是把音频内容变成可搜索、可引用、可复习、可写作的知识资产。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B5AD88-3E67-4738-AAA9-9EF8A1A1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876550"/>
            <a:ext cx="2152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642F61-E51F-493A-A962-4B627830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2152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3254fe70c14331">
            <a:extLst>
              <a:ext uri="{96DAC541-7B7A-43D3-8B79-37D633B846F1}">
                <asvg:svgBlip xmlns:asvg="http://schemas.microsoft.com/office/drawing/2016/SVG/main" r:embed="R8c04c7e4e91a4b4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7750" y="30861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5D7A49-4A21-4D78-969F-812D9887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623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35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rPr>
              <a:t>Podcast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8F68FA-06E9-431B-80E0-C1DE24E6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433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938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原始音频、URL 或 YouTube 长内容。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189DDA-16B2-4565-AC31-EC4ABCD1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957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5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0DD1B3A-76C5-46AE-963D-1D206089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576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5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0B18A30-5166-4301-847F-AC0CF274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876550"/>
            <a:ext cx="2152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92C5594-6FA6-4B5B-9BFB-1EAAA110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00350"/>
            <a:ext cx="2152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50a33c08004a42">
            <a:extLst>
              <a:ext uri="{96DAC541-7B7A-43D3-8B79-37D633B846F1}">
                <asvg:svgBlip xmlns:asvg="http://schemas.microsoft.com/office/drawing/2016/SVG/main" r:embed="R3addc600b2714d5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33800" y="30861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ED5837B-5C1F-43BE-AD05-D4C6129E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623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35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rPr>
              <a:t>Structured summary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923D130-55E2-40D5-8A69-2ED6BF62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433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938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hook、三段式摘要、章节、quote、实体。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05236F6-C8AB-45F7-88F7-9738FBA7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957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5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6029CEB-BB82-4041-9E5F-E1EC19B9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576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5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990C970-0FB2-4BF7-81C4-4D3EAE67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876550"/>
            <a:ext cx="2152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BC3DCF8-D5F6-4DA3-9C5F-64815A08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0350"/>
            <a:ext cx="2152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c36e17a5934115">
            <a:extLst>
              <a:ext uri="{96DAC541-7B7A-43D3-8B79-37D633B846F1}">
                <asvg:svgBlip xmlns:asvg="http://schemas.microsoft.com/office/drawing/2016/SVG/main" r:embed="R59932c884e404a3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19850" y="30861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1BED883-5C43-4687-8216-91F7080D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623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35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rPr>
              <a:t>Markdown export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82ED531-E311-4ED7-8267-C2BD9DBD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433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938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保留标题层级、要点、引用和时间戳。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4198524-DE3A-4B66-B034-88F649AB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957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5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5575FD0-F959-4E7C-8260-22A836D0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576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5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016A5EB-86E6-4361-8309-BFDCDAE1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876550"/>
            <a:ext cx="2152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659A81B-560C-4E6D-B1CF-7259435E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00350"/>
            <a:ext cx="2152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6c038d2c7e482e">
            <a:extLst>
              <a:ext uri="{96DAC541-7B7A-43D3-8B79-37D633B846F1}">
                <asvg:svgBlip xmlns:asvg="http://schemas.microsoft.com/office/drawing/2016/SVG/main" r:embed="R61b0beda846441f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05900" y="30861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894B6E1-852A-4F20-99AD-9BD1FD18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5623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35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rPr>
              <a:t>Obsidian vault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76FF9F7-CEC1-4C1E-A6B2-70FB2B3F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9433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938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进入笔记库，支持复习、引用和写作。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06321C6-3F0C-4D83-888D-3BB48500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295900"/>
            <a:ext cx="93726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F3C86B8-DBBD-4408-872A-2BA7E85C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219700"/>
            <a:ext cx="93726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67F5E99-C448-46ED-8B92-22626F77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410200"/>
            <a:ext cx="95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6868B"/>
                </a:solidFill>
                <a:latin typeface="SF Pro Text"/>
                <a:ea typeface="SF Pro Text"/>
                <a:cs typeface="SF Pro Text"/>
              </a:defRPr>
            </a:pPr>
            <a:r>
              <a:rPr sz="825" b="1">
                <a:solidFill>
                  <a:srgbClr val="86868B"/>
                </a:solidFill>
                <a:latin typeface="SF Pro Text"/>
                <a:ea typeface="SF Pro Text"/>
                <a:cs typeface="SF Pro Text"/>
              </a:rPr>
              <a:t>展示话术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C3DBD9E-1A82-4292-9EDB-27D8CF6C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3911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1D1F"/>
                </a:solidFill>
                <a:latin typeface="SF Pro Text"/>
                <a:ea typeface="SF Pro Text"/>
                <a:cs typeface="SF Pro Text"/>
              </a:defRPr>
            </a:pPr>
            <a:r>
              <a:rPr sz="1125" b="1">
                <a:solidFill>
                  <a:srgbClr val="1D1D1F"/>
                </a:solidFill>
                <a:latin typeface="SF Pro Text"/>
                <a:ea typeface="SF Pro Text"/>
                <a:cs typeface="SF Pro Text"/>
              </a:rPr>
              <a:t>我们把播客从一次性消费内容，转化成可以长期复用的学习资产。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A72FFB1-5357-4AD5-9217-AE97503C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46D396A-0C5A-4F44-95B4-CA3A8EA0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6868B"/>
                </a:solidFill>
                <a:latin typeface="SF Pro Text"/>
                <a:ea typeface="SF Pro Text"/>
                <a:cs typeface="SF Pro Text"/>
              </a:defRPr>
            </a:pPr>
            <a:r>
              <a:rPr sz="750" b="0">
                <a:solidFill>
                  <a:srgbClr val="86868B"/>
                </a:solidFill>
                <a:latin typeface="SF Pro Text"/>
                <a:ea typeface="SF Pro Text"/>
                <a:cs typeface="SF Pro Text"/>
              </a:rPr>
              <a:t>Podsum v2 · podcast knowledge workflow</a:t>
            </a:r>
          </a:p>
        </p:txBody>
      </p:sp>
    </p:spTree>
    <p:extLst>
      <p:ext uri="{BB962C8B-B14F-4D97-AF65-F5344CB8AC3E}">
        <p14:creationId xmlns:p14="http://schemas.microsoft.com/office/powerpoint/2010/main" val="91282952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F0F616-574E-423A-96B0-8B19311A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44617-8555-40EF-9992-0A131156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BCB1C6-65B0-441C-A73A-647AA9FF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DE703-7B2E-4F61-B9D6-FC2CE3AB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701875-BE15-45EA-9AF6-B0C4578E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89431B-DC80-4006-B8C7-C5DBF812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AC2D96-19E6-47C4-B0C2-DD4052BA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B5862F-FDDD-49E5-93BD-78899EDF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C3BC97-73E9-43D0-A685-BEB00D1C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861055-64F1-4CD4-AD2A-43AD9054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C050C9-4578-4D7F-8916-8878A9F4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4310EF-A1BC-427D-98C6-3F2ABDCF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FF0950-C5FF-4C03-A272-471845FD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6F951E-54F2-4371-88F3-816EB0C6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CC15AF-8572-42B0-AB07-975A7BA1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C2AAA6-FC8E-44B5-8E6C-837948E1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9C01CB-ADF3-41EC-B55D-F6763913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ADBF3B-B0EB-4AD0-9707-C0683B59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E4E054-323A-4CB1-B7C7-B26152DC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45D0D8-3AFF-4AC6-A022-F932893C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707789-242E-4184-A97B-9B10E7E6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946EE3-326F-43F0-8B7A-8CE644B4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31229F-2D0C-4C65-8ED2-D7EC75AD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6819DC-E9B6-4F60-ADA1-1E970A8F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9C3689-0513-458C-B7D3-4D937D39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7E95DD-5CAA-4DEE-8E3C-3C1CB077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084817-9418-4B9C-A308-9A553541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770098-6441-4136-9715-15A74E9B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FC1877-478E-4FFC-9BE7-7883E81F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B7516D-EAF0-4B03-B695-24AE5778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145ED7-3FF3-40BB-8D60-8C237F60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18447D-5B89-4646-BB10-1EFE7BC1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05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33FC8A-6256-4C39-8FFF-F9513238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6868B"/>
                </a:solidFill>
                <a:latin typeface="SF Pro Text"/>
                <a:ea typeface="SF Pro Text"/>
                <a:cs typeface="SF Pro Text"/>
              </a:defRPr>
            </a:pPr>
            <a:r>
              <a:rPr sz="825" b="1">
                <a:solidFill>
                  <a:srgbClr val="86868B"/>
                </a:solidFill>
                <a:latin typeface="SF Pro Text"/>
                <a:ea typeface="SF Pro Text"/>
                <a:cs typeface="SF Pro Text"/>
              </a:rPr>
              <a:t>ENGINEERING WORKLOAD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79788C-FC90-46CB-863B-06C3B0CF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6868B"/>
                </a:solidFill>
                <a:latin typeface="SF Pro Text"/>
                <a:ea typeface="SF Pro Text"/>
                <a:cs typeface="SF Pro Text"/>
              </a:defRPr>
            </a:pPr>
            <a:r>
              <a:rPr sz="900" b="1">
                <a:solidFill>
                  <a:srgbClr val="86868B"/>
                </a:solidFill>
                <a:latin typeface="SF Pro Text"/>
                <a:ea typeface="SF Pro Text"/>
                <a:cs typeface="SF Pro Text"/>
              </a:rPr>
              <a:t>07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B95DF0-CAB0-4492-9A8D-C4A0E6CB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rPr sz="240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rPr>
              <a:t>产品体验背后是完整工程系统：状态机、持久化、并发、校验和导出。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CD58A7-037F-4C0E-BA8E-83D7F8E8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114550"/>
            <a:ext cx="32385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15437B-2A90-4D41-93C5-5F1CF3F2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32385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264046-DB50-494F-AF9D-C82A3510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431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rPr>
              <a:t>Frontend v2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9EC7B2-21C1-438E-85C9-025D8C16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900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React + Tailwind + Framer Motion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300493-607B-4CAF-8A4C-C8BBF82F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1B90E2-8334-4F4F-B540-493DF00A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670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D1D1F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1D1D1F"/>
                </a:solidFill>
                <a:latin typeface="SF Pro Text"/>
                <a:ea typeface="SF Pro Text"/>
                <a:cs typeface="SF Pro Text"/>
              </a:rPr>
              <a:t>Library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357D7A-B6C6-4003-A5E8-B526F26A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02BE2E-3003-4F58-819F-4D9A8D80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480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D1D1F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1D1D1F"/>
                </a:solidFill>
                <a:latin typeface="SF Pro Text"/>
                <a:ea typeface="SF Pro Text"/>
                <a:cs typeface="SF Pro Text"/>
              </a:rPr>
              <a:t>Hook hero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FBEAF5-8F19-473A-8201-20522641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67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3B1CE26-B63D-420A-B934-4B59F86D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290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D1D1F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1D1D1F"/>
                </a:solidFill>
                <a:latin typeface="SF Pro Text"/>
                <a:ea typeface="SF Pro Text"/>
                <a:cs typeface="SF Pro Text"/>
              </a:rPr>
              <a:t>Chapter timeline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B142551-C402-40D0-8F50-906CEA5E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B9C0285-9F1D-4F6C-96AF-9BA3C5C4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100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D1D1F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1D1D1F"/>
                </a:solidFill>
                <a:latin typeface="SF Pro Text"/>
                <a:ea typeface="SF Pro Text"/>
                <a:cs typeface="SF Pro Text"/>
              </a:rPr>
              <a:t>Floating dock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A7DC044-5212-4AD3-B16E-5C37F644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14550"/>
            <a:ext cx="32385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AE93804-B08F-4530-AAD5-434883A5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32385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F732EE2-7BFE-4BE7-834B-B4D39C25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431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rPr>
              <a:t>FastAPI Pipeline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559A225-512F-4942-9382-F966C471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8605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900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queued → fetching → transcribing → summarizing → done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DA2E289-DBCF-4E7E-8276-586A38D6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05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BBA9E09-8528-411B-AC5A-669ECB0B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670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D1D1F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1D1D1F"/>
                </a:solidFill>
                <a:latin typeface="SF Pro Text"/>
                <a:ea typeface="SF Pro Text"/>
                <a:cs typeface="SF Pro Text"/>
              </a:rPr>
              <a:t>Checkpoint resume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E8CCCDF-B7B5-479A-BA74-1BC697F8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86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8289615-A1C0-40AC-95B0-C7A0C1E8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480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D1D1F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1D1D1F"/>
                </a:solidFill>
                <a:latin typeface="SF Pro Text"/>
                <a:ea typeface="SF Pro Text"/>
                <a:cs typeface="SF Pro Text"/>
              </a:rPr>
              <a:t>Retry budget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0FB6E8C-5C07-4C96-A2B2-6F0A9CF0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67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5818FA6-ACEF-4C5B-86E0-C0E6D362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290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D1D1F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1D1D1F"/>
                </a:solidFill>
                <a:latin typeface="SF Pro Text"/>
                <a:ea typeface="SF Pro Text"/>
                <a:cs typeface="SF Pro Text"/>
              </a:rPr>
              <a:t>Optional-stage degrade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C967E4F-AE85-48F2-AC45-C6211F18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14C9E1A-F759-4F62-B688-C6895A3A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2100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D1D1F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1D1D1F"/>
                </a:solidFill>
                <a:latin typeface="SF Pro Text"/>
                <a:ea typeface="SF Pro Text"/>
                <a:cs typeface="SF Pro Text"/>
              </a:rPr>
              <a:t>WebSocket progress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139F160-6B93-41E8-9F44-E4B6BDF0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114550"/>
            <a:ext cx="32385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C1E7338-B76F-4842-A175-6ADEF233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38350"/>
            <a:ext cx="32385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DA30872-FE99-4739-9149-2B15FCEB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431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rPr>
              <a:t>Data &amp; Artifacts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6F77E9F-D876-4D9B-8D1F-0BE5E437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860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900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SQLite + data/&lt;episode_id&gt;/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C072194-7862-4246-AE3F-017F560C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05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D6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B2BB924-0079-43D0-8757-A950100E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670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D1D1F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1D1D1F"/>
                </a:solidFill>
                <a:latin typeface="SF Pro Text"/>
                <a:ea typeface="SF Pro Text"/>
                <a:cs typeface="SF Pro Text"/>
              </a:rPr>
              <a:t>transcript segments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083DE45-E1DE-427D-B667-662C2E9E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86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D6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B05C0DD-A0E4-4715-A7FA-D634EAF8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480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D1D1F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1D1D1F"/>
                </a:solidFill>
                <a:latin typeface="SF Pro Text"/>
                <a:ea typeface="SF Pro Text"/>
                <a:cs typeface="SF Pro Text"/>
              </a:rPr>
              <a:t>chapters / quotes / entities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76B5097-B231-49B6-8804-3FB68128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67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D6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F63255D-AF60-4CAA-8719-4081A509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290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D1D1F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1D1D1F"/>
                </a:solidFill>
                <a:latin typeface="SF Pro Text"/>
                <a:ea typeface="SF Pro Text"/>
                <a:cs typeface="SF Pro Text"/>
              </a:rPr>
              <a:t>Markdown / JSON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C33018E-3D9C-429A-9E79-01094A00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D6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A37C4BB-F5FC-4DC2-B444-967B1813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100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D1D1F"/>
                </a:solidFill>
                <a:latin typeface="SF Pro Text"/>
                <a:ea typeface="SF Pro Text"/>
                <a:cs typeface="SF Pro Text"/>
              </a:defRPr>
            </a:pPr>
            <a:r>
              <a:rPr sz="975" b="0">
                <a:solidFill>
                  <a:srgbClr val="1D1D1F"/>
                </a:solidFill>
                <a:latin typeface="SF Pro Text"/>
                <a:ea typeface="SF Pro Text"/>
                <a:cs typeface="SF Pro Text"/>
              </a:rPr>
              <a:t>TTS digest</a:t>
            </a:r>
          </a:p>
        </p:txBody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161519231642dd">
            <a:extLst>
              <a:ext uri="{96DAC541-7B7A-43D3-8B79-37D633B846F1}">
                <asvg:svgBlip xmlns:asvg="http://schemas.microsoft.com/office/drawing/2016/SVG/main" r:embed="R21d2b6b478aa410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133850" y="3467100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004277cbac48af">
            <a:extLst>
              <a:ext uri="{96DAC541-7B7A-43D3-8B79-37D633B846F1}">
                <asvg:svgBlip xmlns:asvg="http://schemas.microsoft.com/office/drawing/2016/SVG/main" r:embed="R8f840d36c3ed404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91450" y="34671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C31F7A9-CAF4-4282-AD90-5325AE19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97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1125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这页用于突出工作量：不是只接 API，而是做了可恢复、可验证、可扩展的系统。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3146550-0DDB-456F-AAA8-B438AF03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DE0C269-6EDD-4B06-A641-B2E4ABE0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6868B"/>
                </a:solidFill>
                <a:latin typeface="SF Pro Text"/>
                <a:ea typeface="SF Pro Text"/>
                <a:cs typeface="SF Pro Text"/>
              </a:defRPr>
            </a:pPr>
            <a:r>
              <a:rPr sz="750" b="0">
                <a:solidFill>
                  <a:srgbClr val="86868B"/>
                </a:solidFill>
                <a:latin typeface="SF Pro Text"/>
                <a:ea typeface="SF Pro Text"/>
                <a:cs typeface="SF Pro Text"/>
              </a:rPr>
              <a:t>Podsum v2 · podcast knowledge workflow</a:t>
            </a:r>
          </a:p>
        </p:txBody>
      </p:sp>
    </p:spTree>
    <p:extLst>
      <p:ext uri="{BB962C8B-B14F-4D97-AF65-F5344CB8AC3E}">
        <p14:creationId xmlns:p14="http://schemas.microsoft.com/office/powerpoint/2010/main" val="14968091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A59968-4062-4393-8AF1-54192546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5962E-EC43-4F5C-B2A4-73BBA417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0B823-67CB-499D-A82A-F3B2D9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BC7D5-017D-48E5-B7F3-EAEDDF59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E3E8D-2989-4702-980C-CA6FEF23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11260-2EC3-4504-99C3-5E65FD84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145FF3-5EEB-4BDF-ADA8-7FE33E03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314647-5B89-42F5-A02D-A9BE9A40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DE7128-1D31-47D8-8CC5-CD5BFCB5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84BBC3-35B8-43A8-86E9-93C8163F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FD3D7A-0C1C-4307-A037-F50998E6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0D3C6B-0000-4C28-94AD-F7E32C4C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8D7C78-577D-4620-A223-6E27589C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167CBE-6BE1-4C68-9814-5D6A86E6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E7C6F0-8208-452C-8E57-D28D114C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111CB9-6ADE-4950-8225-2645D9BF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FEFFD7-73B7-404A-99B6-F20B4E55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3F051E-C127-4F7C-AB8D-6BCD1F05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A51A5E-DF4A-4129-9E72-13D5E311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34F275-B6B8-4363-93BF-E2C59DCB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1C8903-1C20-4928-9E11-5F6D307E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6D82ED-53D0-4AC0-8F0D-010DFA91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8886C8-59A4-4AA8-B4BD-41FA3F2A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544CF4-AC0B-4EBA-B6BE-72AB1379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E5D250-ADB4-458F-9F12-0B87858B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612AD6-591E-4EB4-8E4D-AD3D0EC8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F9E0AF-9201-4843-9BB1-4B1E5803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D6F406-17BA-4A4B-BAF9-7849E80B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0F8E0B-269A-4C83-A16A-5FFA36A6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6841EC-C55B-4573-BC23-58E61FE2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53BB10-71CF-4D2D-9EEE-9FB62B73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CA050C-64D5-49AE-85FC-2B761E0F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05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C9BB5F-2F91-4933-8C86-C0C09343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6868B"/>
                </a:solidFill>
                <a:latin typeface="SF Pro Text"/>
                <a:ea typeface="SF Pro Text"/>
                <a:cs typeface="SF Pro Text"/>
              </a:defRPr>
            </a:pPr>
            <a:r>
              <a:rPr sz="825" b="1">
                <a:solidFill>
                  <a:srgbClr val="86868B"/>
                </a:solidFill>
                <a:latin typeface="SF Pro Text"/>
                <a:ea typeface="SF Pro Text"/>
                <a:cs typeface="SF Pro Text"/>
              </a:rPr>
              <a:t>VERIFICATION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577F56-1314-43C5-A107-BFF6EABB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6868B"/>
                </a:solidFill>
                <a:latin typeface="SF Pro Text"/>
                <a:ea typeface="SF Pro Text"/>
                <a:cs typeface="SF Pro Text"/>
              </a:defRPr>
            </a:pPr>
            <a:r>
              <a:rPr sz="900" b="1">
                <a:solidFill>
                  <a:srgbClr val="86868B"/>
                </a:solidFill>
                <a:latin typeface="SF Pro Text"/>
                <a:ea typeface="SF Pro Text"/>
                <a:cs typeface="SF Pro Text"/>
              </a:rPr>
              <a:t>08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ECE199-9DF3-4627-A4BB-C05DDF6C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8191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rPr>
              <a:t>完成度不是口头描述，而是有自动化验证和生产模式运行支撑。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846455-6CE6-4258-934B-5FDF1393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22885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6CDDD1-0DBB-47B1-94F8-C5BF7F6E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74AD41-43AE-4383-BE7C-FEA61874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84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2100" b="1">
                <a:solidFill>
                  <a:srgbClr val="0A84FF"/>
                </a:solidFill>
                <a:latin typeface="SF Pro Display"/>
                <a:ea typeface="SF Pro Display"/>
                <a:cs typeface="SF Pro Display"/>
              </a:rPr>
              <a:t>63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F2914D-5369-452A-BD0C-61DC5142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3845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938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Backend tests passed：覆盖 domain、pipeline、API、并发和 digest。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406803-5808-40B8-AEC1-9C656B90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22885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395B93-0E33-46F9-8142-31A64249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5265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06094B-642F-4FCE-80BD-D88A8E34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4315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4C759"/>
                </a:solidFill>
                <a:latin typeface="SF Pro Display"/>
                <a:ea typeface="SF Pro Display"/>
                <a:cs typeface="SF Pro Display"/>
              </a:defRPr>
            </a:pPr>
            <a:r>
              <a:rPr sz="2100" b="1">
                <a:solidFill>
                  <a:srgbClr val="34C759"/>
                </a:solidFill>
                <a:latin typeface="SF Pro Display"/>
                <a:ea typeface="SF Pro Display"/>
                <a:cs typeface="SF Pro Display"/>
              </a:rPr>
              <a:t>87.98%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9B26C1-FB33-4106-AD5A-DA51A38F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3845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938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Domain coverage：高于 constitution 规定的 80% coverage gate。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8515F4-437E-4F15-B9EC-3664BAE0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22885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2FC7D2-8A32-4B66-AED8-6AFCD993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5265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F37A006-56F1-48EC-BCB5-FB8B17A7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4315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B7D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2100" b="1">
                <a:solidFill>
                  <a:srgbClr val="8B7DFF"/>
                </a:solidFill>
                <a:latin typeface="SF Pro Display"/>
                <a:ea typeface="SF Pro Display"/>
                <a:cs typeface="SF Pro Display"/>
              </a:rPr>
              <a:t>206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AB616F0-81A2-4762-A1B5-2340AB9F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3845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938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Range endpoint verified：支持音频局部加载和 quote 跳转体验。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7C31B36-0C77-47B2-95E3-79726A3A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98145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E4CAA92-6AD1-4FDE-AA5D-75A182F3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0338EAF-3002-4AA1-BF91-E7CCFE33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ED6BB"/>
                </a:solidFill>
                <a:latin typeface="SF Pro Display"/>
                <a:ea typeface="SF Pro Display"/>
                <a:cs typeface="SF Pro Display"/>
              </a:defRPr>
            </a:pPr>
            <a:r>
              <a:rPr sz="2100" b="1">
                <a:solidFill>
                  <a:srgbClr val="4ED6BB"/>
                </a:solidFill>
                <a:latin typeface="SF Pro Display"/>
                <a:ea typeface="SF Pro Display"/>
                <a:cs typeface="SF Pro Display"/>
              </a:rPr>
              <a:t>PASS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53ABA3D-1E48-419F-B45A-D9F0B102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9105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938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Quote verifier fixture：PASS 1 / FAIL 0，引用可被离线复查。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5F77730-770E-4FD2-93B9-8A129731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98145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3EEAA29-81FA-4DD6-A6D8-FE9EF4A6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0525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9510A7A-7BC3-422E-8335-F9856DD3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09575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9F0A"/>
                </a:solidFill>
                <a:latin typeface="SF Pro Display"/>
                <a:ea typeface="SF Pro Display"/>
                <a:cs typeface="SF Pro Display"/>
              </a:defRPr>
            </a:pPr>
            <a:r>
              <a:rPr sz="2100" b="1">
                <a:solidFill>
                  <a:srgbClr val="FF9F0A"/>
                </a:solidFill>
                <a:latin typeface="SF Pro Display"/>
                <a:ea typeface="SF Pro Display"/>
                <a:cs typeface="SF Pro Display"/>
              </a:rPr>
              <a:t>≤ 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3F8363A-3752-4BF3-B572-44928A4A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9105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938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MAX_CONCURRENCY=2 时 transcribing job 从未超过配置上限。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50D1657-46AB-4F9C-AC31-645A1A45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98145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649C4A3-E6BB-4C78-BC1F-35064170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0525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5D8ECBF-DA6B-4990-A6A6-C7AD9460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9575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rPr sz="210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rPr>
              <a:t>Serve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EE7096F-5912-4EF8-A716-F715A229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9105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938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make build &amp;&amp; make serve 验证 FastAPI 可独立服务生产 SPA。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A4C9B72-9B5B-4E7D-AAC3-0D230344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1125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适合展示时的结论：系统不只是能演示，而是能构建、能测试、能服务、能复查。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AFFEBBF-4574-4E0D-8F79-926F2386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61758B8-C5E2-4E27-BEC0-ED9557BD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6868B"/>
                </a:solidFill>
                <a:latin typeface="SF Pro Text"/>
                <a:ea typeface="SF Pro Text"/>
                <a:cs typeface="SF Pro Text"/>
              </a:defRPr>
            </a:pPr>
            <a:r>
              <a:rPr sz="750" b="0">
                <a:solidFill>
                  <a:srgbClr val="86868B"/>
                </a:solidFill>
                <a:latin typeface="SF Pro Text"/>
                <a:ea typeface="SF Pro Text"/>
                <a:cs typeface="SF Pro Text"/>
              </a:rPr>
              <a:t>Podsum v2 · podcast knowledge workflow</a:t>
            </a:r>
          </a:p>
        </p:txBody>
      </p:sp>
    </p:spTree>
    <p:extLst>
      <p:ext uri="{BB962C8B-B14F-4D97-AF65-F5344CB8AC3E}">
        <p14:creationId xmlns:p14="http://schemas.microsoft.com/office/powerpoint/2010/main" val="197311682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DC9978-EC80-4A2D-B38A-E8CC2AC6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B8A25-0FE6-4BAC-926C-F397BF17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1415DB-A3F3-40BB-AB8E-976E5F7A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ACFF4-F623-4DF5-8FC9-5A012E0E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DBCCA2-5655-4DF2-B652-E7EFE3AA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B401DB-1B67-4902-973B-6906E87B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C2AC1A-A1FA-4F96-AD31-2597339F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32EA32-2946-4CDD-8308-0A4BCCA4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74DF85-9A93-4E58-9BC8-5A654673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E30A51-8782-4C97-BF88-55643A29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28CCA5-9237-47B7-86C7-5C019236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69FF9F-4A18-4AAB-8A31-4141224F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6A5D23-9A29-4A77-8AA6-C074CFA6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8D46ED-553E-40A1-8641-C12803F2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5F8BF8-351E-43CC-BD1D-8D48B5AA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D4C436-1010-448B-81D9-772D809B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B508E5-39AA-4CFC-92EC-809237A3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92001D-04DA-4B20-B835-CC519ABF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00AF63-7DFA-4F3F-A8F1-01C9A793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827DBC-7E3E-4699-BD4A-E3DDCBB5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2EB5C0-F7FF-4712-A95F-3D9C4D00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09600"/>
            <a:ext cx="9525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B2F8CD-ED73-4633-BE7D-A3FB0D41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156EF4-9DDF-4FED-AD74-3F02D743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F5C909-16F8-49F7-B8E4-6E657A56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00656D-2E9C-4A2F-913B-3A26026F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9B8037-F585-41C9-821B-1477AD69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6B334B-D7F9-4251-ACDC-91C02D65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E82865-780C-49A3-8466-3D2B9226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1C1657-6FAE-4636-A0E7-2E9D9DD8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8FE59F-0BDF-4602-8318-362F9AC0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E0B021-D0EC-49DE-BC17-03DE0C1D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458625-5626-4C46-B768-DA24270D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05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06CC8F-CECB-4FFD-85C3-F8BACBA2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6868B"/>
                </a:solidFill>
                <a:latin typeface="SF Pro Text"/>
                <a:ea typeface="SF Pro Text"/>
                <a:cs typeface="SF Pro Text"/>
              </a:defRPr>
            </a:pPr>
            <a:r>
              <a:rPr sz="825" b="1">
                <a:solidFill>
                  <a:srgbClr val="86868B"/>
                </a:solidFill>
                <a:latin typeface="SF Pro Text"/>
                <a:ea typeface="SF Pro Text"/>
                <a:cs typeface="SF Pro Text"/>
              </a:rPr>
              <a:t>POSITIONING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710F29-6CF8-4904-8CC9-B0C22595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76300"/>
            <a:ext cx="72390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rPr sz="270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rPr>
              <a:t>这不是普通 AI 播客总结器，而是面向真实学习场景的播客知识工作流工具。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7756DE-AD5B-49C7-AA97-58AC1628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E73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6E6E73"/>
                </a:solidFill>
                <a:latin typeface="SF Pro Text"/>
                <a:ea typeface="SF Pro Text"/>
                <a:cs typeface="SF Pro Text"/>
              </a:rPr>
              <a:t>它打通了音频输入、AI 理解、结构化复盘、可信引用、音频摘要和 Markdown 知识沉淀，让播客内容真正变成可以复用的学习资产。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0639A7-7E59-4D96-B17D-4F5EFD62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1219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BE93F4-BF5D-4BCF-8151-CAD4C01B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990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1D1F"/>
                </a:solidFill>
                <a:latin typeface="SF Pro Text"/>
                <a:ea typeface="SF Pro Text"/>
                <a:cs typeface="SF Pro Text"/>
              </a:defRPr>
            </a:pPr>
            <a:r>
              <a:rPr sz="750" b="1">
                <a:solidFill>
                  <a:srgbClr val="1D1D1F"/>
                </a:solidFill>
                <a:latin typeface="SF Pro Text"/>
                <a:ea typeface="SF Pro Text"/>
                <a:cs typeface="SF Pro Text"/>
              </a:rPr>
              <a:t>Usable website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DE4DDD-E36E-40C2-9183-88CBCB29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390900"/>
            <a:ext cx="14668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20D519-5D11-4D19-A1D0-2A9E1BF0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467100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1D1F"/>
                </a:solidFill>
                <a:latin typeface="SF Pro Text"/>
                <a:ea typeface="SF Pro Text"/>
                <a:cs typeface="SF Pro Text"/>
              </a:defRPr>
            </a:pPr>
            <a:r>
              <a:rPr sz="750" b="1">
                <a:solidFill>
                  <a:srgbClr val="1D1D1F"/>
                </a:solidFill>
                <a:latin typeface="SF Pro Text"/>
                <a:ea typeface="SF Pro Text"/>
                <a:cs typeface="SF Pro Text"/>
              </a:rPr>
              <a:t>Cognitive structure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4B37A4B-7CAA-4009-BBFF-11CC5243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90900"/>
            <a:ext cx="13906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422586-2B9C-41DA-A7E7-9CD0D759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67100"/>
            <a:ext cx="1162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1D1F"/>
                </a:solidFill>
                <a:latin typeface="SF Pro Text"/>
                <a:ea typeface="SF Pro Text"/>
                <a:cs typeface="SF Pro Text"/>
              </a:defRPr>
            </a:pPr>
            <a:r>
              <a:rPr sz="750" b="1">
                <a:solidFill>
                  <a:srgbClr val="1D1D1F"/>
                </a:solidFill>
                <a:latin typeface="SF Pro Text"/>
                <a:ea typeface="SF Pro Text"/>
                <a:cs typeface="SF Pro Text"/>
              </a:rPr>
              <a:t>Engineering proof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6D458E-A7C3-4D8B-91EA-FA19B346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90900"/>
            <a:ext cx="1504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DDFF29-049F-4921-8730-20F2458C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67100"/>
            <a:ext cx="1276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1D1F"/>
                </a:solidFill>
                <a:latin typeface="SF Pro Text"/>
                <a:ea typeface="SF Pro Text"/>
                <a:cs typeface="SF Pro Text"/>
              </a:defRPr>
            </a:pPr>
            <a:r>
              <a:rPr sz="750" b="1">
                <a:solidFill>
                  <a:srgbClr val="1D1D1F"/>
                </a:solidFill>
                <a:latin typeface="SF Pro Text"/>
                <a:ea typeface="SF Pro Text"/>
                <a:cs typeface="SF Pro Text"/>
              </a:rPr>
              <a:t>Knowledge workflow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52064F9-A4AB-4770-A0D0-FFCA2BB1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200150"/>
            <a:ext cx="2990850" cy="400050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94B857-95C5-4F17-ACCA-88C3F79E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123950"/>
            <a:ext cx="2990850" cy="400050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101014"/>
          </a:solidFill>
          <a:ln xmlns:a="http://schemas.openxmlformats.org/drawingml/2006/main" w="9525">
            <a:solidFill>
              <a:srgbClr val="22222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570272-EE1A-4A11-9CC5-447DFF0A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6685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D8D96"/>
                </a:solidFill>
                <a:latin typeface="SF Pro Text"/>
                <a:ea typeface="SF Pro Text"/>
                <a:cs typeface="SF Pro Text"/>
              </a:defRPr>
            </a:pPr>
            <a:r>
              <a:rPr sz="825" b="1">
                <a:solidFill>
                  <a:srgbClr val="8D8D96"/>
                </a:solidFill>
                <a:latin typeface="SF Pro Text"/>
                <a:ea typeface="SF Pro Text"/>
                <a:cs typeface="SF Pro Text"/>
              </a:rPr>
              <a:t>Final message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72DA8D4-9036-4A50-84DD-99A3AD49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24050"/>
            <a:ext cx="2286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7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从“听完一集播客”到“得到可验证、可复盘、可沉淀的知识材料”。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8E2EA8F-55E9-408F-88C3-A14DAAE0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38600"/>
            <a:ext cx="571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1D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2DD93AC-0084-4037-8600-E91FFB88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05250"/>
            <a:ext cx="57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CBE29A6-96CF-4F21-B4FC-BC19C1F6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81450"/>
            <a:ext cx="571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1D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5F54457-B953-437D-9DE3-1F27C7A7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10000"/>
            <a:ext cx="571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F462CD0-3151-45C5-B810-34D4B3C3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924300"/>
            <a:ext cx="57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1D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DE883A6-2048-498D-885B-EBB9C054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ABDA5A5-5FAD-4890-BF16-6415AE21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19550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1D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4DEDD29-F946-488C-A62B-8AD2D173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67150"/>
            <a:ext cx="571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95FB0AD-E343-4E9C-9D71-67373EC5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943350"/>
            <a:ext cx="57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1D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0345DB6-47E3-497D-B99A-176C4737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71900"/>
            <a:ext cx="57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58A55D7-F7D8-45AD-9FE4-125084EA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76750"/>
            <a:ext cx="273050" cy="361950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FF6B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5614A75-16C2-474C-8C0A-D24F6833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9325" y="4476750"/>
            <a:ext cx="27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F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A2CEEE8-8FE1-4DD1-9B4E-3D119185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2850" y="4476750"/>
            <a:ext cx="27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E05F549-B321-481C-B924-748BF6A5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476750"/>
            <a:ext cx="27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5431597-6CAF-461E-9C40-057154D9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76750"/>
            <a:ext cx="27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6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2E6AA84-DE22-45C0-B7B7-31AA2387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3425" y="4476750"/>
            <a:ext cx="273050" cy="361950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B6743AB-9467-4481-BDE3-6AAB9DF7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72000"/>
            <a:ext cx="1581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SF Pro Text"/>
                <a:ea typeface="SF Pro Text"/>
                <a:cs typeface="SF Pro Text"/>
              </a:defRPr>
            </a:pPr>
            <a:r>
              <a:rPr sz="825" b="1">
                <a:solidFill>
                  <a:srgbClr val="FFFFFF"/>
                </a:solidFill>
                <a:latin typeface="SF Pro Text"/>
                <a:ea typeface="SF Pro Text"/>
                <a:cs typeface="SF Pro Text"/>
              </a:rPr>
              <a:t>Generate digest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B4DD214-B59D-4063-B351-80BDD120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95850"/>
            <a:ext cx="1676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D9E2"/>
                </a:solidFill>
                <a:latin typeface="SF Pro Text"/>
                <a:ea typeface="SF Pro Text"/>
                <a:cs typeface="SF Pro Text"/>
              </a:defRPr>
            </a:pPr>
            <a:r>
              <a:rPr sz="900" b="1">
                <a:solidFill>
                  <a:srgbClr val="D9D9E2"/>
                </a:solidFill>
                <a:latin typeface="SF Pro Text"/>
                <a:ea typeface="SF Pro Text"/>
                <a:cs typeface="SF Pro Text"/>
              </a:rPr>
              <a:t>Markdown → Obsidian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40252E9-2A58-4BE2-989A-92EB9A7D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91A62AA-17A5-414B-BAC8-AD0DFD40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6868B"/>
                </a:solidFill>
                <a:latin typeface="SF Pro Text"/>
                <a:ea typeface="SF Pro Text"/>
                <a:cs typeface="SF Pro Text"/>
              </a:defRPr>
            </a:pPr>
            <a:r>
              <a:rPr sz="750" b="0">
                <a:solidFill>
                  <a:srgbClr val="86868B"/>
                </a:solidFill>
                <a:latin typeface="SF Pro Text"/>
                <a:ea typeface="SF Pro Text"/>
                <a:cs typeface="SF Pro Text"/>
              </a:rPr>
              <a:t>Podsum v2 · podcast knowledge workflow</a:t>
            </a:r>
          </a:p>
        </p:txBody>
      </p:sp>
    </p:spTree>
    <p:extLst>
      <p:ext uri="{BB962C8B-B14F-4D97-AF65-F5344CB8AC3E}">
        <p14:creationId xmlns:p14="http://schemas.microsoft.com/office/powerpoint/2010/main" val="9912306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2026-05-12T04:19:03.5760000Z</dcterms:created>
  <dcterms:modified xsi:type="dcterms:W3CDTF">2026-05-12T04:19:03.5760000Z</dcterms:modified>
</coreProperties>
</file>