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828800" y="-1828800"/>
            <a:ext cx="7315200" cy="7315200"/>
          </a:xfrm>
          <a:prstGeom prst="roundRect">
            <a:avLst>
              <a:gd name="adj" fmla="val 50000"/>
            </a:avLst>
          </a:prstGeom>
          <a:solidFill>
            <a:srgbClr val="14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2743200"/>
            <a:ext cx="8229600" cy="6400800"/>
          </a:xfrm>
          <a:prstGeom prst="roundRect">
            <a:avLst>
              <a:gd name="adj" fmla="val 50000"/>
            </a:avLst>
          </a:prstGeom>
          <a:solidFill>
            <a:srgbClr val="2A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05840" y="0"/>
            <a:ext cx="0" cy="0"/>
          </a:xfrm>
          <a:prstGeom prst="line">
            <a:avLst/>
          </a:prstGeom>
          <a:ln w="9525">
            <a:solidFill>
              <a:srgbClr val="181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0"/>
          </a:xfrm>
          <a:prstGeom prst="line">
            <a:avLst/>
          </a:prstGeom>
          <a:ln w="9525">
            <a:solidFill>
              <a:srgbClr val="181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17520" y="0"/>
            <a:ext cx="0" cy="0"/>
          </a:xfrm>
          <a:prstGeom prst="line">
            <a:avLst/>
          </a:prstGeom>
          <a:ln w="9525">
            <a:solidFill>
              <a:srgbClr val="181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023360" y="0"/>
            <a:ext cx="0" cy="0"/>
          </a:xfrm>
          <a:prstGeom prst="line">
            <a:avLst/>
          </a:prstGeom>
          <a:ln w="9525">
            <a:solidFill>
              <a:srgbClr val="181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0" y="0"/>
            <a:ext cx="0" cy="0"/>
          </a:xfrm>
          <a:prstGeom prst="line">
            <a:avLst/>
          </a:prstGeom>
          <a:ln w="9525">
            <a:solidFill>
              <a:srgbClr val="181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35040" y="0"/>
            <a:ext cx="0" cy="0"/>
          </a:xfrm>
          <a:prstGeom prst="line">
            <a:avLst/>
          </a:prstGeom>
          <a:ln w="9525">
            <a:solidFill>
              <a:srgbClr val="181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40880" y="0"/>
            <a:ext cx="0" cy="0"/>
          </a:xfrm>
          <a:prstGeom prst="line">
            <a:avLst/>
          </a:prstGeom>
          <a:ln w="9525">
            <a:solidFill>
              <a:srgbClr val="181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0"/>
            <a:ext cx="0" cy="0"/>
          </a:xfrm>
          <a:prstGeom prst="line">
            <a:avLst/>
          </a:prstGeom>
          <a:ln w="9525">
            <a:solidFill>
              <a:srgbClr val="181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0"/>
            <a:ext cx="0" cy="0"/>
          </a:xfrm>
          <a:prstGeom prst="line">
            <a:avLst/>
          </a:prstGeom>
          <a:ln w="9525">
            <a:solidFill>
              <a:srgbClr val="181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0"/>
          </a:xfrm>
          <a:prstGeom prst="line">
            <a:avLst/>
          </a:prstGeom>
          <a:ln w="9525">
            <a:solidFill>
              <a:srgbClr val="181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064240" y="0"/>
            <a:ext cx="0" cy="0"/>
          </a:xfrm>
          <a:prstGeom prst="line">
            <a:avLst/>
          </a:prstGeom>
          <a:ln w="9525">
            <a:solidFill>
              <a:srgbClr val="181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CF0CB"/>
                </a:solidFill>
                <a:latin typeface="SF Pro Display"/>
              </a:rPr>
              <a:t>—  CASE  STUDY  / 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0116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 i="0">
                <a:solidFill>
                  <a:srgbClr val="F2F4F8"/>
                </a:solidFill>
                <a:latin typeface="SF Pro Display"/>
              </a:rPr>
              <a:t>GotIt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2F4F8"/>
                </a:solidFill>
                <a:latin typeface="PingFang SC"/>
              </a:rPr>
              <a:t>本地端到端播客摘要工具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9BA3B4"/>
                </a:solidFill>
                <a:latin typeface="PingFang SC"/>
              </a:rPr>
              <a:t>把一小时播客 / 压成几分钟看得懂、三十秒听得完的浓缩。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5852160"/>
            <a:ext cx="10972800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F4F8"/>
                </a:solidFill>
                <a:latin typeface="SF Pro Display"/>
              </a:rPr>
              <a:t>GROUP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63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687A"/>
                </a:solidFill>
                <a:latin typeface="SF Pro Display"/>
              </a:rPr>
              <a:t>Presenters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989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F4F8"/>
                </a:solidFill>
                <a:latin typeface="SF Pro Display"/>
              </a:rPr>
              <a:t>2026.05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6263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687A"/>
                </a:solidFill>
                <a:latin typeface="SF Pro Display"/>
              </a:rPr>
              <a:t>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989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F4F8"/>
                </a:solidFill>
                <a:latin typeface="SF Pro Display"/>
              </a:rPr>
              <a:t>PODCAST-SUMMARY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263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687A"/>
                </a:solidFill>
                <a:latin typeface="SF Pro Display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73152" cy="868680"/>
          </a:xfrm>
          <a:prstGeom prst="rect">
            <a:avLst/>
          </a:prstGeom>
          <a:solidFill>
            <a:srgbClr val="7CF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CF0CB"/>
                </a:solidFill>
                <a:latin typeface="SF Pro Display"/>
              </a:rPr>
              <a:t>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BA3B4"/>
                </a:solidFill>
                <a:latin typeface="SF Pro Display"/>
              </a:rPr>
              <a:t>CONTEXT  / 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2F4F8"/>
                </a:solidFill>
                <a:latin typeface="PingFang SC"/>
              </a:rPr>
              <a:t>我们想解决一件什么事？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91672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697480"/>
            <a:ext cx="5120640" cy="356616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F0CB"/>
                </a:solidFill>
                <a:latin typeface="SF Pro Display"/>
              </a:rPr>
              <a:t>EPISODE  DURATION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F2F4F8"/>
                </a:solidFill>
                <a:latin typeface="SF Pro Display"/>
              </a:rPr>
              <a:t>40–90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9BA3B4"/>
                </a:solidFill>
                <a:latin typeface="PingFang SC"/>
              </a:rPr>
              <a:t>分钟 / 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BA3B4"/>
                </a:solidFill>
                <a:latin typeface="PingFang SC"/>
              </a:rPr>
              <a:t>听完成本高、时间不可逆——</a:t>
            </a:r>
          </a:p>
          <a:p>
            <a:pPr algn="l"/>
            <a:r>
              <a:rPr sz="1300" b="0" i="0">
                <a:solidFill>
                  <a:srgbClr val="9BA3B4"/>
                </a:solidFill>
                <a:latin typeface="PingFang SC"/>
              </a:rPr>
              <a:t>用户最想要的是“先判断、后回听”。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697480"/>
            <a:ext cx="5696712" cy="10972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2697480"/>
            <a:ext cx="73152" cy="1097280"/>
          </a:xfrm>
          <a:prstGeom prst="rect">
            <a:avLst/>
          </a:prstGeom>
          <a:solidFill>
            <a:srgbClr val="6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86207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CC8FF"/>
                </a:solidFill>
                <a:latin typeface="SF Pro Display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880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F4F8"/>
                </a:solidFill>
                <a:latin typeface="PingFang SC"/>
              </a:rPr>
              <a:t>用户三问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2461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A3B4"/>
                </a:solidFill>
                <a:latin typeface="PingFang SC"/>
              </a:rPr>
              <a:t>讲了啥？/ 值不值得听？/ 哪里值得回头？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931920"/>
            <a:ext cx="5696712" cy="10972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3931920"/>
            <a:ext cx="73152" cy="109728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0965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B74D"/>
                </a:solidFill>
                <a:latin typeface="SF Pro Display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F4F8"/>
                </a:solidFill>
                <a:latin typeface="PingFang SC"/>
              </a:rPr>
              <a:t>现有工具痛点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4805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A3B4"/>
                </a:solidFill>
                <a:latin typeface="PingFang SC"/>
              </a:rPr>
              <a:t>Otter 太重 · YouTube 字幕无章节 · 生转录稿不浓缩。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166360"/>
            <a:ext cx="5696712" cy="10972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5166360"/>
            <a:ext cx="73152" cy="1097280"/>
          </a:xfrm>
          <a:prstGeom prst="rect">
            <a:avLst/>
          </a:prstGeom>
          <a:solidFill>
            <a:srgbClr val="7CF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53309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7CF0CB"/>
                </a:solidFill>
                <a:latin typeface="SF Pro Display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349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F4F8"/>
                </a:solidFill>
                <a:latin typeface="PingFang SC"/>
              </a:rPr>
              <a:t>我们的定位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7150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A3B4"/>
                </a:solidFill>
                <a:latin typeface="PingFang SC"/>
              </a:rPr>
              <a:t>给一个链接 → hook + 三幕 + 章节 + 引用 + 实体 + 30s TTS 浓缩。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687A"/>
                </a:solidFill>
                <a:latin typeface="SF Pro Display"/>
              </a:rPr>
              <a:t>GotIt  /  Podcast-Summary  /  Group 1  ·  2026.05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6492240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0687A"/>
                </a:solidFill>
                <a:latin typeface="SF Pro Display"/>
              </a:rPr>
              <a:t>01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73152" cy="868680"/>
          </a:xfrm>
          <a:prstGeom prst="rect">
            <a:avLst/>
          </a:prstGeom>
          <a:solidFill>
            <a:srgbClr val="B6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68DFF"/>
                </a:solidFill>
                <a:latin typeface="SF Pro Display"/>
              </a:rPr>
              <a:t>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BA3B4"/>
                </a:solidFill>
                <a:latin typeface="SF Pro Display"/>
              </a:rPr>
              <a:t>LEARNINGS  / 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2F4F8"/>
                </a:solidFill>
                <a:latin typeface="PingFang SC"/>
              </a:rPr>
              <a:t>我们学到的四件事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91672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697480"/>
            <a:ext cx="5486400" cy="17830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B68DFF"/>
                </a:solidFill>
                <a:latin typeface="SF Pro Display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26080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B6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0B0E16"/>
                </a:solidFill>
                <a:latin typeface="SF Pro Display"/>
              </a:rPr>
              <a:t>Spec-Driven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F4F8"/>
                </a:solidFill>
                <a:latin typeface="PingFang SC"/>
              </a:rPr>
              <a:t>先写规范，再写代码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A3B4"/>
                </a:solidFill>
                <a:latin typeface="PingFang SC"/>
              </a:rPr>
              <a:t>12 份 spec + 5 条 constitution</a:t>
            </a:r>
          </a:p>
          <a:p>
            <a:pPr algn="l"/>
            <a:r>
              <a:rPr sz="1100" b="0" i="0">
                <a:solidFill>
                  <a:srgbClr val="9BA3B4"/>
                </a:solidFill>
                <a:latin typeface="PingFang SC"/>
              </a:rPr>
              <a:t>spec → plan → tasks →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697480"/>
            <a:ext cx="5486400" cy="17830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83464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4D8D"/>
                </a:solidFill>
                <a:latin typeface="SF Pro Display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94392" y="2926080"/>
            <a:ext cx="2267712" cy="274320"/>
          </a:xfrm>
          <a:prstGeom prst="roundRect">
            <a:avLst>
              <a:gd name="adj" fmla="val 50000"/>
            </a:avLst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0B0E16"/>
                </a:solidFill>
                <a:latin typeface="SF Pro Display"/>
              </a:rPr>
              <a:t>Human-in-Loop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5661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F4F8"/>
                </a:solidFill>
                <a:latin typeface="PingFang SC"/>
              </a:rPr>
              <a:t>AI 是协作伙伴，不是答案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9776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A3B4"/>
                </a:solidFill>
                <a:latin typeface="PingFang SC"/>
              </a:rPr>
              <a:t>6 个 hard-won bug 没有一个 AI 一上来能答</a:t>
            </a:r>
          </a:p>
          <a:p>
            <a:pPr algn="l"/>
            <a:r>
              <a:rPr sz="1100" b="0" i="0">
                <a:solidFill>
                  <a:srgbClr val="9BA3B4"/>
                </a:solidFill>
                <a:latin typeface="PingFang SC"/>
              </a:rPr>
              <a:t>靠人读响应、读协议、读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99432"/>
            <a:ext cx="5486400" cy="17830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36592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B74D"/>
                </a:solidFill>
                <a:latin typeface="SF Pro Display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828032"/>
            <a:ext cx="1682495" cy="274320"/>
          </a:xfrm>
          <a:prstGeom prst="roundRect">
            <a:avLst>
              <a:gd name="adj" fmla="val 50000"/>
            </a:avLst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0B0E16"/>
                </a:solidFill>
                <a:latin typeface="SF Pro Display"/>
              </a:rPr>
              <a:t>Pragmatic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68112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F4F8"/>
                </a:solidFill>
                <a:latin typeface="PingFang SC"/>
              </a:rPr>
              <a:t>trade-off 是工程的本质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7959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A3B4"/>
                </a:solidFill>
                <a:latin typeface="PingFang SC"/>
              </a:rPr>
              <a:t>本地自用刻意不上 Redis/Celery/Postgres</a:t>
            </a:r>
          </a:p>
          <a:p>
            <a:pPr algn="l"/>
            <a:r>
              <a:rPr sz="1100" b="0" i="0">
                <a:solidFill>
                  <a:srgbClr val="9BA3B4"/>
                </a:solidFill>
                <a:latin typeface="PingFang SC"/>
              </a:rPr>
              <a:t>每一层都给扩展留口子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4599432"/>
            <a:ext cx="5486400" cy="17830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4736592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7CF0CB"/>
                </a:solidFill>
                <a:latin typeface="SF Pro Display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94392" y="4828032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7CF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0B0E16"/>
                </a:solidFill>
                <a:latin typeface="SF Pro Display"/>
              </a:rPr>
              <a:t>Test-Guarded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5468112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F4F8"/>
                </a:solidFill>
                <a:latin typeface="PingFang SC"/>
              </a:rPr>
              <a:t>测试是护栏，不是 KPI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587959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A3B4"/>
                </a:solidFill>
                <a:latin typeface="PingFang SC"/>
              </a:rPr>
              <a:t>domain ≥ 80% 覆盖率硬门</a:t>
            </a:r>
          </a:p>
          <a:p>
            <a:pPr algn="l"/>
            <a:r>
              <a:rPr sz="1100" b="0" i="0">
                <a:solidFill>
                  <a:srgbClr val="9BA3B4"/>
                </a:solidFill>
                <a:latin typeface="PingFang SC"/>
              </a:rPr>
              <a:t>每修一个 bug 同步加回归测试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687A"/>
                </a:solidFill>
                <a:latin typeface="SF Pro Display"/>
              </a:rPr>
              <a:t>GotIt  /  Podcast-Summary  /  Group 1  ·  2026.05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6492240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0687A"/>
                </a:solidFill>
                <a:latin typeface="SF Pro Display"/>
              </a:rPr>
              <a:t>02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73152" cy="868680"/>
          </a:xfrm>
          <a:prstGeom prst="rect">
            <a:avLst/>
          </a:prstGeom>
          <a:solidFill>
            <a:srgbClr val="7CF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CF0CB"/>
                </a:solidFill>
                <a:latin typeface="SF Pro Display"/>
              </a:rPr>
              <a:t>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BA3B4"/>
                </a:solidFill>
                <a:latin typeface="SF Pro Display"/>
              </a:rPr>
              <a:t>SCOPE  / 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2F4F8"/>
                </a:solidFill>
                <a:latin typeface="PingFang SC"/>
              </a:rPr>
              <a:t>做什么 · 不做什么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91672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697480"/>
            <a:ext cx="5486400" cy="33832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73152" cy="3383280"/>
          </a:xfrm>
          <a:prstGeom prst="rect">
            <a:avLst/>
          </a:prstGeom>
          <a:solidFill>
            <a:srgbClr val="7CF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CF0CB"/>
                </a:solidFill>
                <a:latin typeface="SF Pro Display"/>
              </a:rPr>
              <a:t>IN 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F4F8"/>
                </a:solidFill>
                <a:latin typeface="PingFang SC"/>
              </a:rPr>
              <a:t>已经做了的能力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F4F8"/>
                </a:solidFill>
                <a:latin typeface="PingFang SC"/>
              </a:rPr>
              <a:t>▸  本地文件 / 直链 / YouTube / Bilibili 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422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F4F8"/>
                </a:solidFill>
                <a:latin typeface="PingFang SC"/>
              </a:rPr>
              <a:t>▸  中英文 ASR · Hook · 三幕 · 章节 · 引用 · 实体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970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F4F8"/>
                </a:solidFill>
                <a:latin typeface="PingFang SC"/>
              </a:rPr>
              <a:t>▸  引用可点击跳原音频（毫秒级 seek）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3717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F4F8"/>
                </a:solidFill>
                <a:latin typeface="PingFang SC"/>
              </a:rPr>
              <a:t>▸  30 秒 TTS 浓缩（豆包大模型 v2）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8464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F4F8"/>
                </a:solidFill>
                <a:latin typeface="PingFang SC"/>
              </a:rPr>
              <a:t>▸  Markdown / JSON / MP3 一键导出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F4F8"/>
                </a:solidFill>
                <a:latin typeface="PingFang SC"/>
              </a:rPr>
              <a:t>▸  WebSocket 实时进度推送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2697480"/>
            <a:ext cx="5486400" cy="33832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2697480"/>
            <a:ext cx="73152" cy="33832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834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  <a:latin typeface="SF Pro Display"/>
              </a:rPr>
              <a:t>OUT  OF 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154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F4F8"/>
                </a:solidFill>
                <a:latin typeface="PingFang SC"/>
              </a:rPr>
              <a:t>v1 明确不做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794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✕  多用户 / 公网部署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1422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✕  实时直播流转写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48970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✕  视频画面分析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83717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✕  &gt; 6 小时或 &gt; 1 GB 输入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518464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✕  商业 SaaS / 收费层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5532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✕  多语言混合内容的同语言摘要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172200"/>
            <a:ext cx="11091672" cy="457200"/>
          </a:xfrm>
          <a:prstGeom prst="roundRect">
            <a:avLst>
              <a:gd name="adj" fmla="val 30000"/>
            </a:avLst>
          </a:prstGeom>
          <a:solidFill>
            <a:srgbClr val="1B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24535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CF0CB"/>
                </a:solidFill>
                <a:latin typeface="SF Pro Display"/>
              </a:rPr>
              <a:t>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62453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4F8"/>
                </a:solidFill>
                <a:latin typeface="SF Pro Display"/>
              </a:rPr>
              <a:t>单用户  ·  127.0.0.1 loopback  ·  单进程 asyncio  ·  SQLite + 本地文件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687A"/>
                </a:solidFill>
                <a:latin typeface="SF Pro Display"/>
              </a:rPr>
              <a:t>GotIt  /  Podcast-Summary  /  Group 1  ·  2026.05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6492240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0687A"/>
                </a:solidFill>
                <a:latin typeface="SF Pro Display"/>
              </a:rPr>
              <a:t>03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73152" cy="868680"/>
          </a:xfrm>
          <a:prstGeom prst="rect">
            <a:avLst/>
          </a:prstGeom>
          <a:solidFill>
            <a:srgbClr val="6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C8FF"/>
                </a:solidFill>
                <a:latin typeface="SF Pro Display"/>
              </a:rPr>
              <a:t>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BA3B4"/>
                </a:solidFill>
                <a:latin typeface="SF Pro Display"/>
              </a:rPr>
              <a:t>FRONTEND  / 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2F4F8"/>
                </a:solidFill>
                <a:latin typeface="PingFang SC"/>
              </a:rPr>
              <a:t>两套并行 UI，共享同一个后端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91672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697480"/>
            <a:ext cx="6766560" cy="356616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CC8FF"/>
                </a:solidFill>
                <a:latin typeface="SF Pro Display"/>
              </a:rPr>
              <a:t>V1  vs  V2  —  并行视觉实验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46120"/>
            <a:ext cx="1188720" cy="457200"/>
          </a:xfrm>
          <a:prstGeom prst="rect">
            <a:avLst/>
          </a:prstGeom>
          <a:solidFill>
            <a:srgbClr val="1B202E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36499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CC8FF"/>
                </a:solidFill>
                <a:latin typeface="PingFang SC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3246120"/>
            <a:ext cx="2651760" cy="457200"/>
          </a:xfrm>
          <a:prstGeom prst="rect">
            <a:avLst/>
          </a:prstGeom>
          <a:solidFill>
            <a:srgbClr val="1B202E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0552" y="336499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CC8FF"/>
                </a:solidFill>
                <a:latin typeface="SF Pro Display"/>
              </a:rPr>
              <a:t>v1 (:5173)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3246120"/>
            <a:ext cx="2697480" cy="457200"/>
          </a:xfrm>
          <a:prstGeom prst="rect">
            <a:avLst/>
          </a:prstGeom>
          <a:solidFill>
            <a:srgbClr val="1B202E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336499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CC8FF"/>
                </a:solidFill>
                <a:latin typeface="SF Pro Display"/>
              </a:rPr>
              <a:t>v2 (:5174)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03320"/>
            <a:ext cx="1188720" cy="457200"/>
          </a:xfrm>
          <a:prstGeom prst="rect">
            <a:avLst/>
          </a:prstGeom>
          <a:solidFill>
            <a:srgbClr val="0B0E16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2219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4F8"/>
                </a:solidFill>
                <a:latin typeface="PingFang SC"/>
              </a:rPr>
              <a:t>样式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3703320"/>
            <a:ext cx="2651760" cy="457200"/>
          </a:xfrm>
          <a:prstGeom prst="rect">
            <a:avLst/>
          </a:prstGeom>
          <a:solidFill>
            <a:srgbClr val="0B0E16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0552" y="382219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纯 CSS + 渐变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3703320"/>
            <a:ext cx="2697480" cy="457200"/>
          </a:xfrm>
          <a:prstGeom prst="rect">
            <a:avLst/>
          </a:prstGeom>
          <a:solidFill>
            <a:srgbClr val="0B0E16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382219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Tailwind + Liquid Glass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60520"/>
            <a:ext cx="1188720" cy="457200"/>
          </a:xfrm>
          <a:prstGeom prst="rect">
            <a:avLst/>
          </a:prstGeom>
          <a:solidFill>
            <a:srgbClr val="0B0E16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27939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4F8"/>
                </a:solidFill>
                <a:latin typeface="PingFang SC"/>
              </a:rPr>
              <a:t>动效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4160520"/>
            <a:ext cx="2651760" cy="457200"/>
          </a:xfrm>
          <a:prstGeom prst="rect">
            <a:avLst/>
          </a:prstGeom>
          <a:solidFill>
            <a:srgbClr val="0B0E16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30552" y="427939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4160520"/>
            <a:ext cx="2697480" cy="457200"/>
          </a:xfrm>
          <a:prstGeom prst="rect">
            <a:avLst/>
          </a:prstGeom>
          <a:solidFill>
            <a:srgbClr val="0B0E16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427939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framer-motion + Aceternity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17720"/>
            <a:ext cx="1188720" cy="457200"/>
          </a:xfrm>
          <a:prstGeom prst="rect">
            <a:avLst/>
          </a:prstGeom>
          <a:solidFill>
            <a:srgbClr val="0B0E16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73659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4F8"/>
                </a:solidFill>
                <a:latin typeface="PingFang SC"/>
              </a:rPr>
              <a:t>风格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65960" y="4617720"/>
            <a:ext cx="2651760" cy="457200"/>
          </a:xfrm>
          <a:prstGeom prst="rect">
            <a:avLst/>
          </a:prstGeom>
          <a:solidFill>
            <a:srgbClr val="0B0E16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30552" y="473659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功能优先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4617720"/>
            <a:ext cx="2697480" cy="457200"/>
          </a:xfrm>
          <a:prstGeom prst="rect">
            <a:avLst/>
          </a:prstGeom>
          <a:solidFill>
            <a:srgbClr val="0B0E16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82312" y="473659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内容优先 · 克制配色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074920"/>
            <a:ext cx="1188720" cy="457200"/>
          </a:xfrm>
          <a:prstGeom prst="rect">
            <a:avLst/>
          </a:prstGeom>
          <a:solidFill>
            <a:srgbClr val="0B0E16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519379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4F8"/>
                </a:solidFill>
                <a:latin typeface="PingFang SC"/>
              </a:rPr>
              <a:t>用途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5960" y="5074920"/>
            <a:ext cx="2651760" cy="457200"/>
          </a:xfrm>
          <a:prstGeom prst="rect">
            <a:avLst/>
          </a:prstGeom>
          <a:solidFill>
            <a:srgbClr val="0B0E16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30552" y="519379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当前主力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5074920"/>
            <a:ext cx="2697480" cy="457200"/>
          </a:xfrm>
          <a:prstGeom prst="rect">
            <a:avLst/>
          </a:prstGeom>
          <a:solidFill>
            <a:srgbClr val="0B0E16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82312" y="519379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A/B 视觉实验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834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CC8FF"/>
                </a:solidFill>
                <a:latin typeface="SF Pro Display"/>
              </a:rPr>
              <a:t>详情页 · 4 个打磨细节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3246120"/>
            <a:ext cx="1993392" cy="141732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3383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C8FF"/>
                </a:solidFill>
                <a:latin typeface="SF Pro Display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749040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4F8"/>
                </a:solidFill>
                <a:latin typeface="PingFang SC"/>
              </a:rPr>
              <a:t>Hook 大字引用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160520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30 字内一句话定位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65208" y="3246120"/>
            <a:ext cx="1993392" cy="141732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48088" y="3383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C8FF"/>
                </a:solidFill>
                <a:latin typeface="SF Pro Display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8088" y="3749040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4F8"/>
                </a:solidFill>
                <a:latin typeface="PingFang SC"/>
              </a:rPr>
              <a:t>Sticky 原音频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48088" y="4160520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滚动时永远在顶部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89520" y="4754880"/>
            <a:ext cx="1993392" cy="141732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4892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C8FF"/>
                </a:solidFill>
                <a:latin typeface="SF Pro Display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257800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4F8"/>
                </a:solidFill>
                <a:latin typeface="PingFang SC"/>
              </a:rPr>
              <a:t>章节引用可点击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5669280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字符位置插值 → 毫秒 seek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65208" y="4754880"/>
            <a:ext cx="1993392" cy="141732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48088" y="4892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C8FF"/>
                </a:solidFill>
                <a:latin typeface="SF Pro Display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48088" y="5257800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4F8"/>
                </a:solidFill>
                <a:latin typeface="PingFang SC"/>
              </a:rPr>
              <a:t>AI Digest 彩虹按钮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48088" y="5669280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区别于黑色原音频按钮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687A"/>
                </a:solidFill>
                <a:latin typeface="SF Pro Display"/>
              </a:rPr>
              <a:t>GotIt  /  Podcast-Summary  /  Group 1  ·  2026.05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6492240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0687A"/>
                </a:solidFill>
                <a:latin typeface="SF Pro Display"/>
              </a:rPr>
              <a:t>04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73152" cy="868680"/>
          </a:xfrm>
          <a:prstGeom prst="rect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4D8D"/>
                </a:solidFill>
                <a:latin typeface="SF Pro Display"/>
              </a:rPr>
              <a:t>P05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BA3B4"/>
                </a:solidFill>
                <a:latin typeface="SF Pro Display"/>
              </a:rPr>
              <a:t>BACKEND  / 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2F4F8"/>
                </a:solidFill>
                <a:latin typeface="PingFang SC"/>
              </a:rPr>
              <a:t>后端做的事 · 一条 8 段流水线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91672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606040"/>
            <a:ext cx="1298448" cy="141732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54864" cy="1417320"/>
          </a:xfrm>
          <a:prstGeom prst="rect">
            <a:avLst/>
          </a:prstGeom>
          <a:solidFill>
            <a:srgbClr val="6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743200"/>
            <a:ext cx="1069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CC8FF"/>
                </a:solidFill>
                <a:latin typeface="SF Pro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63240"/>
            <a:ext cx="10698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SF Pro Display"/>
              </a:rPr>
              <a:t>fetch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566160"/>
            <a:ext cx="10698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3B4"/>
                </a:solidFill>
                <a:latin typeface="PingFang SC"/>
              </a:rPr>
              <a:t>yt-dlp + ffmpeg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47672" y="2606040"/>
            <a:ext cx="1298448" cy="141732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47672" y="2606040"/>
            <a:ext cx="54864" cy="1417320"/>
          </a:xfrm>
          <a:prstGeom prst="rect">
            <a:avLst/>
          </a:prstGeom>
          <a:solidFill>
            <a:srgbClr val="6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12264" y="2743200"/>
            <a:ext cx="1069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CC8FF"/>
                </a:solidFill>
                <a:latin typeface="SF Pro Display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2264" y="3063240"/>
            <a:ext cx="10698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SF Pro Display"/>
              </a:rPr>
              <a:t>transcribe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2264" y="3566160"/>
            <a:ext cx="10698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3B4"/>
                </a:solidFill>
                <a:latin typeface="PingFang SC"/>
              </a:rPr>
              <a:t>豆包 ASR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6704" y="2606040"/>
            <a:ext cx="1298448" cy="141732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46704" y="2606040"/>
            <a:ext cx="54864" cy="1417320"/>
          </a:xfrm>
          <a:prstGeom prst="rect">
            <a:avLst/>
          </a:prstGeom>
          <a:solidFill>
            <a:srgbClr val="B6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1296" y="2743200"/>
            <a:ext cx="1069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DFF"/>
                </a:solidFill>
                <a:latin typeface="SF Pro Display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3063240"/>
            <a:ext cx="10698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SF Pro Display"/>
              </a:rPr>
              <a:t>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1296" y="3566160"/>
            <a:ext cx="10698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3B4"/>
                </a:solidFill>
                <a:latin typeface="PingFang SC"/>
              </a:rPr>
              <a:t>DeepSeek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45736" y="2606040"/>
            <a:ext cx="1298448" cy="141732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45736" y="2606040"/>
            <a:ext cx="54864" cy="1417320"/>
          </a:xfrm>
          <a:prstGeom prst="rect">
            <a:avLst/>
          </a:prstGeom>
          <a:solidFill>
            <a:srgbClr val="B6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0328" y="2743200"/>
            <a:ext cx="1069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DFF"/>
                </a:solidFill>
                <a:latin typeface="SF Pro Display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3063240"/>
            <a:ext cx="10698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SF Pro Display"/>
              </a:rPr>
              <a:t>three-act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3566160"/>
            <a:ext cx="10698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3B4"/>
                </a:solidFill>
                <a:latin typeface="PingFang SC"/>
              </a:rPr>
              <a:t>DeepSeek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2606040"/>
            <a:ext cx="1298448" cy="141732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2606040"/>
            <a:ext cx="54864" cy="1417320"/>
          </a:xfrm>
          <a:prstGeom prst="rect">
            <a:avLst/>
          </a:prstGeom>
          <a:solidFill>
            <a:srgbClr val="B6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743200"/>
            <a:ext cx="1069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DFF"/>
                </a:solidFill>
                <a:latin typeface="SF Pro Display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063240"/>
            <a:ext cx="10698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SF Pro Display"/>
              </a:rPr>
              <a:t>chapters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566160"/>
            <a:ext cx="10698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3B4"/>
                </a:solidFill>
                <a:latin typeface="PingFang SC"/>
              </a:rPr>
              <a:t>DeepSeek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2606040"/>
            <a:ext cx="1298448" cy="141732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43800" y="2606040"/>
            <a:ext cx="54864" cy="1417320"/>
          </a:xfrm>
          <a:prstGeom prst="rect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08392" y="2743200"/>
            <a:ext cx="1069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4D8D"/>
                </a:solidFill>
                <a:latin typeface="SF Pro Display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8392" y="3063240"/>
            <a:ext cx="10698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SF Pro Display"/>
              </a:rPr>
              <a:t>quote-verify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08392" y="3566160"/>
            <a:ext cx="10698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3B4"/>
                </a:solidFill>
                <a:latin typeface="PingFang SC"/>
              </a:rPr>
              <a:t>自研插值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42832" y="2606040"/>
            <a:ext cx="1298448" cy="141732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42832" y="2606040"/>
            <a:ext cx="54864" cy="1417320"/>
          </a:xfrm>
          <a:prstGeom prst="rect">
            <a:avLst/>
          </a:prstGeom>
          <a:solidFill>
            <a:srgbClr val="B6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07424" y="2743200"/>
            <a:ext cx="1069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DFF"/>
                </a:solidFill>
                <a:latin typeface="SF Pro Display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07424" y="3063240"/>
            <a:ext cx="10698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SF Pro Display"/>
              </a:rPr>
              <a:t>entities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07424" y="3566160"/>
            <a:ext cx="10698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3B4"/>
                </a:solidFill>
                <a:latin typeface="PingFang SC"/>
              </a:rPr>
              <a:t>DeepSeek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41864" y="2606040"/>
            <a:ext cx="1298448" cy="1417320"/>
          </a:xfrm>
          <a:prstGeom prst="roundRect">
            <a:avLst>
              <a:gd name="adj" fmla="val 6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341864" y="2606040"/>
            <a:ext cx="54864" cy="141732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06456" y="2743200"/>
            <a:ext cx="1069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B74D"/>
                </a:solidFill>
                <a:latin typeface="SF Pro Display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06456" y="3063240"/>
            <a:ext cx="10698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SF Pro Display"/>
              </a:rPr>
              <a:t>export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06456" y="3566160"/>
            <a:ext cx="10698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3B4"/>
                </a:solidFill>
                <a:latin typeface="PingFang SC"/>
              </a:rPr>
              <a:t>md + json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160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B74D"/>
                </a:solidFill>
                <a:latin typeface="SF Pro Display"/>
              </a:rPr>
              <a:t>＋  digest (TTS · 豆包 BigTTS 2.0)  —  按钮触发的独立子 pipeline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4572000"/>
            <a:ext cx="7040880" cy="17830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4572000"/>
            <a:ext cx="73152" cy="1783080"/>
          </a:xfrm>
          <a:prstGeom prst="rect">
            <a:avLst/>
          </a:prstGeom>
          <a:solidFill>
            <a:srgbClr val="7CF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709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F0CB"/>
                </a:solidFill>
                <a:latin typeface="SF Pro Display"/>
              </a:rPr>
              <a:t>ENGINEERING  DECISIONS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0749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F4F8"/>
                </a:solidFill>
                <a:latin typeface="PingFang SC"/>
              </a:rPr>
              <a:t>▸ 独立 retry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77440" y="5074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每个 stage tenacity 指数退避 · 单步失败不重跑整条作业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53675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F4F8"/>
                </a:solidFill>
                <a:latin typeface="PingFang SC"/>
              </a:rPr>
              <a:t>▸ 进度落盘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53675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stage_progress 写 SQLite · 进程重启可继续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66013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F4F8"/>
                </a:solidFill>
                <a:latin typeface="PingFang SC"/>
              </a:rPr>
              <a:t>▸ 事件总线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40" y="566013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状态变化广播到 WebSocket · 前端实时看进度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595274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F4F8"/>
                </a:solidFill>
                <a:latin typeface="PingFang SC"/>
              </a:rPr>
              <a:t>▸ 单进程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77440" y="595274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asyncio 而非 Celery/Redis · 本地够用，留扩展口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72400" y="4572000"/>
            <a:ext cx="3867912" cy="17830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72400" y="4572000"/>
            <a:ext cx="73152" cy="1783080"/>
          </a:xfrm>
          <a:prstGeom prst="rect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01000" y="47091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4D8D"/>
                </a:solidFill>
                <a:latin typeface="SF Pro Display"/>
              </a:rPr>
              <a:t>FRONT  ⇄  BACK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20" y="50749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4D8D"/>
                </a:solidFill>
                <a:latin typeface="SF Pro Display"/>
              </a:rPr>
              <a:t>HTTP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0" y="507492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PingFang SC"/>
              </a:rPr>
              <a:t>/api/episodes/*  ·  调度生命周期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5367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4D8D"/>
                </a:solidFill>
                <a:latin typeface="SF Pro Display"/>
              </a:rPr>
              <a:t>WS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78240" y="5367528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PingFang SC"/>
              </a:rPr>
              <a:t>/api/ws/jobs  ·  广播 stage 事件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566013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4D8D"/>
                </a:solidFill>
                <a:latin typeface="SF Pro Display"/>
              </a:rPr>
              <a:t>Serve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78240" y="5660136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PingFang SC"/>
              </a:rPr>
              <a:t>make serve  →  SPA + 产物 一并出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6720" y="595274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4D8D"/>
                </a:solidFill>
                <a:latin typeface="SF Pro Display"/>
              </a:rPr>
              <a:t>契约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78240" y="5952744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PingFang SC"/>
              </a:rPr>
              <a:t>contracts/http-api · job-events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687A"/>
                </a:solidFill>
                <a:latin typeface="SF Pro Display"/>
              </a:rPr>
              <a:t>GotIt  /  Podcast-Summary  /  Group 1  ·  2026.05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3840" y="6492240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0687A"/>
                </a:solidFill>
                <a:latin typeface="SF Pro Display"/>
              </a:rPr>
              <a:t>05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73152" cy="86868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B74D"/>
                </a:solidFill>
                <a:latin typeface="SF Pro Display"/>
              </a:rPr>
              <a:t>P06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BA3B4"/>
                </a:solidFill>
                <a:latin typeface="SF Pro Display"/>
              </a:rPr>
              <a:t>EXTERNAL  / 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2F4F8"/>
                </a:solidFill>
                <a:latin typeface="PingFang SC"/>
              </a:rPr>
              <a:t>接入的外部 API · 我们调了谁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91672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697480"/>
            <a:ext cx="3657600" cy="320040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73152" cy="3200400"/>
          </a:xfrm>
          <a:prstGeom prst="rect">
            <a:avLst/>
          </a:prstGeom>
          <a:solidFill>
            <a:srgbClr val="6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CC8FF"/>
                </a:solidFill>
                <a:latin typeface="SF Pro Display"/>
              </a:rPr>
              <a:t>ASR  ·  语音识别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F4F8"/>
                </a:solidFill>
                <a:latin typeface="PingFang SC"/>
              </a:rPr>
              <a:t>豆包 Seed-ASR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BA3B4"/>
                </a:solidFill>
                <a:latin typeface="SF Pro Display"/>
              </a:rPr>
              <a:t>Volcengine / ByteDance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4114800"/>
            <a:ext cx="3200400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4251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CC8FF"/>
                </a:solidFill>
                <a:latin typeface="SF Pro Display"/>
              </a:rPr>
              <a:t>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079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JetBrains Mono"/>
              </a:rPr>
              <a:t>submit → query (HTTPS 轮询)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188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CC8FF"/>
                </a:solidFill>
                <a:latin typeface="SF Pro Display"/>
              </a:rPr>
              <a:t>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JetBrains Mono"/>
              </a:rPr>
              <a:t>openspeech.bytedance.com/api/v3/auc/bigmodel/*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85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CC8FF"/>
                </a:solidFill>
                <a:latin typeface="SF Pro Display"/>
              </a:rPr>
              <a:t>资源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418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JetBrains Mono"/>
              </a:rPr>
              <a:t>volc.seedasr.auc  ·  flash: volc.bigasr.auc_turbo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527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CC8FF"/>
                </a:solidFill>
                <a:latin typeface="SF Pro Display"/>
              </a:rPr>
              <a:t>回退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0877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JetBrains Mono"/>
              </a:rPr>
              <a:t>Whisper (本地)  ·  Qwen ASR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2697480"/>
            <a:ext cx="3657600" cy="320040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2697480"/>
            <a:ext cx="73152" cy="3200400"/>
          </a:xfrm>
          <a:prstGeom prst="rect">
            <a:avLst/>
          </a:prstGeom>
          <a:solidFill>
            <a:srgbClr val="7CF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2880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F0CB"/>
                </a:solidFill>
                <a:latin typeface="SF Pro Display"/>
              </a:rPr>
              <a:t>LLM  ·  摘要 / 章节 / 实体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2004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F4F8"/>
                </a:solidFill>
                <a:latin typeface="PingFang SC"/>
              </a:rPr>
              <a:t>DeepSeek 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BA3B4"/>
                </a:solidFill>
                <a:latin typeface="SF Pro Display"/>
              </a:rPr>
              <a:t>DeepSeek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53712" y="4114800"/>
            <a:ext cx="3200400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53712" y="4251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CF0CB"/>
                </a:solidFill>
                <a:latin typeface="SF Pro Display"/>
              </a:rPr>
              <a:t>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5079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JetBrains Mono"/>
              </a:rPr>
              <a:t>deepseek-chat (OpenAI 兼容)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8188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CF0CB"/>
                </a:solidFill>
                <a:latin typeface="SF Pro Display"/>
              </a:rPr>
              <a:t>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5074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JetBrains Mono"/>
              </a:rPr>
              <a:t>api.deepseek.com/v1/chat/completions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5385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CF0CB"/>
                </a:solidFill>
                <a:latin typeface="SF Pro Display"/>
              </a:rPr>
              <a:t>用途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56418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JetBrains Mono"/>
              </a:rPr>
              <a:t>Hook · 三幕 · 章节 outline · 实体抽取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59527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CF0CB"/>
                </a:solidFill>
                <a:latin typeface="SF Pro Display"/>
              </a:rPr>
              <a:t>回退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620877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JetBrains Mono"/>
              </a:rPr>
              <a:t>Qwen (qwen-max)  ·  Anthropic Claude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4" y="2697480"/>
            <a:ext cx="3657600" cy="320040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01584" y="2697480"/>
            <a:ext cx="73152" cy="3200400"/>
          </a:xfrm>
          <a:prstGeom prst="rect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0184" y="2880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4D8D"/>
                </a:solidFill>
                <a:latin typeface="SF Pro Display"/>
              </a:rPr>
              <a:t>TTS  ·  30 秒 Digest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0184" y="32004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F4F8"/>
                </a:solidFill>
                <a:latin typeface="PingFang SC"/>
              </a:rPr>
              <a:t>豆包 BigTTS 2.0 (Seed-TTS)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0184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BA3B4"/>
                </a:solidFill>
                <a:latin typeface="SF Pro Display"/>
              </a:rPr>
              <a:t>Volcengine / ByteDance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330184" y="4114800"/>
            <a:ext cx="3200400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330184" y="4251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4D8D"/>
                </a:solidFill>
                <a:latin typeface="SF Pro Display"/>
              </a:rPr>
              <a:t>协议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0184" y="45079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JetBrains Mono"/>
              </a:rPr>
              <a:t>WebSocket 二进制双向流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0184" y="48188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4D8D"/>
                </a:solidFill>
                <a:latin typeface="SF Pro Display"/>
              </a:rPr>
              <a:t>URL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0184" y="5074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JetBrains Mono"/>
              </a:rPr>
              <a:t>wss://openspeech.bytedance.com/api/v3/tts/bidirection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0184" y="5385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4D8D"/>
                </a:solidFill>
                <a:latin typeface="SF Pro Display"/>
              </a:rPr>
              <a:t>资源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0184" y="56418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JetBrains Mono"/>
              </a:rPr>
              <a:t>seed-tts-2.0  (字符版)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0184" y="59527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4D8D"/>
                </a:solidFill>
                <a:latin typeface="SF Pro Display"/>
              </a:rPr>
              <a:t>回退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0184" y="620877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JetBrains Mono"/>
              </a:rPr>
              <a:t>Doubao TTS v1 (HTTP)  ·  Qwen CosyVoice v2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6080760"/>
            <a:ext cx="11091672" cy="502920"/>
          </a:xfrm>
          <a:prstGeom prst="roundRect">
            <a:avLst>
              <a:gd name="adj" fmla="val 30000"/>
            </a:avLst>
          </a:prstGeom>
          <a:solidFill>
            <a:srgbClr val="1B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61722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B74D"/>
                </a:solidFill>
                <a:latin typeface="SF Pro Display"/>
              </a:rPr>
              <a:t>ALSO  USED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619963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F4F8"/>
                </a:solidFill>
                <a:latin typeface="PingFang SC"/>
              </a:rPr>
              <a:t>yt-dlp  (YouTube/Bilibili 下载)   ·   ffmpeg  (音频归一化/转 mp3)   ·   一行 env 切换 provider，调用代码零感知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687A"/>
                </a:solidFill>
                <a:latin typeface="SF Pro Display"/>
              </a:rPr>
              <a:t>GotIt  /  Podcast-Summary  /  Group 1  ·  2026.05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6492240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0687A"/>
                </a:solidFill>
                <a:latin typeface="SF Pro Display"/>
              </a:rPr>
              <a:t>06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73152" cy="86868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B74D"/>
                </a:solidFill>
                <a:latin typeface="SF Pro Display"/>
              </a:rPr>
              <a:t>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BA3B4"/>
                </a:solidFill>
                <a:latin typeface="SF Pro Display"/>
              </a:rPr>
              <a:t>DEMO  / 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2F4F8"/>
                </a:solidFill>
                <a:latin typeface="PingFang SC"/>
              </a:rPr>
              <a:t>现场 demo · 60 秒完整流程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91672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08760" y="269748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1B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20" y="2834640"/>
            <a:ext cx="3200400" cy="3200400"/>
          </a:xfrm>
          <a:prstGeom prst="roundRect">
            <a:avLst>
              <a:gd name="adj" fmla="val 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069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B0E16"/>
                </a:solidFill>
                <a:latin typeface="SF Pro Display"/>
              </a:rPr>
              <a:t>[ QR Code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0687A"/>
                </a:solidFill>
                <a:latin typeface="PingFang SC"/>
              </a:rPr>
              <a:t>二维码占位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62636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2F4F8"/>
                </a:solidFill>
                <a:latin typeface="PingFang SC"/>
              </a:rPr>
              <a:t>扫码观看完整 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697480"/>
            <a:ext cx="5696712" cy="356616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880360"/>
            <a:ext cx="5148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B74D"/>
                </a:solidFill>
                <a:latin typeface="SF Pro Display"/>
              </a:rPr>
              <a:t>VIDEO  COVERS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00400"/>
            <a:ext cx="51480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F4F8"/>
                </a:solidFill>
                <a:latin typeface="PingFang SC"/>
              </a:rPr>
              <a:t>六个步骤一次跑完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94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B74D"/>
                </a:solidFill>
                <a:latin typeface="SF Pro Display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79476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F4F8"/>
                </a:solidFill>
                <a:latin typeface="PingFang SC"/>
              </a:rPr>
              <a:t>粘贴 YouTube / Bilibili / mp3 链接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1788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B74D"/>
                </a:solidFill>
                <a:latin typeface="SF Pro Display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178808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F4F8"/>
                </a:solidFill>
                <a:latin typeface="PingFang SC"/>
              </a:rPr>
              <a:t>WS 实时进度（下载→ASR→摘要→章节→TTS）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56285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B74D"/>
                </a:solidFill>
                <a:latin typeface="SF Pro Display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562856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F4F8"/>
                </a:solidFill>
                <a:latin typeface="PingFang SC"/>
              </a:rPr>
              <a:t>详情页 hook / 三幕 / 章节时间轴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4690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B74D"/>
                </a:solidFill>
                <a:latin typeface="SF Pro Display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946904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F4F8"/>
                </a:solidFill>
                <a:latin typeface="PingFang SC"/>
              </a:rPr>
              <a:t>点击章节引用 → 原音频 seek + 自动播放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3309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B74D"/>
                </a:solidFill>
                <a:latin typeface="SF Pro Display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330952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F4F8"/>
                </a:solidFill>
                <a:latin typeface="PingFang SC"/>
              </a:rPr>
              <a:t>一键生成 30 秒 AI Digest 浓缩音频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715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B74D"/>
                </a:solidFill>
                <a:latin typeface="SF Pro Display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71500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F4F8"/>
                </a:solidFill>
                <a:latin typeface="PingFang SC"/>
              </a:rPr>
              <a:t>下载 Markdown / JSON / MP3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687A"/>
                </a:solidFill>
                <a:latin typeface="SF Pro Display"/>
              </a:rPr>
              <a:t>GotIt  /  Podcast-Summary  /  Group 1  ·  2026.05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6492240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0687A"/>
                </a:solidFill>
                <a:latin typeface="SF Pro Display"/>
              </a:rPr>
              <a:t>07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73152" cy="8686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SF Pro Display"/>
              </a:rPr>
              <a:t>P08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BA3B4"/>
                </a:solidFill>
                <a:latin typeface="SF Pro Display"/>
              </a:rPr>
              <a:t>BUGS  /  HARD-WON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2F4F8"/>
                </a:solidFill>
                <a:latin typeface="PingFang SC"/>
              </a:rPr>
              <a:t>已解决 6 个 · 未解决 5 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91672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606040"/>
            <a:ext cx="2414016" cy="274320"/>
          </a:xfrm>
          <a:prstGeom prst="roundRect">
            <a:avLst>
              <a:gd name="adj" fmla="val 50000"/>
            </a:avLst>
          </a:prstGeom>
          <a:solidFill>
            <a:srgbClr val="7CF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0B0E16"/>
                </a:solidFill>
                <a:latin typeface="SF Pro Display"/>
              </a:rPr>
              <a:t>RESOLVED  ·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3657600" cy="8686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54864" cy="868680"/>
          </a:xfrm>
          <a:prstGeom prst="rect">
            <a:avLst/>
          </a:prstGeom>
          <a:solidFill>
            <a:srgbClr val="9B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363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BA3B4"/>
                </a:solidFill>
                <a:latin typeface="SF Pro Display"/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363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PingFang SC"/>
              </a:rPr>
              <a:t>TTS 401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Auth 头要 Bearer;&lt;token&gt; 分号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017520"/>
            <a:ext cx="3657600" cy="8686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3017520"/>
            <a:ext cx="54864" cy="868680"/>
          </a:xfrm>
          <a:prstGeom prst="rect">
            <a:avLst/>
          </a:prstGeom>
          <a:solidFill>
            <a:srgbClr val="9B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1363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BA3B4"/>
                </a:solidFill>
                <a:latin typeface="SF Pro Display"/>
              </a:rP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1363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PingFang SC"/>
              </a:rPr>
              <a:t>TTS max-len 1024B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474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按 utf-8 字节切句拼装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017520"/>
            <a:ext cx="3657600" cy="8686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017520"/>
            <a:ext cx="54864" cy="86868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1363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B74D"/>
                </a:solidFill>
                <a:latin typeface="SF Pro Display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1363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PingFang SC"/>
              </a:rPr>
              <a:t>BigTTS concurrency  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474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resource_id 应为 seed-tts-2.0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77640"/>
            <a:ext cx="3657600" cy="8686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77640"/>
            <a:ext cx="54864" cy="868680"/>
          </a:xfrm>
          <a:prstGeom prst="rect">
            <a:avLst/>
          </a:prstGeom>
          <a:solidFill>
            <a:srgbClr val="9B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965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BA3B4"/>
                </a:solidFill>
                <a:latin typeface="SF Pro Display"/>
              </a:rPr>
              <a:t>#4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0965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PingFang SC"/>
              </a:rPr>
              <a:t>digest.mp3 空文件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434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mixed 错路由英文音色被静默丢弃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3977640"/>
            <a:ext cx="3657600" cy="8686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3977640"/>
            <a:ext cx="54864" cy="86868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40965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B74D"/>
                </a:solidFill>
                <a:latin typeface="SF Pro Display"/>
              </a:rPr>
              <a:t>#5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0965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PingFang SC"/>
              </a:rPr>
              <a:t>quote 时间戳一样  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434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段内字符位置线性插值修复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977640"/>
            <a:ext cx="3657600" cy="86868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3977640"/>
            <a:ext cx="54864" cy="868680"/>
          </a:xfrm>
          <a:prstGeom prst="rect">
            <a:avLst/>
          </a:prstGeom>
          <a:solidFill>
            <a:srgbClr val="9B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0965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BA3B4"/>
                </a:solidFill>
                <a:latin typeface="SF Pro Display"/>
              </a:rPr>
              <a:t>#6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0965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4F8"/>
                </a:solidFill>
                <a:latin typeface="PingFang SC"/>
              </a:rPr>
              <a:t>Retry worker 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434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3B4"/>
                </a:solidFill>
                <a:latin typeface="PingFang SC"/>
              </a:rPr>
              <a:t>unique 撞车 + 前置清理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0292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2F4F8"/>
                </a:solidFill>
                <a:latin typeface="SF Pro Display"/>
              </a:rPr>
              <a:t>OPEN  ·  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440680"/>
            <a:ext cx="11091672" cy="914400"/>
          </a:xfrm>
          <a:prstGeom prst="roundRect">
            <a:avLst>
              <a:gd name="adj" fmla="val 4000"/>
            </a:avLst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440680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532120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SF Pro Display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852160"/>
            <a:ext cx="20025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2F4F8"/>
                </a:solidFill>
                <a:latin typeface="PingFang SC"/>
              </a:rPr>
              <a:t>5 集真实播客的人工准确率评估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62656" y="5532120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SF Pro Display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62656" y="5852160"/>
            <a:ext cx="20025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2F4F8"/>
                </a:solidFill>
                <a:latin typeface="PingFang SC"/>
              </a:rPr>
              <a:t>60 分钟样本 ASR/LLM/TTS 分阶段耗时 benchmark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48072" y="5532120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SF Pro Display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48072" y="5852160"/>
            <a:ext cx="20025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2F4F8"/>
                </a:solidFill>
                <a:latin typeface="PingFang SC"/>
              </a:rPr>
              <a:t>多语言混合内容的同语言摘要质量优化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33488" y="5532120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SF Pro Display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33488" y="5852160"/>
            <a:ext cx="20025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2F4F8"/>
                </a:solidFill>
                <a:latin typeface="PingFang SC"/>
              </a:rPr>
              <a:t>Doubao 云端 smoke fixture（应对 API 变化）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18904" y="5532120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SF Pro Display"/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18904" y="5852160"/>
            <a:ext cx="20025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2F4F8"/>
                </a:solidFill>
                <a:latin typeface="PingFang SC"/>
              </a:rPr>
              <a:t>前端 Playwright E2E（batch / quote seek / digest retry）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687A"/>
                </a:solidFill>
                <a:latin typeface="SF Pro Display"/>
              </a:rPr>
              <a:t>GotIt  /  Podcast-Summary  /  Group 1  ·  2026.05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6492240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0687A"/>
                </a:solidFill>
                <a:latin typeface="SF Pro Display"/>
              </a:rPr>
              <a:t>08 /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73152" cy="868680"/>
          </a:xfrm>
          <a:prstGeom prst="rect">
            <a:avLst/>
          </a:prstGeom>
          <a:solidFill>
            <a:srgbClr val="7CF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CF0CB"/>
                </a:solidFill>
                <a:latin typeface="SF Pro Display"/>
              </a:rPr>
              <a:t>P09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BA3B4"/>
                </a:solidFill>
                <a:latin typeface="SF Pro Display"/>
              </a:rPr>
              <a:t>TEAM  / 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2F4F8"/>
                </a:solidFill>
                <a:latin typeface="PingFang SC"/>
              </a:rPr>
              <a:t>小组贡献表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331720"/>
            <a:ext cx="11091672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2697480"/>
            <a:ext cx="1828800" cy="5029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8346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0E16"/>
                </a:solidFill>
                <a:latin typeface="PingFang SC"/>
              </a:rPr>
              <a:t>成员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697480"/>
            <a:ext cx="2286000" cy="5029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28346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0E16"/>
                </a:solidFill>
                <a:latin typeface="PingFang SC"/>
              </a:rPr>
              <a:t>角色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697480"/>
            <a:ext cx="5605272" cy="5029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2834640"/>
            <a:ext cx="5330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0E16"/>
                </a:solidFill>
                <a:latin typeface="PingFang SC"/>
              </a:rPr>
              <a:t>主要贡献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68712" y="2697480"/>
            <a:ext cx="1371600" cy="5029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28346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0E16"/>
                </a:solidFill>
                <a:latin typeface="PingFang SC"/>
              </a:rPr>
              <a:t>工时占比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1828800" cy="685800"/>
          </a:xfrm>
          <a:prstGeom prst="rect">
            <a:avLst/>
          </a:prstGeom>
          <a:solidFill>
            <a:srgbClr val="141824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015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[姓名 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200400"/>
            <a:ext cx="2286000" cy="685800"/>
          </a:xfrm>
          <a:prstGeom prst="rect">
            <a:avLst/>
          </a:prstGeom>
          <a:solidFill>
            <a:srgbClr val="141824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78608" y="34015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[角色]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200400"/>
            <a:ext cx="5605272" cy="685800"/>
          </a:xfrm>
          <a:prstGeom prst="rect">
            <a:avLst/>
          </a:prstGeom>
          <a:solidFill>
            <a:srgbClr val="141824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4608" y="3401568"/>
            <a:ext cx="5330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[模块 / 任务]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68712" y="3200400"/>
            <a:ext cx="1371600" cy="685800"/>
          </a:xfrm>
          <a:prstGeom prst="rect">
            <a:avLst/>
          </a:prstGeom>
          <a:solidFill>
            <a:srgbClr val="141824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340156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[%]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86200"/>
            <a:ext cx="1828800" cy="685800"/>
          </a:xfrm>
          <a:prstGeom prst="rect">
            <a:avLst/>
          </a:prstGeom>
          <a:solidFill>
            <a:srgbClr val="1B202E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0873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[姓名 B]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886200"/>
            <a:ext cx="2286000" cy="685800"/>
          </a:xfrm>
          <a:prstGeom prst="rect">
            <a:avLst/>
          </a:prstGeom>
          <a:solidFill>
            <a:srgbClr val="1B202E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78608" y="40873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[角色]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3886200"/>
            <a:ext cx="5605272" cy="685800"/>
          </a:xfrm>
          <a:prstGeom prst="rect">
            <a:avLst/>
          </a:prstGeom>
          <a:solidFill>
            <a:srgbClr val="1B202E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4608" y="4087368"/>
            <a:ext cx="5330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[模块 / 任务]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68712" y="3886200"/>
            <a:ext cx="1371600" cy="685800"/>
          </a:xfrm>
          <a:prstGeom prst="rect">
            <a:avLst/>
          </a:prstGeom>
          <a:solidFill>
            <a:srgbClr val="1B202E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408736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[%]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72000"/>
            <a:ext cx="1828800" cy="685800"/>
          </a:xfrm>
          <a:prstGeom prst="rect">
            <a:avLst/>
          </a:prstGeom>
          <a:solidFill>
            <a:srgbClr val="141824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7731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[姓名 C]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572000"/>
            <a:ext cx="2286000" cy="685800"/>
          </a:xfrm>
          <a:prstGeom prst="rect">
            <a:avLst/>
          </a:prstGeom>
          <a:solidFill>
            <a:srgbClr val="141824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78608" y="47731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[角色]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4572000"/>
            <a:ext cx="5605272" cy="685800"/>
          </a:xfrm>
          <a:prstGeom prst="rect">
            <a:avLst/>
          </a:prstGeom>
          <a:solidFill>
            <a:srgbClr val="141824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4608" y="4773168"/>
            <a:ext cx="5330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[模块 / 任务]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68712" y="4572000"/>
            <a:ext cx="1371600" cy="685800"/>
          </a:xfrm>
          <a:prstGeom prst="rect">
            <a:avLst/>
          </a:prstGeom>
          <a:solidFill>
            <a:srgbClr val="141824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9880" y="477316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[%]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257800"/>
            <a:ext cx="1828800" cy="685800"/>
          </a:xfrm>
          <a:prstGeom prst="rect">
            <a:avLst/>
          </a:prstGeom>
          <a:solidFill>
            <a:srgbClr val="1B202E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4589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[姓名 D]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5257800"/>
            <a:ext cx="2286000" cy="685800"/>
          </a:xfrm>
          <a:prstGeom prst="rect">
            <a:avLst/>
          </a:prstGeom>
          <a:solidFill>
            <a:srgbClr val="1B202E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78608" y="54589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[角色]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5257800"/>
            <a:ext cx="5605272" cy="685800"/>
          </a:xfrm>
          <a:prstGeom prst="rect">
            <a:avLst/>
          </a:prstGeom>
          <a:solidFill>
            <a:srgbClr val="1B202E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64608" y="5458968"/>
            <a:ext cx="5330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[模块 / 任务]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68712" y="5257800"/>
            <a:ext cx="1371600" cy="685800"/>
          </a:xfrm>
          <a:prstGeom prst="rect">
            <a:avLst/>
          </a:prstGeom>
          <a:solidFill>
            <a:srgbClr val="1B202E"/>
          </a:solidFill>
          <a:ln w="5080">
            <a:solidFill>
              <a:srgbClr val="2A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69880" y="545896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3B4"/>
                </a:solidFill>
                <a:latin typeface="PingFang SC"/>
              </a:rPr>
              <a:t>[%]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0687A"/>
                </a:solidFill>
                <a:latin typeface="PingFang SC"/>
              </a:rPr>
              <a:t>占位  ·  成员名单与分工由小组核对后填入。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2A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48640" y="6492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1">
                <a:solidFill>
                  <a:srgbClr val="7CF0CB"/>
                </a:solidFill>
                <a:latin typeface="PingFang SC"/>
              </a:rPr>
              <a:t>“AI 是工具，不是答案。这套东西是查出来的、设计出来的、写出来的。”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