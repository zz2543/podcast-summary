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34640"/>
            <a:ext cx="365760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A8A8B0"/>
                </a:solidFill>
                <a:latin typeface="PingFang SC"/>
              </a:rPr>
              <a:t>GotIt · Podcast-Summary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PingFang SC"/>
              </a:rPr>
              <a:t>本地端到端播客摘要工具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C8CD"/>
                </a:solidFill>
                <a:latin typeface="PingFang SC"/>
              </a:rPr>
              <a:t>把一小时播客压成几分钟听得懂的浓缩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E8E93"/>
                </a:solidFill>
                <a:latin typeface="PingFang SC"/>
              </a:rPr>
              <a:t>Group 1 · 2026.05 · 课堂展示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为什么做这个工具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⏱  1 集 = 40–90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听完一集成本高，时间不可逆。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449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🤔  用户三问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0896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讲了啥？值不值得听？哪里值得回头？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🛠  现有工具痛点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20624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Otter 太重 · YouTube 字幕没章节 · 生转录稿不浓缩。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3951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🎯  我们的定位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30352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给一个链接 → hook + 三幕 + 章节 + 引用 + 实体 + 30s TTS 浓缩。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我们学到的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做完这个项目，留下来的四件事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78308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71E3"/>
                </a:solidFill>
                <a:latin typeface="SF Pro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PingFang SC"/>
              </a:rPr>
              <a:t>先写规范再写代码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12 份 spec 文档 + 5 条 constitution。</a:t>
            </a:r>
          </a:p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spec → plan → tasks → code，不是反过来。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78308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65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71E3"/>
                </a:solidFill>
                <a:latin typeface="SF Pro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PingFang SC"/>
              </a:rPr>
              <a:t>AI 不是答案，是协作伙伴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632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6 个 hard-won bug，AI 一上来都答不出。</a:t>
            </a:r>
          </a:p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靠人读响应、读协议、读数据库。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96512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71E3"/>
                </a:solidFill>
                <a:latin typeface="SF Pro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7375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PingFang SC"/>
              </a:rPr>
              <a:t>trade-off 是工程的本质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本地自用刻意不上 Redis / Celery / Postgres。</a:t>
            </a:r>
          </a:p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但每一层都给扩展留口子。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4096512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2793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71E3"/>
                </a:solidFill>
                <a:latin typeface="SF Pro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87375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PingFang SC"/>
              </a:rPr>
              <a:t>测试是护栏，不是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7667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domain ≥ 80% 覆盖率硬门。</a:t>
            </a:r>
          </a:p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每修一个 bug 同步加回归测试。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功能边界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做什么 / 不做什么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5352" y="169164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✓  已做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874519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✗  v1 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本地文件 / 直链 / YouTube / Bilibili 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中英文 ASR · Hook · 三幕 · 章节 · 引用 · 实体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引用可点击跳原音频（毫秒级 seek）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30 秒 TTS 浓缩（豆包大模型 v2）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Markdown / JSON / MP3 一键导出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D1D1F"/>
                </a:solidFill>
                <a:latin typeface="PingFang SC"/>
              </a:rPr>
              <a:t>•  WebSocket 实时进度推送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423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多用户 / 公网部署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实时直播流转写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视频画面分析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657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&gt; 6 小时或 &gt; 1 GB 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商业 SaaS / 收费层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4805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•  多语言混合内容的同语言摘要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4000"/>
            </a:avLst>
          </a:prstGeom>
          <a:solidFill>
            <a:srgbClr val="ECECF0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</a:rPr>
              <a:t>约束  ·  单用户  ·  127.0.0.1 loopback  ·  单进程 asyncio  ·  SQLite + 本地文件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两套并行 UI，共享同一个后端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1371600" cy="384048"/>
          </a:xfrm>
          <a:prstGeom prst="rect">
            <a:avLst/>
          </a:prstGeom>
          <a:solidFill>
            <a:srgbClr val="ECECF0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691640"/>
            <a:ext cx="4846320" cy="384048"/>
          </a:xfrm>
          <a:prstGeom prst="rect">
            <a:avLst/>
          </a:prstGeom>
          <a:solidFill>
            <a:srgbClr val="ECECF0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v1 frontend/ (:5173)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691640"/>
            <a:ext cx="4873752" cy="384048"/>
          </a:xfrm>
          <a:prstGeom prst="rect">
            <a:avLst/>
          </a:prstGeom>
          <a:solidFill>
            <a:srgbClr val="ECECF0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v2 frontend-v2/ (:5174)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756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样式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075688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纯 CSS + 渐变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075688"/>
            <a:ext cx="48737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Tailwind + Apple Liquid Glass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973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动效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459736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459736"/>
            <a:ext cx="48737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framer-motion + Aceternity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4378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风格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843784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功能优先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843784"/>
            <a:ext cx="48737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内容优先 · 克制配色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2783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PingFang SC"/>
              </a:rPr>
              <a:t>用途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227832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当前主力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227832"/>
            <a:ext cx="48737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A/B 视觉实验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详情页 · 4 个特别打磨的细节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2697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Display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Hook 大字引用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30 字内一句话定位，看一眼就知道这集讲什么。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526280"/>
            <a:ext cx="2697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46634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983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Sticky 原音频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往下滚永远在顶，边读章节边听原音频。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526280"/>
            <a:ext cx="2697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6634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Display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983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章节引用可点击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段内字符位置线性插值得毫秒时间戳，点击 seek + 自动播放 + 滚动跟随。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526280"/>
            <a:ext cx="2697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46634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983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AI Digest 彩虹按钮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流动渐变，视觉上与黑色原音频按钮一眼区分。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后端（6 层）+ 前后端连接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FastAPI · asyncio · SQLite · 本地文件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109728" cy="6400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11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api/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9842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FastAPI 路由 + WebSocket 端点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109728" cy="64008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04872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7249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services/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Pipeline runner · 任务编排 · 重试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18104"/>
            <a:ext cx="109728" cy="64008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118104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954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107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4381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domain/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4107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纯函数：解析 · 分段 · quote 校验 · prompt 装配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31336"/>
            <a:ext cx="109728" cy="6400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831336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2277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2394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Exporters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1513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exporters/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1239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Markdown / JSON 产物生成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44568"/>
            <a:ext cx="109728" cy="640080"/>
          </a:xfrm>
          <a:prstGeom prst="rect">
            <a:avLst/>
          </a:prstGeom>
          <a:solidFill>
            <a:srgbClr val="32A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44568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3600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3717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64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persistence/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8371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SQLAlchemy 2 + Alembic migrations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57800"/>
            <a:ext cx="109728" cy="64008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57800"/>
            <a:ext cx="6748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349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3"/>
                </a:solidFill>
                <a:latin typeface="SF Pro Display"/>
              </a:rPr>
              <a:t>Layer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504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Config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5577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SF Pro Display"/>
              </a:rPr>
              <a:t>config.py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550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.env + Pydantic settings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1691640"/>
            <a:ext cx="3959352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1874520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前后端连接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2377440"/>
            <a:ext cx="3044952" cy="731520"/>
          </a:xfrm>
          <a:prstGeom prst="roundRect">
            <a:avLst>
              <a:gd name="adj" fmla="val 10000"/>
            </a:avLst>
          </a:prstGeom>
          <a:solidFill>
            <a:srgbClr val="ECECF0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246888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</a:rPr>
              <a:t>Frontend v1 / 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743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React · Vite · WS client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0" y="3246120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71E3"/>
                </a:solidFill>
                <a:latin typeface="PingFang SC"/>
              </a:rPr>
              <a:t>↓  HTTP /api  ·  WS /api/ws/jobs  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657600"/>
            <a:ext cx="3044952" cy="73152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74904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FastAPI :8000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02336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8B0"/>
                </a:solidFill>
                <a:latin typeface="PingFang SC"/>
              </a:rPr>
              <a:t>uvicorn · asyncio runner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617720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  <a:latin typeface="PingFang SC"/>
              </a:rPr>
              <a:t>•  REST 调度 episode 生命周期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4983480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  <a:latin typeface="PingFang SC"/>
              </a:rPr>
              <a:t>•  WS 单条长连接广播 stage 事件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349240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  <a:latin typeface="PingFang SC"/>
              </a:rPr>
              <a:t>•  make serve 同时出 SPA + 静态产物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715000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F"/>
                </a:solidFill>
                <a:latin typeface="PingFang SC"/>
              </a:rPr>
              <a:t>•  契约：http-api.md / job-events.md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REST + WebSocket 契约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64792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013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提交（local_file / direct_url / youtube）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12264"/>
            <a:ext cx="11091672" cy="420624"/>
          </a:xfrm>
          <a:prstGeom prst="rect">
            <a:avLst/>
          </a:prstGeom>
          <a:solidFill>
            <a:srgbClr val="F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185416"/>
            <a:ext cx="850392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0370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2199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列表（cursor 分页 + status 过滤）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32888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606040"/>
            <a:ext cx="850392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243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/api/episodes/{id}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4261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详情（章节 · 引用 · 实体 · stage 状态）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11091672" cy="420624"/>
          </a:xfrm>
          <a:prstGeom prst="rect">
            <a:avLst/>
          </a:prstGeom>
          <a:solidFill>
            <a:srgbClr val="F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026664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0449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63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删除（CASCADE + 物理目录清理）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74136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44728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46557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/api/episodes/{id}/retry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838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从最近 checkpoint 恢复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94760"/>
            <a:ext cx="11091672" cy="420624"/>
          </a:xfrm>
          <a:prstGeom prst="rect">
            <a:avLst/>
          </a:prstGeom>
          <a:solidFill>
            <a:srgbClr val="F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867912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886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/api/episodes/{id}/digest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9044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触发 TTS 浓缩生成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15384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288536"/>
            <a:ext cx="850392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30682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/api/episodes/{id}/audio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251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Range 请求原音频流（206）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36008"/>
            <a:ext cx="11091672" cy="420624"/>
          </a:xfrm>
          <a:prstGeom prst="rect">
            <a:avLst/>
          </a:prstGeom>
          <a:solidFill>
            <a:srgbClr val="F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" y="470916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7274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SF Pro Display"/>
              </a:rPr>
              <a:t>/api/ws/jobs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74573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PingFang SC"/>
              </a:rPr>
              <a:t>实时 stage 进度事件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ECECF0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589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PingFang SC"/>
              </a:rPr>
              <a:t>统一错误码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71E3"/>
                </a:solidFill>
                <a:latin typeface="SF Pro Display"/>
              </a:rPr>
              <a:t>bad_input  ·  not_found  ·  conflict  ·  payload_too_large  ·  unsupported_media  ·  upstream_failed  ·  internal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现场 demo · 60 秒完整流程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828800" y="210312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E6E73"/>
                </a:solidFill>
                <a:latin typeface="SF Pro Display"/>
              </a:rPr>
              <a:t>[ QR Code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6E73"/>
                </a:solidFill>
                <a:latin typeface="PingFang SC"/>
              </a:rPr>
              <a:t>二维码占位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D1D1F"/>
                </a:solidFill>
                <a:latin typeface="PingFang SC"/>
              </a:rPr>
              <a:t>扫码观看完整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PingFang SC"/>
              </a:rPr>
              <a:t>视频涵盖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① 粘贴 YouTube / Bilibili / mp3 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0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② WS 实时进度（下载→ASR→摘要→章节→TTS）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11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③ 详情页 hook / 三幕 / 章节时间轴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④ 点击章节引用 → 原音频 seek + 自动播放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⑤ 一键生成 30 秒 AI Digest 浓缩音频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46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PingFang SC"/>
              </a:rPr>
              <a:t>⑥ 下载 Markdown / JSON / MP3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Bug · 已解决 / 未解决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6 个 hard-won bug + 后续工作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600200"/>
            <a:ext cx="850392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已解决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176272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TTS 401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Auth 头要 `Bearer;&lt;token&gt;` 用分号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2272" y="2176272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212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2140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TTS 400 max 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23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v1 单次 ≤ 1024 字节 → 按字节切句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312" y="2176272"/>
            <a:ext cx="457200" cy="457200"/>
          </a:xfrm>
          <a:prstGeom prst="ellipse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12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12140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BigTTS concurrency  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23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resource_id 应为 seed-tts-2.0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044952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9900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digest.mp3 为空无错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291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mixed 路由到英文音色被静默丢弃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88036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62272" y="3044952"/>
            <a:ext cx="457200" cy="457200"/>
          </a:xfrm>
          <a:prstGeom prst="ellipse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9900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多 quote 时间戳一样  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291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段内字符位置线性插值修复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88036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11312" y="3044952"/>
            <a:ext cx="457200" cy="4572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9900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PingFang SC"/>
              </a:rPr>
              <a:t>Retry worker 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unique 约束撞车 + 前置清理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0624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未解决 / 后续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63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PingFang SC"/>
              </a:rPr>
              <a:t>•  5 集真实播客的人工准确率评估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PingFang SC"/>
              </a:rPr>
              <a:t>•  60 分钟样本 ASR/LLM/TTS 分阶段耗时 benchmark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03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PingFang SC"/>
              </a:rPr>
              <a:t>•  多语言混合内容的同语言摘要质量优化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PingFang SC"/>
              </a:rPr>
              <a:t>•  Doubao 云端 smoke fixture（应对 provider API 变化）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PingFang SC"/>
              </a:rPr>
              <a:t>•  前端 Playwright E2E（batch · quote seek · digest retry）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P9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小组贡献表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Group 1 · 2026.05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成员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2286000" cy="457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783080"/>
            <a:ext cx="5605272" cy="457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主要贡献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工时占比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[姓名 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2402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[角色]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40280"/>
            <a:ext cx="5605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[模块 / 任务]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8712" y="224028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18288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[姓名 B]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880360"/>
            <a:ext cx="22860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[角色]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80360"/>
            <a:ext cx="5605272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[模块 / 任务]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68712" y="2880360"/>
            <a:ext cx="13716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[%]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[姓名 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5204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[角色]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520440"/>
            <a:ext cx="5605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[模块 / 任务]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68712" y="352044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[%]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18288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[姓名 D]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160520"/>
            <a:ext cx="22860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[角色]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160520"/>
            <a:ext cx="5605272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[模块 / 任务]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68712" y="4160520"/>
            <a:ext cx="1371600" cy="640080"/>
          </a:xfrm>
          <a:prstGeom prst="rect">
            <a:avLst/>
          </a:prstGeom>
          <a:solidFill>
            <a:srgbClr val="F0F0F3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/>
            <a:r>
              <a:rPr sz="1300">
                <a:solidFill>
                  <a:srgbClr val="6E6E73"/>
                </a:solidFill>
                <a:latin typeface="PingFang SC"/>
              </a:rPr>
              <a:t>[%]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PingFang SC"/>
              </a:rPr>
              <a:t>占位 · 成员名单与分工由小组核对后填入。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PingFang SC"/>
              </a:rPr>
              <a:t>AI 是工具，不是答案。这套东西是查出来的、设计出来的、写出来的。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PingFang SC"/>
              </a:rPr>
              <a:t>GotIt · Podcast-Summary · 2026.05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6446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PingFang SC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