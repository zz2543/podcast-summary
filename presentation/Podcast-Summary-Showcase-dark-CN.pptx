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d3ff46ed44ef0" /><Relationship Type="http://schemas.openxmlformats.org/officeDocument/2006/relationships/extended-properties" Target="/docProps/app.xml" Id="R54d5b2c6e7ce4097" /><Relationship Type="http://schemas.openxmlformats.org/officeDocument/2006/relationships/officeDocument" Target="/ppt/presentation.xml" Id="R1ddf533ee14542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113da58a8d4005"/>
  </p:sldMasterIdLst>
  <p:notesMasterIdLst>
    <p:notesMasterId xmlns:r="http://schemas.openxmlformats.org/officeDocument/2006/relationships" r:id="R3cb67d2e453a43b9"/>
  </p:notesMasterIdLst>
  <p:sldIdLst>
    <p:sldId xmlns:r="http://schemas.openxmlformats.org/officeDocument/2006/relationships" id="256" r:id="R0cf6da79a62c4637"/>
    <p:sldId xmlns:r="http://schemas.openxmlformats.org/officeDocument/2006/relationships" id="257" r:id="Ra8f68ac19a7841e1"/>
    <p:sldId xmlns:r="http://schemas.openxmlformats.org/officeDocument/2006/relationships" id="258" r:id="R96155b636444448c"/>
    <p:sldId xmlns:r="http://schemas.openxmlformats.org/officeDocument/2006/relationships" id="259" r:id="R3f783cea5663489b"/>
    <p:sldId xmlns:r="http://schemas.openxmlformats.org/officeDocument/2006/relationships" id="260" r:id="R6375433934664cb7"/>
    <p:sldId xmlns:r="http://schemas.openxmlformats.org/officeDocument/2006/relationships" id="261" r:id="Rc74571540cc34866"/>
    <p:sldId xmlns:r="http://schemas.openxmlformats.org/officeDocument/2006/relationships" id="262" r:id="Rff8c1be79f884070"/>
    <p:sldId xmlns:r="http://schemas.openxmlformats.org/officeDocument/2006/relationships" id="263" r:id="R56a7846f34e94b94"/>
    <p:sldId xmlns:r="http://schemas.openxmlformats.org/officeDocument/2006/relationships" id="264" r:id="R38c65995713b4d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13da58a8d4005" /><Relationship Type="http://schemas.openxmlformats.org/officeDocument/2006/relationships/theme" Target="/ppt/theme/theme1.xml" Id="R0b14f62472ad408a" /><Relationship Type="http://schemas.openxmlformats.org/officeDocument/2006/relationships/notesMaster" Target="/ppt/notesMasters/notesMaster1.xml" Id="R3cb67d2e453a43b9" /><Relationship Type="http://schemas.openxmlformats.org/officeDocument/2006/relationships/presProps" Target="/ppt/presProps.xml" Id="R18e4f7dec5eb47b0" /><Relationship Type="http://schemas.openxmlformats.org/officeDocument/2006/relationships/viewProps" Target="/ppt/viewProps.xml" Id="R2546d054ca054cc9" /><Relationship Type="http://schemas.openxmlformats.org/officeDocument/2006/relationships/tableStyles" Target="/ppt/tableStyles.xml" Id="Redbcb326d9504f48" /><Relationship Type="http://schemas.openxmlformats.org/officeDocument/2006/relationships/slide" Target="/ppt/slides/slide1.xml" Id="R0cf6da79a62c4637" /><Relationship Type="http://schemas.openxmlformats.org/officeDocument/2006/relationships/slide" Target="/ppt/slides/slide2.xml" Id="Ra8f68ac19a7841e1" /><Relationship Type="http://schemas.openxmlformats.org/officeDocument/2006/relationships/slide" Target="/ppt/slides/slide3.xml" Id="R96155b636444448c" /><Relationship Type="http://schemas.openxmlformats.org/officeDocument/2006/relationships/slide" Target="/ppt/slides/slide4.xml" Id="R3f783cea5663489b" /><Relationship Type="http://schemas.openxmlformats.org/officeDocument/2006/relationships/slide" Target="/ppt/slides/slide5.xml" Id="R6375433934664cb7" /><Relationship Type="http://schemas.openxmlformats.org/officeDocument/2006/relationships/slide" Target="/ppt/slides/slide6.xml" Id="Rc74571540cc34866" /><Relationship Type="http://schemas.openxmlformats.org/officeDocument/2006/relationships/slide" Target="/ppt/slides/slide7.xml" Id="Rff8c1be79f884070" /><Relationship Type="http://schemas.openxmlformats.org/officeDocument/2006/relationships/slide" Target="/ppt/slides/slide8.xml" Id="R56a7846f34e94b94" /><Relationship Type="http://schemas.openxmlformats.org/officeDocument/2006/relationships/slide" Target="/ppt/slides/slide9.xml" Id="R38c65995713b4d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6c7785a73f49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91b815cc0d4044" /><Relationship Type="http://schemas.openxmlformats.org/officeDocument/2006/relationships/notesMaster" Target="/ppt/notesMasters/notesMaster1.xml" Id="Rc06a57e9749d43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2cb3ed646c4b50" /><Relationship Type="http://schemas.openxmlformats.org/officeDocument/2006/relationships/notesMaster" Target="/ppt/notesMasters/notesMaster1.xml" Id="Rca39222060fc48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6e6ba173a343e5" /><Relationship Type="http://schemas.openxmlformats.org/officeDocument/2006/relationships/notesMaster" Target="/ppt/notesMasters/notesMaster1.xml" Id="R2b0ec17bf7ce4a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b50b5eeca9403f" /><Relationship Type="http://schemas.openxmlformats.org/officeDocument/2006/relationships/notesMaster" Target="/ppt/notesMasters/notesMaster1.xml" Id="R87b9365612004c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cc5acc3be04f52" /><Relationship Type="http://schemas.openxmlformats.org/officeDocument/2006/relationships/notesMaster" Target="/ppt/notesMasters/notesMaster1.xml" Id="R6cee24176a7145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41ae3338f4162" /><Relationship Type="http://schemas.openxmlformats.org/officeDocument/2006/relationships/notesMaster" Target="/ppt/notesMasters/notesMaster1.xml" Id="R7d084c48b4ff4c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d7a089935e4086" /><Relationship Type="http://schemas.openxmlformats.org/officeDocument/2006/relationships/notesMaster" Target="/ppt/notesMasters/notesMaster1.xml" Id="R9823b32045d24b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62597daddb4591" /><Relationship Type="http://schemas.openxmlformats.org/officeDocument/2006/relationships/notesMaster" Target="/ppt/notesMasters/notesMaster1.xml" Id="Rbf71cb50a4954a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c020f4895546f1" /><Relationship Type="http://schemas.openxmlformats.org/officeDocument/2006/relationships/notesMaster" Target="/ppt/notesMasters/notesMaster1.xml" Id="Rdb41b327b4cb4d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6b442e586467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5cf8d176f5e4d51" /><Relationship Type="http://schemas.openxmlformats.org/officeDocument/2006/relationships/slideLayout" Target="/ppt/slideLayouts/slideLayout2.xml" Id="Racc77e05c54544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c77e05c54544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9f68243a0e4ac9" /><Relationship Type="http://schemas.openxmlformats.org/officeDocument/2006/relationships/image" Target="/ppt/media/image.png" Id="R5d1f5aea455a46b6" /><Relationship Type="http://schemas.openxmlformats.org/officeDocument/2006/relationships/image" Target="/ppt/media/image.svg" Id="R285b3f475a504b86" /><Relationship Type="http://schemas.openxmlformats.org/officeDocument/2006/relationships/notesSlide" Target="/ppt/notesSlides/notesSlide1.xml" Id="Rd9f25ae5d0b64a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7ddfd3d1c4147" /><Relationship Type="http://schemas.openxmlformats.org/officeDocument/2006/relationships/image" Target="/ppt/media/image2.png" Id="R8b2b2664a30d4211" /><Relationship Type="http://schemas.openxmlformats.org/officeDocument/2006/relationships/image" Target="/ppt/media/image2.svg" Id="R0b91ae6b6d944a0f" /><Relationship Type="http://schemas.openxmlformats.org/officeDocument/2006/relationships/image" Target="/ppt/media/image3.png" Id="R80099bbdb26046a8" /><Relationship Type="http://schemas.openxmlformats.org/officeDocument/2006/relationships/image" Target="/ppt/media/image3.svg" Id="R7e9c47ad30194823" /><Relationship Type="http://schemas.openxmlformats.org/officeDocument/2006/relationships/image" Target="/ppt/media/image4.png" Id="R9d8511ade45b4d0b" /><Relationship Type="http://schemas.openxmlformats.org/officeDocument/2006/relationships/image" Target="/ppt/media/image4.svg" Id="R2864983279974599" /><Relationship Type="http://schemas.openxmlformats.org/officeDocument/2006/relationships/image" Target="/ppt/media/image5.png" Id="R9a46b4093f9d4c9c" /><Relationship Type="http://schemas.openxmlformats.org/officeDocument/2006/relationships/image" Target="/ppt/media/image5.svg" Id="R29505658fb594161" /><Relationship Type="http://schemas.openxmlformats.org/officeDocument/2006/relationships/notesSlide" Target="/ppt/notesSlides/notesSlide2.xml" Id="Ra90be5736eb0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682e5dec954f22" /><Relationship Type="http://schemas.openxmlformats.org/officeDocument/2006/relationships/image" Target="/ppt/media/image6.png" Id="Rac5f724a080548fd" /><Relationship Type="http://schemas.openxmlformats.org/officeDocument/2006/relationships/image" Target="/ppt/media/image6.svg" Id="R5614780f6ed94208" /><Relationship Type="http://schemas.openxmlformats.org/officeDocument/2006/relationships/notesSlide" Target="/ppt/notesSlides/notesSlide3.xml" Id="Re448af563eaf44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d34c639ab459a" /><Relationship Type="http://schemas.openxmlformats.org/officeDocument/2006/relationships/image" Target="/ppt/media/image7.png" Id="Rf9741c290b1b48a8" /><Relationship Type="http://schemas.openxmlformats.org/officeDocument/2006/relationships/image" Target="/ppt/media/image7.svg" Id="R860de966caff42c5" /><Relationship Type="http://schemas.openxmlformats.org/officeDocument/2006/relationships/notesSlide" Target="/ppt/notesSlides/notesSlide4.xml" Id="Ra726aa74292b44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2ed2804947428a" /><Relationship Type="http://schemas.openxmlformats.org/officeDocument/2006/relationships/image" Target="/ppt/media/image8.png" Id="R7832f90a19fc482b" /><Relationship Type="http://schemas.openxmlformats.org/officeDocument/2006/relationships/image" Target="/ppt/media/image8.svg" Id="Rbeed2985ea6d4b5a" /><Relationship Type="http://schemas.openxmlformats.org/officeDocument/2006/relationships/notesSlide" Target="/ppt/notesSlides/notesSlide5.xml" Id="R0f347d3121de45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5ce9867f4b434f" /><Relationship Type="http://schemas.openxmlformats.org/officeDocument/2006/relationships/image" Target="/ppt/media/image9.png" Id="Rd3ce56b2b3e64bff" /><Relationship Type="http://schemas.openxmlformats.org/officeDocument/2006/relationships/image" Target="/ppt/media/image9.svg" Id="Rd196a39c41404a1c" /><Relationship Type="http://schemas.openxmlformats.org/officeDocument/2006/relationships/notesSlide" Target="/ppt/notesSlides/notesSlide6.xml" Id="Rb8aa017b2ed642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7b0097d8a4875" /><Relationship Type="http://schemas.openxmlformats.org/officeDocument/2006/relationships/image" Target="/ppt/media/image10.png" Id="Rf2ec8ad49fe64e03" /><Relationship Type="http://schemas.openxmlformats.org/officeDocument/2006/relationships/image" Target="/ppt/media/image10.svg" Id="Rff02d5bcc8fc43ec" /><Relationship Type="http://schemas.openxmlformats.org/officeDocument/2006/relationships/notesSlide" Target="/ppt/notesSlides/notesSlide7.xml" Id="R3886bb67938541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99d8678ae44d4c" /><Relationship Type="http://schemas.openxmlformats.org/officeDocument/2006/relationships/image" Target="/ppt/media/image11.png" Id="Rf542e732ab7b495c" /><Relationship Type="http://schemas.openxmlformats.org/officeDocument/2006/relationships/image" Target="/ppt/media/image11.svg" Id="Rfe9b0b0cdd1a4559" /><Relationship Type="http://schemas.openxmlformats.org/officeDocument/2006/relationships/notesSlide" Target="/ppt/notesSlides/notesSlide8.xml" Id="R82df0bc57c7a45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5eeb80d04941f5" /><Relationship Type="http://schemas.openxmlformats.org/officeDocument/2006/relationships/image" Target="/ppt/media/image12.png" Id="Rb0faa9bd72984840" /><Relationship Type="http://schemas.openxmlformats.org/officeDocument/2006/relationships/image" Target="/ppt/media/image12.svg" Id="R1fadd7192aae4aa5" /><Relationship Type="http://schemas.openxmlformats.org/officeDocument/2006/relationships/notesSlide" Target="/ppt/notesSlides/notesSlide9.xml" Id="R63a76ef872be4e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f5aea455a46b6">
            <a:extLst>
              <a:ext uri="{96DAC541-7B7A-43D3-8B79-37D633B846F1}">
                <asvg:svgBlip xmlns:asvg="http://schemas.microsoft.com/office/drawing/2016/SVG/main" r:embed="R285b3f475a504b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AF85E-3953-4675-A153-86DB49E5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7214A-8E64-4B31-BF78-B6515AF5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97B91-2CA1-420E-980B-9D0E1781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2322D-C8FB-4BDC-9AC2-4737F84A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播客知识工作流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5FAFB-829A-436E-B5FB-D4F8B836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CA59D-4138-4C16-894F-DD944B1F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1/9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98759-6D30-4F61-ADD6-04D4F6C8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23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把长播客变成可复用的知识材料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A26F5-011B-41CB-8C6F-9353C275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81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4E9F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E4E9F0"/>
                </a:solidFill>
                <a:latin typeface="Inter"/>
                <a:ea typeface="Inter"/>
                <a:cs typeface="Inter"/>
              </a:rPr>
              <a:t>我们做的不是简单 AI 总结器，而是一个完整网站：音频输入、转写、结构化复盘、可信引用、音频摘要和 Markdown 知识沉淀。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55A5C-6D30-4276-B797-834FC3A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219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37CEF-7CA4-413A-A247-464DA8C4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529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5070B"/>
                </a:solidFill>
                <a:latin typeface="Inter"/>
                <a:ea typeface="Inter"/>
                <a:cs typeface="Inter"/>
              </a:defRPr>
            </a:pPr>
            <a:r>
              <a:rPr sz="638" b="1">
                <a:solidFill>
                  <a:srgbClr val="05070B"/>
                </a:solidFill>
                <a:latin typeface="Inter"/>
                <a:ea typeface="Inter"/>
                <a:cs typeface="Inter"/>
              </a:rPr>
              <a:t>ASR + LLM + TTS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FCF7A-44A9-456E-A05C-98493198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76750"/>
            <a:ext cx="1181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59964-2D88-4A14-BA25-116F9A2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552950"/>
            <a:ext cx="1009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5070B"/>
                </a:solidFill>
                <a:latin typeface="Inter"/>
                <a:ea typeface="Inter"/>
                <a:cs typeface="Inter"/>
              </a:defRPr>
            </a:pPr>
            <a:r>
              <a:rPr sz="638" b="1">
                <a:solidFill>
                  <a:srgbClr val="05070B"/>
                </a:solidFill>
                <a:latin typeface="Inter"/>
                <a:ea typeface="Inter"/>
                <a:cs typeface="Inter"/>
              </a:rPr>
              <a:t>Verified quotes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7B4E7-EF75-48EB-95AC-F0B59612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556AC-F787-45F6-BF35-8A35A784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552950"/>
            <a:ext cx="1371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5070B"/>
                </a:solidFill>
                <a:latin typeface="Inter"/>
                <a:ea typeface="Inter"/>
                <a:cs typeface="Inter"/>
              </a:defRPr>
            </a:pPr>
            <a:r>
              <a:rPr sz="638" b="1">
                <a:solidFill>
                  <a:srgbClr val="05070B"/>
                </a:solidFill>
                <a:latin typeface="Inter"/>
                <a:ea typeface="Inter"/>
                <a:cs typeface="Inter"/>
              </a:rPr>
              <a:t>Markdown → Obsidian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AE858-7290-4CB6-A5F3-D3E3E1CA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5F25B-4985-4D3F-83A3-AFCEF7B7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3108" y="2758440"/>
            <a:ext cx="43434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36" b="1">
                <a:solidFill>
                  <a:srgbClr val="2D8FCF"/>
                </a:solidFill>
                <a:latin typeface="Inter"/>
                <a:ea typeface="Inter"/>
                <a:cs typeface="Inter"/>
              </a:defRPr>
            </a:pPr>
            <a:r>
              <a:rPr sz="2736" b="1">
                <a:solidFill>
                  <a:srgbClr val="2D8FCF"/>
                </a:solidFill>
                <a:latin typeface="Inter"/>
                <a:ea typeface="Inter"/>
                <a:cs typeface="Inter"/>
              </a:rPr>
              <a:t>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DC1F0-DF7B-4E58-8FD5-647D10EC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19500"/>
            <a:ext cx="2552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9F1A0-8839-4545-978B-D5B3C8C3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05250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Structured</a:t>
            </a:r>
          </a:p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Podcast</a:t>
            </a:r>
          </a:p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2C06F-6B20-4B2C-A36A-3AFDF2C1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86400"/>
            <a:ext cx="76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407DC-603C-4A11-829D-F0FC35BA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14950"/>
            <a:ext cx="76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E76DE-5802-4FA5-A1F2-5E0FF3D6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9115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DC939-4FA8-4EF5-AED8-2237F66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6255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E70AF2-F3A9-4BF2-861A-1C0572C9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4830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1A420-93BB-4125-989E-29B08B43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11D829-86DB-49BB-9972-70CFC976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3340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4ECEC-7084-4DC7-B7C9-31344E2A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24450"/>
            <a:ext cx="762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0936D-4ABD-4AA6-9756-58F1BFC5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410200"/>
            <a:ext cx="76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5E91A-F78E-4C2B-A8E5-A8DF94D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006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58121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b2664a30d4211">
            <a:extLst>
              <a:ext uri="{96DAC541-7B7A-43D3-8B79-37D633B846F1}">
                <asvg:svgBlip xmlns:asvg="http://schemas.microsoft.com/office/drawing/2016/SVG/main" r:embed="R0b91ae6b6d944a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A7279-FB94-48D2-BB0B-DB449C0E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B8F12-E3CD-4BA8-BAE9-EF7D76FC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94A9E-811B-44E2-8FE9-49232D3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227D2-85D2-49D5-9D8F-ABC02C70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播客知识工作流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426BB-79FD-4CD7-85E5-93E233E9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BE593-D35B-486B-9029-4A83FB4B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2/9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FCC6A-6B88-473C-B5D4-CB44489B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长播客的问题不是听不完，而是难筛选、难复盘、难沉淀。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FDB22-A16E-49DD-B70D-7C74312F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E9F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E4E9F0"/>
                </a:solidFill>
                <a:latin typeface="Inter"/>
                <a:ea typeface="Inter"/>
                <a:cs typeface="Inter"/>
              </a:rPr>
              <a:t>目标是把 60 到 90 分钟的音频，转化成可以快速浏览、深入复盘、长期沉淀的学习材料。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7C388-254D-4090-A935-2AEBF671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99bbdb26046a8">
            <a:extLst>
              <a:ext uri="{96DAC541-7B7A-43D3-8B79-37D633B846F1}">
                <asvg:svgBlip xmlns:asvg="http://schemas.microsoft.com/office/drawing/2016/SVG/main" r:embed="R7e9c47ad301948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" y="35433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13A21-FFFB-48F1-B7A9-E5DA1F4D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快速理解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E1E17-8E12-4351-AD30-12D8EEF3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用 hook 和结构化摘要先判断是否值得深入。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DFF26-49ED-49A3-B31D-E9C7EE51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511ade45b4d0b">
            <a:extLst>
              <a:ext uri="{96DAC541-7B7A-43D3-8B79-37D633B846F1}">
                <asvg:svgBlip xmlns:asvg="http://schemas.microsoft.com/office/drawing/2016/SVG/main" r:embed="R28649832799745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35433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22FA4-8448-4A5B-80D5-79D7AD62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576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可信复盘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3E1E4-D133-4849-97B0-CEA3A5A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148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章节、quote 和时间戳让用户回到原文证据。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01E40-1BFF-4046-948E-EDF45CDF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6b4093f9d4c9c">
            <a:extLst>
              <a:ext uri="{96DAC541-7B7A-43D3-8B79-37D633B846F1}">
                <asvg:svgBlip xmlns:asvg="http://schemas.microsoft.com/office/drawing/2016/SVG/main" r:embed="R29505658fb5941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48650" y="35433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6DB72-1C49-4034-9EC3-71502429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知识沉淀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49308-DD61-4D99-A52B-2FA9A0AA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Markdown/JSON 导出进入 Obsidian 等笔记系统。</a:t>
            </a:r>
          </a:p>
        </p:txBody>
      </p:sp>
    </p:spTree>
    <p:extLst>
      <p:ext uri="{BB962C8B-B14F-4D97-AF65-F5344CB8AC3E}">
        <p14:creationId xmlns:p14="http://schemas.microsoft.com/office/powerpoint/2010/main" val="17580667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f724a080548fd">
            <a:extLst>
              <a:ext uri="{96DAC541-7B7A-43D3-8B79-37D633B846F1}">
                <asvg:svgBlip xmlns:asvg="http://schemas.microsoft.com/office/drawing/2016/SVG/main" r:embed="R5614780f6ed942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D9109-B8A0-4E94-AA87-0276A9A5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259AC-EF2C-4C4B-82CC-54FF70C7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52324-7EBD-493F-954E-7CFEA0B6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063A6-667C-45B3-B60C-3FBD042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播客知识工作流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CF65E-7F1F-43ED-829C-71F9DF57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7E7E4-B3FE-4876-9DF7-7C8663C7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3/9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2E96C-2DD4-47C8-AC75-90BCFE6E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产品不是静态结果页，而是有状态反馈和动效的网站。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EFC00-5CCF-451F-AA42-61D16F1C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E9F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E4E9F0"/>
                </a:solidFill>
                <a:latin typeface="Inter"/>
                <a:ea typeface="Inter"/>
                <a:cs typeface="Inter"/>
              </a:rPr>
              <a:t>上传、处理、摘要出现、章节切换、quote 跳转和音频摘要生成都有清晰反馈，让用户知道系统正在做什么。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6E45C-76DC-4324-B418-8AEC0341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8387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0CD7A-3B1C-43C6-B5BA-83C4F93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Motion storyboard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463FC-6349-471B-B5CB-7F1DFA1F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FCF">
              <a:alpha val="56471"/>
            </a:srgbClr>
          </a:solidFill>
          <a:ln xmlns:a="http://schemas.openxmlformats.org/drawingml/2006/main" w="9525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75A19-8DA0-42A1-9412-3CD16E96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F0FE4-4C6E-42B1-884B-AE305B7F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1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Upload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84724-6563-4194-B163-5486E472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19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BF58A-FB5B-4E75-8563-D297700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57964-AF4A-4788-BCD4-5AD311E6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1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ASR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A744C-B584-42E9-98F3-E2E99AE8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19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FCF">
              <a:alpha val="56471"/>
            </a:srgbClr>
          </a:solidFill>
          <a:ln xmlns:a="http://schemas.openxmlformats.org/drawingml/2006/main" w="9525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19C61-53AA-4B15-B284-B730C1A9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4FE3D-B906-48BC-8DC0-ADEDA17A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1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332BA-B1D7-4155-B2B4-346C95FE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19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7522B-B418-49BD-8EBD-A5286381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22B79-1E9C-4A5D-A92B-0CCCE9F6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1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Quote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88721-9F00-4D8B-8477-897556BA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FCF">
              <a:alpha val="56471"/>
            </a:srgbClr>
          </a:solidFill>
          <a:ln xmlns:a="http://schemas.openxmlformats.org/drawingml/2006/main" w="9525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62A164-7743-4F77-B0A0-73FC6C2F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838BBE-9B81-4E72-B100-6469843D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1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Digest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18C35F-8F48-48DD-AEAB-121BF326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191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F34B88-2B50-44F2-AC61-03C4D47D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7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33D30-52A5-48C9-9813-5220B4E0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上传后的任务卡片变化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67DDA-7EEC-43B2-85B4-3B44B326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8B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DDE194-6D0C-4B63-8DFF-766200CC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ASR/LLM 处理进度推进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AB0C74-4A4E-41A6-8134-071EEA63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7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234B98-A872-42D1-8F56-D4B1AA78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摘要与章节逐步出现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B3496F-7C7B-43CF-9F86-E27DE48D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8B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BFFB2C-4A69-4D61-A817-B9BB1809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76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quote 点击后跳转原音频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862966-4B12-49F8-8E5C-E08CC0EA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7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FE12B-6544-444D-AA73-1A207272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33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音频摘要按钮状态变化</a:t>
            </a:r>
          </a:p>
        </p:txBody>
      </p:sp>
    </p:spTree>
    <p:extLst>
      <p:ext uri="{BB962C8B-B14F-4D97-AF65-F5344CB8AC3E}">
        <p14:creationId xmlns:p14="http://schemas.microsoft.com/office/powerpoint/2010/main" val="14580607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41c290b1b48a8">
            <a:extLst>
              <a:ext uri="{96DAC541-7B7A-43D3-8B79-37D633B846F1}">
                <asvg:svgBlip xmlns:asvg="http://schemas.microsoft.com/office/drawing/2016/SVG/main" r:embed="R860de966caff42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1DFD2-78CF-4894-A4CB-49A1A5B3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90893-26D1-4132-8006-D51554C4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6D341-0E75-4CA6-ADAF-538AA72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F3717-AADE-4343-A34E-737B02A4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播客知识工作流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20583-DF21-4210-ABEE-0925353F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B5B5D-EDFF-412A-956D-7A1ED08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4/9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E2B6B-F654-4775-915B-5FDBA203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核心流程把 Prompt 与 Obsidian 融进同一条认知效率链路。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02CCB-DEA5-4860-A3E9-D2D42F05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14E94-8617-4FB7-94D4-876AC054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88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Podcast / YouTube / Audio 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81DC6-BE69-43B9-B28F-544BD224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原始输入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85397-5086-4EB6-9BB6-B79CE0FD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47E47-AD3E-4F2B-8777-CA5BF019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F5E7D-D227-4309-9316-19F6B75B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88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音频获取与格式处理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E7220-9251-4557-8A3B-38E9085A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进入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B9242-6731-486A-AF58-FD58CF9F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1465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DA1F5-1FC8-42CC-A8D7-866FD261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0030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181F1-E572-466E-A22F-9DA26982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88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ASR 转写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F9D1F-E8A1-482C-AE1F-5C83C829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带时间戳 transcript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1190F-C800-469F-B914-0DFED9EB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1465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49F41-A74F-491D-88BD-C2ECFC75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60CBF-5F0F-47AE-9FBB-A1BB437A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098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88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Prompt 结构化总结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F72B9-F8D7-4EC7-AA46-398FCD2A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按认知层级生成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77D6D3-3368-4861-B131-84350666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79EB9D-1C0A-4180-8F31-42E84B2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88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快速浏览摘要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892D75-7444-4E45-92E3-8D1EA36B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Background / Core / Agreement / Conclusion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06E0D-6AE7-47DF-A1DF-2AC1AD3E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010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F94FB-B5CB-4070-B869-831A1870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FB85C-807A-45FC-8661-1FDA2D7E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053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88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分章节深度复盘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017948-C7A0-430B-9B6F-21E6BC14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863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章节要点 / quote / 时间戳 / 实体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383F9C-D35D-4013-A1A1-9E6B8702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1010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593941-F625-4170-A466-39625F0B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9575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AEFE9-A6E7-4AFD-8C5E-437AC244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88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导出与再利用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D4BC06-F70E-40CB-9127-4D48376D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Markdown / JSON / TTS digest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D43803-12F9-4C62-9586-0C3687EE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010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CF0DE8-FF48-46DC-8E3C-981CB31B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9575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5DA64D-5494-4010-AC2A-F8D8A0B9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053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88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个人知识库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0200FE-7986-4366-A530-24EEBB15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863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Obsidian / Notion / 笔记系统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549473-3719-4050-931F-F302A1CA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143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80045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2f90a19fc482b">
            <a:extLst>
              <a:ext uri="{96DAC541-7B7A-43D3-8B79-37D633B846F1}">
                <asvg:svgBlip xmlns:asvg="http://schemas.microsoft.com/office/drawing/2016/SVG/main" r:embed="Rbeed2985ea6d4b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13BFD-928F-4178-9D8A-432A4E45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54CCF-DBBA-4B1D-8D83-2A36650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5FB9F-A797-4C3B-9A6A-1A34FC17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CEACF-9C0D-464D-9ED0-DA635527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播客知识工作流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796EB-DE6E-46B2-A88B-F975C4A1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1AB65-888C-4882-943E-46AE93C5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5/9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54787-7C61-47F4-87EB-75E9143B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功能拆分成五层，既突出产品可用性，也突出工作量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843E6-5F79-45E9-BBF7-AFBD8377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9982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CFE81-CB81-4B96-AAAE-BE11DEC4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输入层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2664C-6FEE-4F8E-B0BA-887A017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600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本地音频、音频链接、YouTube、批量提交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D906F-5FBD-4261-93CC-9F68E396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9982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6355D-8A01-46A9-A232-4AE7300C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AI 处理层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81A09-8327-4E56-A1FB-84FFD1DD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600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ASR 转写、LLM 总结、TTS 音频摘要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A37B8-D118-4A18-B19D-44B48ADB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9982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EEC10-6092-4CAB-B173-26507D4D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认知结构层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8319C-04B2-4AE6-9831-94DEFE3B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05200"/>
            <a:ext cx="600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Background / Core Argument / Agreement / Conclusion + 分章节总结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B6C25-4725-4F92-9655-4DF9EAB1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9982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74A85-CD3B-476E-BB20-958BAD1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交互体验层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E0CFF-EB81-454F-AEB5-B56C7623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52900"/>
            <a:ext cx="600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动效、进度反馈、章节展开、quote 点击跳转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673CE-86F5-467B-8E9D-34B6663F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9982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11824-E5F0-4D31-A964-F047E64B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知识沉淀层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C8AFDD-9BD1-444D-AEDE-CDA91C66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00600"/>
            <a:ext cx="600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Markdown / JSON 导出，接入 Obsidian 等笔记软件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1484FC-ACE0-48AC-B706-E8A00AE6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902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快速浏览回答“这期值不值得看”；分章节总结回答“重点在哪里”；quote 和时间戳回答“原文是不是这样说”。</a:t>
            </a:r>
          </a:p>
        </p:txBody>
      </p:sp>
    </p:spTree>
    <p:extLst>
      <p:ext uri="{BB962C8B-B14F-4D97-AF65-F5344CB8AC3E}">
        <p14:creationId xmlns:p14="http://schemas.microsoft.com/office/powerpoint/2010/main" val="2519994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e56b2b3e64bff">
            <a:extLst>
              <a:ext uri="{96DAC541-7B7A-43D3-8B79-37D633B846F1}">
                <asvg:svgBlip xmlns:asvg="http://schemas.microsoft.com/office/drawing/2016/SVG/main" r:embed="Rd196a39c41404a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CFC04-8F9C-460C-B721-F9441ED0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13C5B-5F05-4C1A-8744-48852B0F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2C24F-87F2-4169-946D-6CDEDBF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78695-D715-415A-B780-B4FEC977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播客知识工作流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15213-A072-4870-BEA5-4DA0484F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0A276-FB5E-495B-A34C-05B98838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6/9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13B06-D300-4FB4-BFD3-15710D57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工程亮点说明这些体验背后的真实工作量。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9CD67-C4B4-480A-A2F8-3C690898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A1C3C-7D28-4EFD-8B22-C9B5D931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Pipeline 状态机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2368A-562F-4233-A9CF-5B4DDB8A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完整 job 阶段与重试、恢复、降级语义。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03601-A041-4E03-B7E0-165024BC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81DEC-4E88-4609-96D7-F88A0F2E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SQLite 持久化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364C4-2C40-4839-A6D8-CD1A403E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episode、job、transcript、chapter、quote、entity、artifact。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E40C6-280E-429C-AE9D-E98CC102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24C0E-BDF8-481C-827C-E1B7D72E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并发队列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89A5D-5A19-45FC-BC30-C9F528A0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批量任务按 MAX_CONCURRENCY 控制并行处理。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E31DA-CCBA-4B7C-A571-81BFA3E6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4E870-7475-4DBF-8205-4A170BE1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Quote 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0917F-D4F7-49AE-85DB-605B3428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必须逐字命中 transcript 才能展示，减少幻觉。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FAEC9-2222-4D7D-A038-213B857C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5AC2E-9E4E-4271-A617-906B03FA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Prompt 版本化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A818F-217C-4859-B96B-DE00C58B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提示词集中在 prompts/，按 role/version 读取。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E6AFB-B22E-4D94-8F14-A76DE808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BDF0D-9286-4B55-8F61-4C4B9544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多格式导出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F4963A-F9F4-461A-BF62-E8935B47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01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Markdown、JSON、原音频、TTS digest 都可下载。</a:t>
            </a:r>
          </a:p>
        </p:txBody>
      </p:sp>
    </p:spTree>
    <p:extLst>
      <p:ext uri="{BB962C8B-B14F-4D97-AF65-F5344CB8AC3E}">
        <p14:creationId xmlns:p14="http://schemas.microsoft.com/office/powerpoint/2010/main" val="1160845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c8ad49fe64e03">
            <a:extLst>
              <a:ext uri="{96DAC541-7B7A-43D3-8B79-37D633B846F1}">
                <asvg:svgBlip xmlns:asvg="http://schemas.microsoft.com/office/drawing/2016/SVG/main" r:embed="Rff02d5bcc8fc43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C53D9-F1D8-4FAD-9D63-C3401788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77FDB-4595-4A65-9854-16201763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C20C7-19D0-4616-9DCA-07D4EA45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B3DB3-372C-4543-A92C-7E5E9DBE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播客知识工作流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D09FE-932D-4443-BAB1-680253B1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59198-3490-4E55-A447-69AB6B49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7/9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052C9-5D3E-4FB8-B23C-42EA597F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踩坑与取舍体现项目不是表面 demo，而是经过工程收敛。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0BC7A-A476-49E4-8B1C-D0FCEC63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246BF-CA10-4C4A-956F-5706B5C5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81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89FC9-FF11-492D-9CEA-2ED0C601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86025"/>
            <a:ext cx="876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BCE35-3512-4E8F-87FC-6E6E707E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5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SQLite 并发写锁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D188C-DC29-4812-A798-B0F3F3C2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改成阶段 checkpoint 后立即 commit，避免长事务阻塞。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73D48-A1F5-4941-9D15-4DB19D2C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178DC-E870-4C82-9AC5-B8F3B973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876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5985F-EBF3-49D9-8E6A-E531AC20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Quote 双层防御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07322-9F95-4AC2-AFB1-F47BBC2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480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写入时校验，JSON 导出时再次过滤 verified quote。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A73BA-C470-4C5B-9EB0-253C0AD0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19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5CF1B-29BB-4841-83F7-D4FC1B1F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876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CB153-E3BE-438B-88FE-1FC84F91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433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Optional stage 降级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F47BE-7352-4AFB-8D67-1398DDAB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TTS/entity 失败不拖垮整个 episode。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B0B51-F519-45A4-922A-74D5199F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38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00598-A070-455C-AAF3-0B1A90D1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43475"/>
            <a:ext cx="876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6B1AF-14DE-43D6-B2F2-CE756B60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625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V1 范围控制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922B8-C9D2-406F-ABE5-12D3752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863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不做 diarization/auth/local model，保证主链路可交付。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81E251-8422-413B-9CFB-FE5F0F6C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取舍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95C05C-2A76-49B8-89DF-8FE16B2A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真实工程工作意味着修复失败，并控制边界。</a:t>
            </a:r>
          </a:p>
        </p:txBody>
      </p:sp>
    </p:spTree>
    <p:extLst>
      <p:ext uri="{BB962C8B-B14F-4D97-AF65-F5344CB8AC3E}">
        <p14:creationId xmlns:p14="http://schemas.microsoft.com/office/powerpoint/2010/main" val="1724736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2e732ab7b495c">
            <a:extLst>
              <a:ext uri="{96DAC541-7B7A-43D3-8B79-37D633B846F1}">
                <asvg:svgBlip xmlns:asvg="http://schemas.microsoft.com/office/drawing/2016/SVG/main" r:embed="Rfe9b0b0cdd1a45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113D-71BB-471C-A7AA-CB9B2BC9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55D3F-0898-48DC-921C-376DF523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2C027-F0F7-4524-881A-19AD0BC0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14754-08EE-4DD3-BBC5-808DC3D8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播客知识工作流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B1C39-4B41-4529-B999-C9BE7EDC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4ACB4-700D-43C4-9102-152017D8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8/9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BF1E9-7A76-4F77-9D8A-FE06DF41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47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完成度用测试、校验和生产模式验证支撑。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DA065-936B-485F-8342-B99606F0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4CC09-A5E8-480A-B63E-E6ACDEA3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D8FC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2D8FCF"/>
                </a:solidFill>
                <a:latin typeface="Inter"/>
                <a:ea typeface="Inter"/>
                <a:cs typeface="Inter"/>
              </a:rPr>
              <a:t>63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C80D7-11DD-479A-A9A0-CA82D1AD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Backend tests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F5B90-65E9-4C3B-98BE-BBEFA29F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250B0-077F-4F32-A5C9-4FB338DE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4D8B6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54D8B6"/>
                </a:solidFill>
                <a:latin typeface="Inter"/>
                <a:ea typeface="Inter"/>
                <a:cs typeface="Inter"/>
              </a:rPr>
              <a:t>87.98%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BB8B9-DA40-45EF-A821-993D006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Domain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27D3F-FD8B-4EE9-8E3A-117CFA82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717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28900-140D-4F32-9E60-148AE79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CA1D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CA1D3"/>
                </a:solidFill>
                <a:latin typeface="Inter"/>
                <a:ea typeface="Inter"/>
                <a:cs typeface="Inter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FBCDC-DC9E-4A74-95E2-53544B9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Quote verifier: PASS 1 / FAIL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023E8-44FD-4598-85FD-726EE910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23D50-DEC9-4AF9-A9CB-80B8C2E4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5C7E8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55C7E8"/>
                </a:solidFill>
                <a:latin typeface="Inter"/>
                <a:ea typeface="Inter"/>
                <a:cs typeface="Inter"/>
              </a:rPr>
              <a:t>206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274FC-031F-4453-AC37-6D0E816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Range endpoint verified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12124-6E5E-4BC5-9BDA-3A7D1F64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28EC7-447A-442E-89C8-A9CAD94F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B55B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8B55B"/>
                </a:solidFill>
                <a:latin typeface="Inter"/>
                <a:ea typeface="Inter"/>
                <a:cs typeface="Inter"/>
              </a:rPr>
              <a:t>≤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C6E2D-0CC8-4C97-A9AB-665BD154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MAX_CONCURRENCY=2 生效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D253B3-2F57-4154-801B-0A114E38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7B650-FC04-4088-8064-8F2BE38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828FC1-0F3F-4649-8C00-E760D308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482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make build &amp;&amp; make serve 通过</a:t>
            </a:r>
          </a:p>
        </p:txBody>
      </p:sp>
    </p:spTree>
    <p:extLst>
      <p:ext uri="{BB962C8B-B14F-4D97-AF65-F5344CB8AC3E}">
        <p14:creationId xmlns:p14="http://schemas.microsoft.com/office/powerpoint/2010/main" val="19816949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aa9bd72984840">
            <a:extLst>
              <a:ext uri="{96DAC541-7B7A-43D3-8B79-37D633B846F1}">
                <asvg:svgBlip xmlns:asvg="http://schemas.microsoft.com/office/drawing/2016/SVG/main" r:embed="R1fadd7192aae4a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E0DE3-8A4F-420F-8CA3-B23FDE6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0ACDD-D471-4375-BFFC-44CF2AA7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3CD00-88D2-4F04-A15C-CE041132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E4C66-BBCD-4C83-8050-AA707557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播客知识工作流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C6FB4-28A5-4660-A17D-1A59B14C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8411B-8759-4901-AEBD-EA73D0C3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9/9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0641B-A1FD-4526-8B43-D5B333E2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858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不是普通 AI 播客总结器，而是面向真实学习场景的播客知识工作流工具。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B34D4-7792-4981-A454-60FFB26A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E9F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E4E9F0"/>
                </a:solidFill>
                <a:latin typeface="Inter"/>
                <a:ea typeface="Inter"/>
                <a:cs typeface="Inter"/>
              </a:rPr>
              <a:t>我们做的不是简单 AI 总结器，而是一个完整网站：音频输入、转写、结构化复盘、可信引用、音频摘要和 Markdown 知识沉淀。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B847B-B3A9-4F27-8BFC-93D281D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A5576-E818-4C96-ABAD-968C6536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03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Final message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BC6B7-1507-4E6A-B411-AA00808E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71800"/>
            <a:ext cx="2686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从“听完一集播客”到“得到可验证、可复盘、可沉淀的知识材料”。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B7505-5C66-4970-B7BA-DD25E6F5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14900"/>
            <a:ext cx="76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45F1F-413B-46BF-93CE-2270388B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43450"/>
            <a:ext cx="76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BD3A0-0FBC-470D-908F-B46628E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965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F6BA8-9DC1-436D-99EB-C6548DDA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75CF9-496C-4060-9E6A-F5EE66F5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7680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9CF5D-6542-4F64-9450-A67B504A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6725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8A164-019F-4756-B7B4-A2D5753B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7CF17-060C-4BB2-A4D7-7C782D0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762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3E9EC-69DE-4147-9114-11C10487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38700"/>
            <a:ext cx="76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E1642F-0B5B-46D2-B118-6513584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291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6363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2026-05-12T06:35:59.7760000Z</dcterms:created>
  <dcterms:modified xsi:type="dcterms:W3CDTF">2026-05-12T06:35:59.7760000Z</dcterms:modified>
</coreProperties>
</file>