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914400" y="628650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557489" y="273844"/>
            <a:ext cx="9525" cy="214313"/>
          </a:xfrm>
          <a:prstGeom prst="rect">
            <a:avLst/>
          </a:prstGeom>
          <a:solidFill>
            <a:srgbClr val="FFFFFF">
              <a:alpha val="18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14400" y="273844"/>
            <a:ext cx="3485968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RESEARCH · COURSE PRE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12695634" y="273844"/>
            <a:ext cx="3462618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79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 1.2 · 11 SLIDES · 8–10 MIN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16279341" y="266700"/>
            <a:ext cx="9525" cy="228600"/>
          </a:xfrm>
          <a:prstGeom prst="rect">
            <a:avLst/>
          </a:prstGeom>
          <a:solidFill>
            <a:srgbClr val="FFFFFF">
              <a:alpha val="18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16517466" y="266700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/ 10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43000" y="1447800"/>
            <a:ext cx="6858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1104900" y="1447800"/>
            <a:ext cx="762000" cy="7239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0A0A0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019300" y="1592610"/>
            <a:ext cx="249078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b="1" kern="0" spc="176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 </a:t>
            </a:r>
            <a:r>
              <a:rPr lang="en-US" sz="975" kern="0" spc="176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 №. GIT-2026-01-PSP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4185756" y="1447800"/>
            <a:ext cx="2959244" cy="6694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975" kern="0" spc="19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WORKING PAPER ON AUDIO → STRUCTURED SUMMARY </a:t>
            </a:r>
            <a:r>
              <a:rPr lang="en-US" sz="975" b="1" kern="0" spc="19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PRESENTATION · 2026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143000" y="2743200"/>
            <a:ext cx="1255776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GROUP 1 · COURSE PRE · 2026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143000" y="3162300"/>
            <a:ext cx="12557760" cy="2266950"/>
          </a:xfrm>
          <a:prstGeom prst="rect">
            <a:avLst/>
          </a:prstGeom>
          <a:noFill/>
          <a:effectLst>
            <a:outerShdw blurRad="762000" dist="38100" dir="5400000" algn="bl" rotWithShape="0">
              <a:srgbClr val="000000">
                <a:alpha val="6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500" i="1" kern="0" spc="-78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GotIt</a:t>
            </a:r>
            <a:r>
              <a:rPr lang="en-US" sz="19500" i="1" kern="0" spc="-780" dirty="0">
                <a:solidFill>
                  <a:srgbClr val="FF8A3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.</a:t>
            </a:r>
            <a:endParaRPr lang="en-US" sz="19500" dirty="0"/>
          </a:p>
        </p:txBody>
      </p:sp>
      <p:sp>
        <p:nvSpPr>
          <p:cNvPr id="16" name="Text 13"/>
          <p:cNvSpPr/>
          <p:nvPr/>
        </p:nvSpPr>
        <p:spPr>
          <a:xfrm>
            <a:off x="1143000" y="5734050"/>
            <a:ext cx="11772900" cy="9638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i="1" kern="0" spc="27" dirty="0">
                <a:solidFill>
                  <a:srgbClr val="FFFFFF">
                    <a:alpha val="88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An LLM-based podcast summarisation prototype </a:t>
            </a:r>
            <a:r>
              <a:rPr lang="en-US" sz="2700" i="1" kern="0" spc="27" dirty="0">
                <a:solidFill>
                  <a:srgbClr val="FFFFFF">
                    <a:alpha val="60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built, broken &amp; debugged, end-to-end, by four students.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143000" y="7359848"/>
            <a:ext cx="2517428" cy="11858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3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</a:t>
            </a:r>
            <a:endParaRPr lang="en-US" sz="6300" dirty="0"/>
          </a:p>
        </p:txBody>
      </p:sp>
      <p:sp>
        <p:nvSpPr>
          <p:cNvPr id="18" name="Text 15"/>
          <p:cNvSpPr/>
          <p:nvPr/>
        </p:nvSpPr>
        <p:spPr>
          <a:xfrm>
            <a:off x="3755678" y="7821811"/>
            <a:ext cx="837828" cy="571500"/>
          </a:xfrm>
          <a:prstGeom prst="rect">
            <a:avLst/>
          </a:prstGeom>
          <a:noFill/>
          <a:effectLst>
            <a:outerShdw blurRad="285750" dist="19050" dir="5400000" algn="bl" rotWithShape="0">
              <a:srgbClr val="000000">
                <a:alpha val="275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i="1" kern="0" spc="-31" dirty="0">
                <a:solidFill>
                  <a:srgbClr val="FFFFFF">
                    <a:alpha val="55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less.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4860206" y="7721798"/>
            <a:ext cx="244450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FFFFFF">
                    <a:alpha val="40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/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5371356" y="7359848"/>
            <a:ext cx="4826429" cy="11858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3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Understand</a:t>
            </a:r>
            <a:endParaRPr lang="en-US" sz="6300" dirty="0"/>
          </a:p>
        </p:txBody>
      </p:sp>
      <p:sp>
        <p:nvSpPr>
          <p:cNvPr id="21" name="Text 18"/>
          <p:cNvSpPr/>
          <p:nvPr/>
        </p:nvSpPr>
        <p:spPr>
          <a:xfrm>
            <a:off x="10228659" y="7821811"/>
            <a:ext cx="1230957" cy="571500"/>
          </a:xfrm>
          <a:prstGeom prst="rect">
            <a:avLst/>
          </a:prstGeom>
          <a:noFill/>
          <a:effectLst>
            <a:outerShdw blurRad="285750" dist="19050" dir="5400000" algn="bl" rotWithShape="0">
              <a:srgbClr val="000000">
                <a:alpha val="275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i="1" kern="0" spc="-31" dirty="0">
                <a:solidFill>
                  <a:srgbClr val="FFFFFF">
                    <a:alpha val="55000"/>
                  </a:srgbClr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more.</a:t>
            </a:r>
            <a:endParaRPr lang="en-US" sz="4200" dirty="0"/>
          </a:p>
        </p:txBody>
      </p:sp>
      <p:sp>
        <p:nvSpPr>
          <p:cNvPr id="22" name="Shape 19"/>
          <p:cNvSpPr/>
          <p:nvPr/>
        </p:nvSpPr>
        <p:spPr>
          <a:xfrm>
            <a:off x="1143000" y="8714482"/>
            <a:ext cx="16002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1143000" y="8933557"/>
            <a:ext cx="388505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" y="9176445"/>
            <a:ext cx="3885057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GotIt · Podcast-Summary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219700" y="8933557"/>
            <a:ext cx="388505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219700" y="9176445"/>
            <a:ext cx="3885057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2026 . 05 . 21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9296400" y="8933557"/>
            <a:ext cx="388505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296400" y="9176445"/>
            <a:ext cx="3885057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Group 1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73100" y="8933557"/>
            <a:ext cx="388505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3373100" y="9176445"/>
            <a:ext cx="3885057" cy="310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FastAPI · DeepSeek · Doubao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4367436" y="266700"/>
            <a:ext cx="11805642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6" name="Text 4"/>
          <p:cNvSpPr/>
          <p:nvPr/>
        </p:nvSpPr>
        <p:spPr>
          <a:xfrm>
            <a:off x="4538886" y="338138"/>
            <a:ext cx="181421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73935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01678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" name="Text 7"/>
          <p:cNvSpPr/>
          <p:nvPr/>
        </p:nvSpPr>
        <p:spPr>
          <a:xfrm>
            <a:off x="16639803" y="316706"/>
            <a:ext cx="809997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/ 10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1162050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11" name="Text 9"/>
          <p:cNvSpPr/>
          <p:nvPr/>
        </p:nvSpPr>
        <p:spPr>
          <a:xfrm>
            <a:off x="1390650" y="1071563"/>
            <a:ext cx="20193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 OF CONTENTS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467100" y="1066800"/>
            <a:ext cx="1276350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本次汇报路线图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5047565" y="1071563"/>
            <a:ext cx="240223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SECTIONS · 1 CLOSING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14400" y="1400175"/>
            <a:ext cx="16952976" cy="666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914400" y="2162175"/>
            <a:ext cx="14716125" cy="7314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这一页是导览 —— 接下来每一节的标题、英文小名，与对应页码。 每一节的 chrome 顶部也会重复显示，方便随时定位。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3236565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" name="Shape 15"/>
          <p:cNvSpPr/>
          <p:nvPr/>
        </p:nvSpPr>
        <p:spPr>
          <a:xfrm>
            <a:off x="914400" y="4614565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8" name="Text 16"/>
          <p:cNvSpPr/>
          <p:nvPr/>
        </p:nvSpPr>
        <p:spPr>
          <a:xfrm>
            <a:off x="914400" y="3465165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01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714500" y="3465165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背景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714500" y="3846165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WHY WE BUILT THIS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56934" y="3603278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1784" y="3603278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14500" y="4121274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90 分钟播客 → 10 分钟卡片。问题与现有方案不足。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25000" y="4614565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5" name="Text 23"/>
          <p:cNvSpPr/>
          <p:nvPr/>
        </p:nvSpPr>
        <p:spPr>
          <a:xfrm>
            <a:off x="9525000" y="3465165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02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0325100" y="3465165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开发规范 · 时间线 · 分工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325100" y="3846165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 · SPEC, TIMELINE, CONTRIBUTION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467534" y="3603278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172384" y="3603278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25100" y="4121274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spec → plan → tasks → code · 10 周排期 · 4 人分工。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5983039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2" name="Text 30"/>
          <p:cNvSpPr/>
          <p:nvPr/>
        </p:nvSpPr>
        <p:spPr>
          <a:xfrm>
            <a:off x="914400" y="4833640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03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714500" y="4833640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功能边界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714500" y="5214640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 · DO / DON'T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56934" y="4971752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61784" y="4971752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714500" y="5489749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v1 做的 6 件事 · 刻意不做的 6 件事 · 架构约束。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25000" y="5983039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9" name="Text 37"/>
          <p:cNvSpPr/>
          <p:nvPr/>
        </p:nvSpPr>
        <p:spPr>
          <a:xfrm>
            <a:off x="9525000" y="4833640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04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10325100" y="4833640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前端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0325100" y="5214640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TWO UIS, ONE BACKEND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467534" y="4971752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7172384" y="4971752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325100" y="5489749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v1 功能优先 / v2 内容优先 · 详情页 4 个细节。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4400" y="7351588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6" name="Text 44"/>
          <p:cNvSpPr/>
          <p:nvPr/>
        </p:nvSpPr>
        <p:spPr>
          <a:xfrm>
            <a:off x="914400" y="6202114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05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1714500" y="6202114"/>
            <a:ext cx="5787306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后端 · 8 段流水线 · API </a:t>
            </a:r>
            <a:r>
              <a:rPr lang="en-US" sz="135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2 pages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1714500" y="6583114"/>
            <a:ext cx="6015906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· 8 STAGES, CONTRACTS &amp; PROVIDERS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55185" y="6340227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60035" y="6340227"/>
            <a:ext cx="579165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06–07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714500" y="6858298"/>
            <a:ext cx="6015906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· 1 / 2 · 8 段 pipeline + 前后端契约 · 2 / 2 · ASR / LLM / TTS 三家 provider。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525000" y="7351588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3" name="Text 51"/>
          <p:cNvSpPr/>
          <p:nvPr/>
        </p:nvSpPr>
        <p:spPr>
          <a:xfrm>
            <a:off x="9525000" y="6202114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06</a:t>
            </a:r>
            <a:endParaRPr lang="en-US" sz="2700" dirty="0"/>
          </a:p>
        </p:txBody>
      </p:sp>
      <p:sp>
        <p:nvSpPr>
          <p:cNvPr id="54" name="Text 52"/>
          <p:cNvSpPr/>
          <p:nvPr/>
        </p:nvSpPr>
        <p:spPr>
          <a:xfrm>
            <a:off x="10325100" y="6202114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视频 · 现场 Demo</a:t>
            </a:r>
            <a:endParaRPr lang="en-US" sz="2250" dirty="0"/>
          </a:p>
        </p:txBody>
      </p:sp>
      <p:sp>
        <p:nvSpPr>
          <p:cNvPr id="55" name="Text 53"/>
          <p:cNvSpPr/>
          <p:nvPr/>
        </p:nvSpPr>
        <p:spPr>
          <a:xfrm>
            <a:off x="10325100" y="6583114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60 SECONDS WALKTHROUGH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6467534" y="6340227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7172384" y="6340227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325100" y="6858298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扫码看完整流程 · 提交链接 → digest 全链路。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14400" y="8720138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914400" y="7570663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07</a:t>
            </a:r>
            <a:endParaRPr lang="en-US" sz="2700" dirty="0"/>
          </a:p>
        </p:txBody>
      </p:sp>
      <p:sp>
        <p:nvSpPr>
          <p:cNvPr id="61" name="Text 59"/>
          <p:cNvSpPr/>
          <p:nvPr/>
        </p:nvSpPr>
        <p:spPr>
          <a:xfrm>
            <a:off x="1714500" y="7570663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Bug 复盘</a:t>
            </a:r>
            <a:endParaRPr lang="en-US" sz="2250" dirty="0"/>
          </a:p>
        </p:txBody>
      </p:sp>
      <p:sp>
        <p:nvSpPr>
          <p:cNvPr id="62" name="Text 60"/>
          <p:cNvSpPr/>
          <p:nvPr/>
        </p:nvSpPr>
        <p:spPr>
          <a:xfrm>
            <a:off x="1714500" y="7951663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POST-MORTEM · SOLVED &amp; OPEN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56934" y="7708776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561784" y="7708776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714500" y="8226847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6 个已解决 · 5 项待办 · 每个 bug 的根因与教训。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525000" y="8720138"/>
            <a:ext cx="78486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7" name="Text 65"/>
          <p:cNvSpPr/>
          <p:nvPr/>
        </p:nvSpPr>
        <p:spPr>
          <a:xfrm>
            <a:off x="9525000" y="7570663"/>
            <a:ext cx="8763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FIN</a:t>
            </a:r>
            <a:endParaRPr lang="en-US" sz="2700" dirty="0"/>
          </a:p>
        </p:txBody>
      </p:sp>
      <p:sp>
        <p:nvSpPr>
          <p:cNvPr id="68" name="Text 66"/>
          <p:cNvSpPr/>
          <p:nvPr/>
        </p:nvSpPr>
        <p:spPr>
          <a:xfrm>
            <a:off x="10325100" y="7570663"/>
            <a:ext cx="6098107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收尾一句</a:t>
            </a:r>
            <a:endParaRPr lang="en-US" sz="2250" dirty="0"/>
          </a:p>
        </p:txBody>
      </p:sp>
      <p:sp>
        <p:nvSpPr>
          <p:cNvPr id="69" name="Text 67"/>
          <p:cNvSpPr/>
          <p:nvPr/>
        </p:nvSpPr>
        <p:spPr>
          <a:xfrm>
            <a:off x="10325100" y="7951663"/>
            <a:ext cx="632670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 REMARK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6467534" y="7708776"/>
            <a:ext cx="647700" cy="242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·····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7172384" y="7708776"/>
            <a:ext cx="277416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0325100" y="8226847"/>
            <a:ext cx="6326707" cy="251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AI 是工具，不是答案。Q &amp; A 时间。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14400" y="8958263"/>
            <a:ext cx="16459200" cy="604838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74" name="Shape 72"/>
          <p:cNvSpPr/>
          <p:nvPr/>
        </p:nvSpPr>
        <p:spPr>
          <a:xfrm>
            <a:off x="914400" y="8958263"/>
            <a:ext cx="38100" cy="604838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75" name="Text 73"/>
          <p:cNvSpPr/>
          <p:nvPr/>
        </p:nvSpPr>
        <p:spPr>
          <a:xfrm>
            <a:off x="1181100" y="9186863"/>
            <a:ext cx="141379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▢ READING GUIDE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785393" y="9129713"/>
            <a:ext cx="806175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每页顶部的导航条会高亮当前所在的章节 — 例如 </a:t>
            </a:r>
            <a:r>
              <a:rPr lang="en-US" sz="135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 · 边界 </a:t>
            </a:r>
            <a:r>
              <a:rPr lang="en-US" sz="13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表示你正在第 4 页（目录之后第 3 节）。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8" name="Text 76"/>
          <p:cNvSpPr/>
          <p:nvPr/>
        </p:nvSpPr>
        <p:spPr>
          <a:xfrm>
            <a:off x="914400" y="9777413"/>
            <a:ext cx="2028453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 OF CONTENTS · 目录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074274" y="9744075"/>
            <a:ext cx="1660401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use this page as a roadmap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6866096" y="9782175"/>
            <a:ext cx="583704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4367436" y="266700"/>
            <a:ext cx="1669033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6" name="Text 4"/>
          <p:cNvSpPr/>
          <p:nvPr/>
        </p:nvSpPr>
        <p:spPr>
          <a:xfrm>
            <a:off x="4538886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05479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0791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51353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702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182645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4605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85167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509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2071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8412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18974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553158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5877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1" name="Text 19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3" name="Text 21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981200" y="1066800"/>
            <a:ext cx="20193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PROBLEM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470460" y="1066800"/>
            <a:ext cx="197934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I · OF VII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4400" y="1390650"/>
            <a:ext cx="16952976" cy="1295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从一条 90 分钟的播客， 到一张 10 分钟能读完的卡片。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914400" y="2781300"/>
            <a:ext cx="14716125" cy="38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一集播客 40–90 分钟。听完成本越来越高，但现有工具要么太重、要么没有章节、要么只把语音变成字。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4428158"/>
            <a:ext cx="83610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9" name="Shape 27"/>
          <p:cNvSpPr/>
          <p:nvPr/>
        </p:nvSpPr>
        <p:spPr>
          <a:xfrm>
            <a:off x="914400" y="3470895"/>
            <a:ext cx="8361015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0" name="Shape 28"/>
          <p:cNvSpPr/>
          <p:nvPr/>
        </p:nvSpPr>
        <p:spPr>
          <a:xfrm>
            <a:off x="3691830" y="3489945"/>
            <a:ext cx="9525" cy="9382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1" name="Text 29"/>
          <p:cNvSpPr/>
          <p:nvPr/>
        </p:nvSpPr>
        <p:spPr>
          <a:xfrm>
            <a:off x="914400" y="3642345"/>
            <a:ext cx="26252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90 </a:t>
            </a:r>
            <a:r>
              <a:rPr lang="en-US" sz="1500" dirty="0">
                <a:solidFill>
                  <a:srgbClr val="5B647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914400" y="4137645"/>
            <a:ext cx="2625295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 EPISODE LENGTH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6478860" y="3489945"/>
            <a:ext cx="9525" cy="9382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4" name="Text 32"/>
          <p:cNvSpPr/>
          <p:nvPr/>
        </p:nvSpPr>
        <p:spPr>
          <a:xfrm>
            <a:off x="3701355" y="3642345"/>
            <a:ext cx="2625372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</a:t>
            </a:r>
            <a:r>
              <a:rPr lang="en-US" sz="1500" dirty="0">
                <a:solidFill>
                  <a:srgbClr val="5B647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3701355" y="4137645"/>
            <a:ext cx="262537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READ TIME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488385" y="3642345"/>
            <a:ext cx="2635183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A02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9×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6488385" y="4137645"/>
            <a:ext cx="2635183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COMPRESSION RATIO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754380" y="4704383"/>
            <a:ext cx="8597235" cy="18610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讲了啥？—— 一句话能不能把这一集讲清楚。</a:t>
            </a:r>
            <a:endParaRPr lang="en-US" sz="18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值不值得听？—— 看完摘要还想不想点播放。</a:t>
            </a:r>
            <a:endParaRPr lang="en-US" sz="18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哪里值得回头？—— 能不能直接跳到那一秒。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" y="7156028"/>
            <a:ext cx="1839367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0" name="Text 38"/>
          <p:cNvSpPr/>
          <p:nvPr/>
        </p:nvSpPr>
        <p:spPr>
          <a:xfrm>
            <a:off x="914400" y="6870278"/>
            <a:ext cx="1763167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现有方案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2753767" y="7156028"/>
            <a:ext cx="2341066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2" name="Text 40"/>
          <p:cNvSpPr/>
          <p:nvPr/>
        </p:nvSpPr>
        <p:spPr>
          <a:xfrm>
            <a:off x="2753767" y="6870278"/>
            <a:ext cx="226486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优势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5094833" y="7156028"/>
            <a:ext cx="4180582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4" name="Text 42"/>
          <p:cNvSpPr/>
          <p:nvPr/>
        </p:nvSpPr>
        <p:spPr>
          <a:xfrm>
            <a:off x="5094833" y="6870278"/>
            <a:ext cx="4153599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问题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914400" y="7694637"/>
            <a:ext cx="183936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6" name="Text 44"/>
          <p:cNvSpPr/>
          <p:nvPr/>
        </p:nvSpPr>
        <p:spPr>
          <a:xfrm>
            <a:off x="914400" y="7298903"/>
            <a:ext cx="1763167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Otter / Notion AI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2753767" y="7694637"/>
            <a:ext cx="2341066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8" name="Text 46"/>
          <p:cNvSpPr/>
          <p:nvPr/>
        </p:nvSpPr>
        <p:spPr>
          <a:xfrm>
            <a:off x="2753767" y="7298903"/>
            <a:ext cx="2264866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1F5A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转录准 · 集成多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5094833" y="7694637"/>
            <a:ext cx="418058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0" name="Text 48"/>
          <p:cNvSpPr/>
          <p:nvPr/>
        </p:nvSpPr>
        <p:spPr>
          <a:xfrm>
            <a:off x="5094833" y="7298903"/>
            <a:ext cx="4153599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太重 · 没有三幕结构</a:t>
            </a:r>
            <a:endParaRPr lang="en-US" sz="1425" dirty="0"/>
          </a:p>
        </p:txBody>
      </p:sp>
      <p:sp>
        <p:nvSpPr>
          <p:cNvPr id="51" name="Shape 49"/>
          <p:cNvSpPr/>
          <p:nvPr/>
        </p:nvSpPr>
        <p:spPr>
          <a:xfrm>
            <a:off x="914400" y="8233246"/>
            <a:ext cx="183936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2" name="Text 50"/>
          <p:cNvSpPr/>
          <p:nvPr/>
        </p:nvSpPr>
        <p:spPr>
          <a:xfrm>
            <a:off x="914400" y="7837512"/>
            <a:ext cx="1763167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YouTube 字幕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2753767" y="8233246"/>
            <a:ext cx="2341066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4" name="Text 52"/>
          <p:cNvSpPr/>
          <p:nvPr/>
        </p:nvSpPr>
        <p:spPr>
          <a:xfrm>
            <a:off x="2753767" y="7837512"/>
            <a:ext cx="2264866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1F5A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即取即用</a:t>
            </a:r>
            <a:endParaRPr lang="en-US" sz="1425" dirty="0"/>
          </a:p>
        </p:txBody>
      </p:sp>
      <p:sp>
        <p:nvSpPr>
          <p:cNvPr id="55" name="Shape 53"/>
          <p:cNvSpPr/>
          <p:nvPr/>
        </p:nvSpPr>
        <p:spPr>
          <a:xfrm>
            <a:off x="5094833" y="8233246"/>
            <a:ext cx="418058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6" name="Text 54"/>
          <p:cNvSpPr/>
          <p:nvPr/>
        </p:nvSpPr>
        <p:spPr>
          <a:xfrm>
            <a:off x="5094833" y="7837512"/>
            <a:ext cx="4153599" cy="30048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无章节 · 引用不可跳</a:t>
            </a:r>
            <a:endParaRPr lang="en-US" sz="1425" dirty="0"/>
          </a:p>
        </p:txBody>
      </p:sp>
      <p:sp>
        <p:nvSpPr>
          <p:cNvPr id="57" name="Shape 55"/>
          <p:cNvSpPr/>
          <p:nvPr/>
        </p:nvSpPr>
        <p:spPr>
          <a:xfrm>
            <a:off x="914400" y="9034239"/>
            <a:ext cx="183936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8" name="Text 56"/>
          <p:cNvSpPr/>
          <p:nvPr/>
        </p:nvSpPr>
        <p:spPr>
          <a:xfrm>
            <a:off x="914400" y="8376121"/>
            <a:ext cx="1763167" cy="5628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Whisper / ASR 生转录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2753767" y="9034239"/>
            <a:ext cx="2341066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2753767" y="8376121"/>
            <a:ext cx="2264866" cy="5628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1F5A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 · 开源</a:t>
            </a:r>
            <a:endParaRPr lang="en-US" sz="1425" dirty="0"/>
          </a:p>
        </p:txBody>
      </p:sp>
      <p:sp>
        <p:nvSpPr>
          <p:cNvPr id="61" name="Shape 59"/>
          <p:cNvSpPr/>
          <p:nvPr/>
        </p:nvSpPr>
        <p:spPr>
          <a:xfrm>
            <a:off x="5094833" y="9034239"/>
            <a:ext cx="418058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2" name="Text 60"/>
          <p:cNvSpPr/>
          <p:nvPr/>
        </p:nvSpPr>
        <p:spPr>
          <a:xfrm>
            <a:off x="5094833" y="8376121"/>
            <a:ext cx="4153599" cy="5628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不浓缩 · 仍需通读</a:t>
            </a:r>
            <a:endParaRPr lang="en-US" sz="1425" dirty="0"/>
          </a:p>
        </p:txBody>
      </p:sp>
      <p:sp>
        <p:nvSpPr>
          <p:cNvPr id="63" name="Shape 61"/>
          <p:cNvSpPr/>
          <p:nvPr/>
        </p:nvSpPr>
        <p:spPr>
          <a:xfrm>
            <a:off x="914400" y="9239027"/>
            <a:ext cx="8361015" cy="1404938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64" name="Shape 62"/>
          <p:cNvSpPr/>
          <p:nvPr/>
        </p:nvSpPr>
        <p:spPr>
          <a:xfrm>
            <a:off x="914400" y="9239027"/>
            <a:ext cx="38100" cy="1404938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65" name="Text 63"/>
          <p:cNvSpPr/>
          <p:nvPr/>
        </p:nvSpPr>
        <p:spPr>
          <a:xfrm>
            <a:off x="1200150" y="9448577"/>
            <a:ext cx="8062444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THESIS · 我们的定位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200150" y="9734327"/>
            <a:ext cx="8062444" cy="7381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给一个链接，十分钟拿到 </a:t>
            </a:r>
            <a:r>
              <a:rPr lang="en-US" sz="18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hook + 三幕 + 章节 + 引用 + 实体 </a:t>
            </a:r>
            <a:r>
              <a:rPr lang="en-US" sz="1800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，外加一段 30 秒 TTS 浓缩。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9808815" y="3470895"/>
            <a:ext cx="7564785" cy="7173069"/>
          </a:xfrm>
          <a:prstGeom prst="rect">
            <a:avLst/>
          </a:prstGeom>
          <a:solidFill>
            <a:srgbClr val="F7F5F0"/>
          </a:solidFill>
          <a:ln w="9525">
            <a:solidFill>
              <a:srgbClr val="C9CCD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27890" y="3670920"/>
            <a:ext cx="2332434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FIG. 1.1 — Before / After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14750951" y="3785220"/>
            <a:ext cx="2479774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60 MIN .MP3 TO 10 MIN CARD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10027890" y="9916344"/>
            <a:ext cx="712663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1" name="Shape 69"/>
          <p:cNvSpPr/>
          <p:nvPr/>
        </p:nvSpPr>
        <p:spPr>
          <a:xfrm>
            <a:off x="10027890" y="4056683"/>
            <a:ext cx="7126635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2" name="Shape 70"/>
          <p:cNvSpPr/>
          <p:nvPr/>
        </p:nvSpPr>
        <p:spPr>
          <a:xfrm>
            <a:off x="13581683" y="4075733"/>
            <a:ext cx="9525" cy="5840611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3" name="Text 71"/>
          <p:cNvSpPr/>
          <p:nvPr/>
        </p:nvSpPr>
        <p:spPr>
          <a:xfrm>
            <a:off x="10237440" y="4247183"/>
            <a:ext cx="619125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A02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原音频</a:t>
            </a:r>
            <a:endParaRPr lang="en-US" sz="1425" dirty="0"/>
          </a:p>
        </p:txBody>
      </p:sp>
      <p:sp>
        <p:nvSpPr>
          <p:cNvPr id="74" name="Text 72"/>
          <p:cNvSpPr/>
          <p:nvPr/>
        </p:nvSpPr>
        <p:spPr>
          <a:xfrm>
            <a:off x="12596738" y="4351958"/>
            <a:ext cx="851595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1H 04M 22S</a:t>
            </a:r>
            <a:endParaRPr lang="en-US" sz="825" dirty="0"/>
          </a:p>
        </p:txBody>
      </p:sp>
      <p:pic>
        <p:nvPicPr>
          <p:cNvPr id="7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7440" y="4642470"/>
            <a:ext cx="3134692" cy="95250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10237440" y="5709270"/>
            <a:ext cx="3228733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11,800 字 raw transcript · 不可索引</a:t>
            </a:r>
            <a:endParaRPr lang="en-US" sz="825" dirty="0"/>
          </a:p>
        </p:txBody>
      </p:sp>
      <p:sp>
        <p:nvSpPr>
          <p:cNvPr id="77" name="Text 74"/>
          <p:cNvSpPr/>
          <p:nvPr/>
        </p:nvSpPr>
        <p:spPr>
          <a:xfrm>
            <a:off x="13800758" y="4247183"/>
            <a:ext cx="800100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5A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摘要卡片</a:t>
            </a:r>
            <a:endParaRPr lang="en-US" sz="1425" dirty="0"/>
          </a:p>
        </p:txBody>
      </p:sp>
      <p:sp>
        <p:nvSpPr>
          <p:cNvPr id="78" name="Text 75"/>
          <p:cNvSpPr/>
          <p:nvPr/>
        </p:nvSpPr>
        <p:spPr>
          <a:xfrm>
            <a:off x="15936813" y="4351958"/>
            <a:ext cx="108436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10 MIN READ</a:t>
            </a:r>
            <a:endParaRPr lang="en-US" sz="825" dirty="0"/>
          </a:p>
        </p:txBody>
      </p:sp>
      <p:sp>
        <p:nvSpPr>
          <p:cNvPr id="79" name="Shape 76"/>
          <p:cNvSpPr/>
          <p:nvPr/>
        </p:nvSpPr>
        <p:spPr>
          <a:xfrm>
            <a:off x="13800758" y="4642470"/>
            <a:ext cx="3144217" cy="1855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D2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3962683" y="4785345"/>
            <a:ext cx="28575" cy="488603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81" name="Text 78"/>
          <p:cNvSpPr/>
          <p:nvPr/>
        </p:nvSpPr>
        <p:spPr>
          <a:xfrm>
            <a:off x="14105558" y="4785345"/>
            <a:ext cx="2762103" cy="52670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"当你听播客的时候，你究竟在</a:t>
            </a:r>
            <a:r>
              <a:rPr lang="en-US" sz="1425" u="sng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什么？"</a:t>
            </a:r>
            <a:endParaRPr lang="en-US" sz="1425" dirty="0"/>
          </a:p>
        </p:txBody>
      </p:sp>
      <p:sp>
        <p:nvSpPr>
          <p:cNvPr id="82" name="Text 79"/>
          <p:cNvSpPr/>
          <p:nvPr/>
        </p:nvSpPr>
        <p:spPr>
          <a:xfrm>
            <a:off x="13962683" y="5388248"/>
            <a:ext cx="2904978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 1 </a:t>
            </a:r>
            <a:r>
              <a:rPr lang="en-US" sz="9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提出问题 · 00:00 — 18:42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13962683" y="5583510"/>
            <a:ext cx="2904978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 2 </a:t>
            </a:r>
            <a:r>
              <a:rPr lang="en-US" sz="9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展开论证 · 18:42 — 47:08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13962683" y="5778773"/>
            <a:ext cx="2904978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 3 </a:t>
            </a:r>
            <a:r>
              <a:rPr lang="en-US" sz="9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给出建议 · 47:08 — 64:22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13962683" y="6050235"/>
            <a:ext cx="2820367" cy="304800"/>
          </a:xfrm>
          <a:prstGeom prst="roundRect">
            <a:avLst>
              <a:gd name="adj" fmla="val 50000"/>
            </a:avLst>
          </a:prstGeom>
          <a:solidFill>
            <a:srgbClr val="14171C"/>
          </a:solidFill>
        </p:spPr>
      </p:sp>
      <p:sp>
        <p:nvSpPr>
          <p:cNvPr id="86" name="Shape 83"/>
          <p:cNvSpPr/>
          <p:nvPr/>
        </p:nvSpPr>
        <p:spPr>
          <a:xfrm>
            <a:off x="14096033" y="6126435"/>
            <a:ext cx="152400" cy="1524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7" name="Text 84"/>
          <p:cNvSpPr/>
          <p:nvPr/>
        </p:nvSpPr>
        <p:spPr>
          <a:xfrm>
            <a:off x="14057933" y="6126435"/>
            <a:ext cx="228600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75" kern="0" spc="8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</a:t>
            </a:r>
            <a:endParaRPr lang="en-US" sz="675" dirty="0"/>
          </a:p>
        </p:txBody>
      </p:sp>
      <p:sp>
        <p:nvSpPr>
          <p:cNvPr id="88" name="Shape 85"/>
          <p:cNvSpPr/>
          <p:nvPr/>
        </p:nvSpPr>
        <p:spPr>
          <a:xfrm>
            <a:off x="14343683" y="6188348"/>
            <a:ext cx="597173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</p:spPr>
      </p:sp>
      <p:sp>
        <p:nvSpPr>
          <p:cNvPr id="89" name="Text 86"/>
          <p:cNvSpPr/>
          <p:nvPr/>
        </p:nvSpPr>
        <p:spPr>
          <a:xfrm>
            <a:off x="15036105" y="6133579"/>
            <a:ext cx="1689795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00:12 / 00:30 · DIGEST</a:t>
            </a:r>
            <a:endParaRPr lang="en-US" sz="825" dirty="0"/>
          </a:p>
        </p:txBody>
      </p:sp>
      <p:sp>
        <p:nvSpPr>
          <p:cNvPr id="90" name="Shape 87"/>
          <p:cNvSpPr/>
          <p:nvPr/>
        </p:nvSpPr>
        <p:spPr>
          <a:xfrm>
            <a:off x="10027890" y="10040169"/>
            <a:ext cx="19050" cy="441871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91" name="Text 88"/>
          <p:cNvSpPr/>
          <p:nvPr/>
        </p:nvSpPr>
        <p:spPr>
          <a:xfrm>
            <a:off x="10180290" y="10040169"/>
            <a:ext cx="718803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1.1 </a:t>
            </a:r>
            <a:r>
              <a:rPr lang="en-US" sz="1200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左：未结构化的原始波形 / 转录；右：可点击、可跳转、可导出的摘要卡片。后者把 60 分钟压成 30 秒可听 + 10 分钟可读。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3" name="Text 90"/>
          <p:cNvSpPr/>
          <p:nvPr/>
        </p:nvSpPr>
        <p:spPr>
          <a:xfrm>
            <a:off x="914400" y="9782175"/>
            <a:ext cx="1260351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 · CONTEXT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8377610" y="9744075"/>
            <a:ext cx="2201019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cf. user research, internal · 2025-Q4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6469" y="266700"/>
            <a:ext cx="1669107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8" name="Text 6"/>
          <p:cNvSpPr/>
          <p:nvPr/>
        </p:nvSpPr>
        <p:spPr>
          <a:xfrm>
            <a:off x="6207919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723831" y="328613"/>
            <a:ext cx="1500783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规范·时间线·分工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702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182645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4605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85167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509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2071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8412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18974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553158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5877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1" name="Text 19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3" name="Text 21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981200" y="1066800"/>
            <a:ext cx="376732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 · SPEC · TIMELINE · TEAM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364718" y="1066800"/>
            <a:ext cx="208508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II · OF VII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4400" y="1390650"/>
            <a:ext cx="16952976" cy="11276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900" b="1" kern="0" spc="-19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怎么开始的，怎么排期的， 谁做了什么。</a:t>
            </a:r>
            <a:endParaRPr lang="en-US" sz="3900" dirty="0"/>
          </a:p>
        </p:txBody>
      </p:sp>
      <p:sp>
        <p:nvSpPr>
          <p:cNvPr id="27" name="Shape 25"/>
          <p:cNvSpPr/>
          <p:nvPr/>
        </p:nvSpPr>
        <p:spPr>
          <a:xfrm>
            <a:off x="914400" y="2880271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8" name="Shape 26"/>
          <p:cNvSpPr/>
          <p:nvPr/>
        </p:nvSpPr>
        <p:spPr>
          <a:xfrm>
            <a:off x="8060978" y="2899321"/>
            <a:ext cx="9525" cy="6260604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9" name="Text 27"/>
          <p:cNvSpPr/>
          <p:nvPr/>
        </p:nvSpPr>
        <p:spPr>
          <a:xfrm>
            <a:off x="914400" y="3113633"/>
            <a:ext cx="260077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12577" y="3051721"/>
            <a:ext cx="1066800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开发规范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593160" y="3232696"/>
            <a:ext cx="1239217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SPEC-DRIVEN DEV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914400" y="3561308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3" name="Shape 31"/>
          <p:cNvSpPr/>
          <p:nvPr/>
        </p:nvSpPr>
        <p:spPr>
          <a:xfrm>
            <a:off x="914400" y="3995589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4" name="Text 32"/>
          <p:cNvSpPr/>
          <p:nvPr/>
        </p:nvSpPr>
        <p:spPr>
          <a:xfrm>
            <a:off x="914400" y="3742283"/>
            <a:ext cx="83820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SPEC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76400" y="3656558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spec/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写问题、写需求、写产物形状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12 份 markdown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914400" y="4429869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7" name="Text 35"/>
          <p:cNvSpPr/>
          <p:nvPr/>
        </p:nvSpPr>
        <p:spPr>
          <a:xfrm>
            <a:off x="914400" y="4176564"/>
            <a:ext cx="83820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PLAN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76400" y="4090839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plan/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写模块切分、依赖、契约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含 contracts/*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914400" y="4991844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0" name="Text 38"/>
          <p:cNvSpPr/>
          <p:nvPr/>
        </p:nvSpPr>
        <p:spPr>
          <a:xfrm>
            <a:off x="914400" y="4610844"/>
            <a:ext cx="838200" cy="333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TASKS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76400" y="4525119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tasks/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拆到单条 PR 大小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每条 ≤ 1 天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914400" y="5426125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3" name="Text 41"/>
          <p:cNvSpPr/>
          <p:nvPr/>
        </p:nvSpPr>
        <p:spPr>
          <a:xfrm>
            <a:off x="914400" y="5172819"/>
            <a:ext cx="83820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CODE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676400" y="5087094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code +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同步 test · 同步 doc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不写出来就不算完成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914400" y="5860405"/>
            <a:ext cx="684177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6" name="Text 44"/>
          <p:cNvSpPr/>
          <p:nvPr/>
        </p:nvSpPr>
        <p:spPr>
          <a:xfrm>
            <a:off x="914400" y="5607100"/>
            <a:ext cx="83820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★ CONST.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676400" y="5521375"/>
            <a:ext cx="6262171" cy="291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F3C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条 constitution </a:t>
            </a: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 项目级硬约束 </a:t>
            </a: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不可破例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914400" y="6003280"/>
            <a:ext cx="6841778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9" name="Shape 47"/>
          <p:cNvSpPr/>
          <p:nvPr/>
        </p:nvSpPr>
        <p:spPr>
          <a:xfrm>
            <a:off x="4325764" y="6022330"/>
            <a:ext cx="9525" cy="7858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0" name="Text 48"/>
          <p:cNvSpPr/>
          <p:nvPr/>
        </p:nvSpPr>
        <p:spPr>
          <a:xfrm>
            <a:off x="914400" y="6136630"/>
            <a:ext cx="3337111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2850" dirty="0"/>
          </a:p>
        </p:txBody>
      </p:sp>
      <p:sp>
        <p:nvSpPr>
          <p:cNvPr id="51" name="Text 49"/>
          <p:cNvSpPr/>
          <p:nvPr/>
        </p:nvSpPr>
        <p:spPr>
          <a:xfrm>
            <a:off x="914400" y="6555730"/>
            <a:ext cx="333711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DOCS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506739" y="6136630"/>
            <a:ext cx="3346922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850" dirty="0"/>
          </a:p>
        </p:txBody>
      </p:sp>
      <p:sp>
        <p:nvSpPr>
          <p:cNvPr id="53" name="Text 51"/>
          <p:cNvSpPr/>
          <p:nvPr/>
        </p:nvSpPr>
        <p:spPr>
          <a:xfrm>
            <a:off x="4506739" y="6555730"/>
            <a:ext cx="334692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CONSTITUTIONS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8375303" y="3113633"/>
            <a:ext cx="233958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B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8647361" y="3051721"/>
            <a:ext cx="2091110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时间线 · 10 周排期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5202421" y="3232696"/>
            <a:ext cx="2247379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 — W10 · 2025-Q4 → 2026-Q1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8375303" y="356130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8" name="Shape 56"/>
          <p:cNvSpPr/>
          <p:nvPr/>
        </p:nvSpPr>
        <p:spPr>
          <a:xfrm>
            <a:off x="8375303" y="384705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9" name="Text 57"/>
          <p:cNvSpPr/>
          <p:nvPr/>
        </p:nvSpPr>
        <p:spPr>
          <a:xfrm>
            <a:off x="8432453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9332268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W2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232082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1131897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W4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2031712" y="3647033"/>
            <a:ext cx="918939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2931601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W6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3831416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W7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4731231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W8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5631046" y="3647033"/>
            <a:ext cx="91886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W9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6530861" y="3647033"/>
            <a:ext cx="918939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375303" y="4237583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0" name="Text 68"/>
          <p:cNvSpPr/>
          <p:nvPr/>
        </p:nvSpPr>
        <p:spPr>
          <a:xfrm>
            <a:off x="8375303" y="3968502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· 规范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518303" y="3970883"/>
            <a:ext cx="1555775" cy="152400"/>
          </a:xfrm>
          <a:prstGeom prst="roundRect">
            <a:avLst>
              <a:gd name="adj" fmla="val 6250"/>
            </a:avLst>
          </a:prstGeom>
          <a:solidFill>
            <a:srgbClr val="5B3A8F"/>
          </a:solidFill>
        </p:spPr>
      </p:sp>
      <p:sp>
        <p:nvSpPr>
          <p:cNvPr id="72" name="Text 70"/>
          <p:cNvSpPr/>
          <p:nvPr/>
        </p:nvSpPr>
        <p:spPr>
          <a:xfrm>
            <a:off x="9518303" y="3970883"/>
            <a:ext cx="1555775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· PLAN · CONSTITUTION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375303" y="462810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4" name="Text 72"/>
          <p:cNvSpPr/>
          <p:nvPr/>
        </p:nvSpPr>
        <p:spPr>
          <a:xfrm>
            <a:off x="8375303" y="4359027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 · 后端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1093128" y="4361408"/>
            <a:ext cx="3130674" cy="152400"/>
          </a:xfrm>
          <a:prstGeom prst="roundRect">
            <a:avLst>
              <a:gd name="adj" fmla="val 6250"/>
            </a:avLst>
          </a:prstGeom>
          <a:solidFill>
            <a:srgbClr val="1F3C7A"/>
          </a:solidFill>
        </p:spPr>
      </p:sp>
      <p:sp>
        <p:nvSpPr>
          <p:cNvPr id="76" name="Text 74"/>
          <p:cNvSpPr/>
          <p:nvPr/>
        </p:nvSpPr>
        <p:spPr>
          <a:xfrm>
            <a:off x="11084267" y="4361408"/>
            <a:ext cx="3148394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FETCH · ASR · LLM STAGES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4242852" y="4361408"/>
            <a:ext cx="768400" cy="152400"/>
          </a:xfrm>
          <a:prstGeom prst="roundRect">
            <a:avLst>
              <a:gd name="adj" fmla="val 6250"/>
            </a:avLst>
          </a:prstGeom>
          <a:solidFill>
            <a:srgbClr val="1F3C7A"/>
          </a:solidFill>
        </p:spPr>
      </p:sp>
      <p:sp>
        <p:nvSpPr>
          <p:cNvPr id="78" name="Text 76"/>
          <p:cNvSpPr/>
          <p:nvPr/>
        </p:nvSpPr>
        <p:spPr>
          <a:xfrm>
            <a:off x="14242852" y="4361408"/>
            <a:ext cx="768400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375303" y="5018633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0" name="Text 78"/>
          <p:cNvSpPr/>
          <p:nvPr/>
        </p:nvSpPr>
        <p:spPr>
          <a:xfrm>
            <a:off x="8375303" y="4749552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 · 前端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2668027" y="4751933"/>
            <a:ext cx="2343224" cy="152400"/>
          </a:xfrm>
          <a:prstGeom prst="roundRect">
            <a:avLst>
              <a:gd name="adj" fmla="val 6250"/>
            </a:avLst>
          </a:prstGeom>
          <a:solidFill>
            <a:srgbClr val="1F5A35"/>
          </a:solidFill>
        </p:spPr>
      </p:sp>
      <p:sp>
        <p:nvSpPr>
          <p:cNvPr id="82" name="Text 80"/>
          <p:cNvSpPr/>
          <p:nvPr/>
        </p:nvSpPr>
        <p:spPr>
          <a:xfrm>
            <a:off x="12668027" y="4751933"/>
            <a:ext cx="2343224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FRONTEND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5030301" y="4751933"/>
            <a:ext cx="1555849" cy="152400"/>
          </a:xfrm>
          <a:prstGeom prst="roundRect">
            <a:avLst>
              <a:gd name="adj" fmla="val 6250"/>
            </a:avLst>
          </a:prstGeom>
          <a:solidFill>
            <a:srgbClr val="1F5A35"/>
          </a:solidFill>
        </p:spPr>
      </p:sp>
      <p:sp>
        <p:nvSpPr>
          <p:cNvPr id="84" name="Text 82"/>
          <p:cNvSpPr/>
          <p:nvPr/>
        </p:nvSpPr>
        <p:spPr>
          <a:xfrm>
            <a:off x="15030301" y="4751933"/>
            <a:ext cx="1555849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 FRONTEND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375303" y="540915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6" name="Text 84"/>
          <p:cNvSpPr/>
          <p:nvPr/>
        </p:nvSpPr>
        <p:spPr>
          <a:xfrm>
            <a:off x="8375303" y="5140077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· 测试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1093128" y="5142458"/>
            <a:ext cx="6280472" cy="152400"/>
          </a:xfrm>
          <a:prstGeom prst="roundRect">
            <a:avLst>
              <a:gd name="adj" fmla="val 6250"/>
            </a:avLst>
          </a:prstGeom>
          <a:solidFill>
            <a:srgbClr val="A8770F"/>
          </a:solidFill>
        </p:spPr>
      </p:sp>
      <p:sp>
        <p:nvSpPr>
          <p:cNvPr id="88" name="Text 86"/>
          <p:cNvSpPr/>
          <p:nvPr/>
        </p:nvSpPr>
        <p:spPr>
          <a:xfrm>
            <a:off x="11037020" y="5142458"/>
            <a:ext cx="6392687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 · CONTRACT · REGRESSION （持续）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375303" y="5799683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0" name="Text 88"/>
          <p:cNvSpPr/>
          <p:nvPr/>
        </p:nvSpPr>
        <p:spPr>
          <a:xfrm>
            <a:off x="8375303" y="5530602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 · 复盘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3455476" y="5532983"/>
            <a:ext cx="2343224" cy="152400"/>
          </a:xfrm>
          <a:prstGeom prst="roundRect">
            <a:avLst>
              <a:gd name="adj" fmla="val 6250"/>
            </a:avLst>
          </a:prstGeom>
          <a:solidFill>
            <a:srgbClr val="A02A1E"/>
          </a:solidFill>
        </p:spPr>
      </p:sp>
      <p:sp>
        <p:nvSpPr>
          <p:cNvPr id="92" name="Text 90"/>
          <p:cNvSpPr/>
          <p:nvPr/>
        </p:nvSpPr>
        <p:spPr>
          <a:xfrm>
            <a:off x="13455476" y="5532983"/>
            <a:ext cx="2343224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HARD-WON BUGS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375303" y="6190208"/>
            <a:ext cx="89982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4" name="Text 92"/>
          <p:cNvSpPr/>
          <p:nvPr/>
        </p:nvSpPr>
        <p:spPr>
          <a:xfrm>
            <a:off x="8375303" y="5921127"/>
            <a:ext cx="121920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· 汇报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5817751" y="5923508"/>
            <a:ext cx="1555775" cy="152400"/>
          </a:xfrm>
          <a:prstGeom prst="roundRect">
            <a:avLst>
              <a:gd name="adj" fmla="val 6250"/>
            </a:avLst>
          </a:prstGeom>
          <a:solidFill>
            <a:srgbClr val="14171C"/>
          </a:solidFill>
        </p:spPr>
      </p:sp>
      <p:sp>
        <p:nvSpPr>
          <p:cNvPr id="96" name="Text 94"/>
          <p:cNvSpPr/>
          <p:nvPr/>
        </p:nvSpPr>
        <p:spPr>
          <a:xfrm>
            <a:off x="15817751" y="5923508"/>
            <a:ext cx="1555775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 + PRE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8375303" y="6294983"/>
            <a:ext cx="52432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</a:t>
            </a:r>
            <a:endParaRPr lang="en-US" sz="825" dirty="0"/>
          </a:p>
        </p:txBody>
      </p:sp>
      <p:sp>
        <p:nvSpPr>
          <p:cNvPr id="98" name="Text 96"/>
          <p:cNvSpPr/>
          <p:nvPr/>
        </p:nvSpPr>
        <p:spPr>
          <a:xfrm>
            <a:off x="8994874" y="6294983"/>
            <a:ext cx="385986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</a:t>
            </a:r>
            <a:endParaRPr lang="en-US" sz="825" dirty="0"/>
          </a:p>
        </p:txBody>
      </p:sp>
      <p:sp>
        <p:nvSpPr>
          <p:cNvPr id="99" name="Text 97"/>
          <p:cNvSpPr/>
          <p:nvPr/>
        </p:nvSpPr>
        <p:spPr>
          <a:xfrm>
            <a:off x="9476110" y="6294983"/>
            <a:ext cx="385986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9957346" y="6294983"/>
            <a:ext cx="52432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10576917" y="6294983"/>
            <a:ext cx="455116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825" dirty="0"/>
          </a:p>
        </p:txBody>
      </p:sp>
      <p:sp>
        <p:nvSpPr>
          <p:cNvPr id="102" name="Text 100"/>
          <p:cNvSpPr/>
          <p:nvPr/>
        </p:nvSpPr>
        <p:spPr>
          <a:xfrm>
            <a:off x="11127284" y="6294983"/>
            <a:ext cx="52432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</a:t>
            </a:r>
            <a:endParaRPr lang="en-US" sz="825" dirty="0"/>
          </a:p>
        </p:txBody>
      </p:sp>
      <p:sp>
        <p:nvSpPr>
          <p:cNvPr id="103" name="Shape 101"/>
          <p:cNvSpPr/>
          <p:nvPr/>
        </p:nvSpPr>
        <p:spPr>
          <a:xfrm>
            <a:off x="8375303" y="6547396"/>
            <a:ext cx="8998297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4" name="Text 102"/>
          <p:cNvSpPr/>
          <p:nvPr/>
        </p:nvSpPr>
        <p:spPr>
          <a:xfrm>
            <a:off x="8375303" y="6723608"/>
            <a:ext cx="247799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</a:t>
            </a:r>
            <a:endParaRPr lang="en-US" sz="2100" dirty="0"/>
          </a:p>
        </p:txBody>
      </p:sp>
      <p:sp>
        <p:nvSpPr>
          <p:cNvPr id="105" name="Text 103"/>
          <p:cNvSpPr/>
          <p:nvPr/>
        </p:nvSpPr>
        <p:spPr>
          <a:xfrm>
            <a:off x="8661202" y="6661696"/>
            <a:ext cx="1066800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小组分工</a:t>
            </a:r>
            <a:endParaRPr lang="en-US" sz="1950" dirty="0"/>
          </a:p>
        </p:txBody>
      </p:sp>
      <p:sp>
        <p:nvSpPr>
          <p:cNvPr id="106" name="Text 104"/>
          <p:cNvSpPr/>
          <p:nvPr/>
        </p:nvSpPr>
        <p:spPr>
          <a:xfrm>
            <a:off x="16133043" y="6842671"/>
            <a:ext cx="1316757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4 · Σ = 100%</a:t>
            </a:r>
            <a:endParaRPr lang="en-US" sz="825" dirty="0"/>
          </a:p>
        </p:txBody>
      </p:sp>
      <p:sp>
        <p:nvSpPr>
          <p:cNvPr id="107" name="Shape 105"/>
          <p:cNvSpPr/>
          <p:nvPr/>
        </p:nvSpPr>
        <p:spPr>
          <a:xfrm>
            <a:off x="8375303" y="7385596"/>
            <a:ext cx="1619622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8" name="Text 106"/>
          <p:cNvSpPr/>
          <p:nvPr/>
        </p:nvSpPr>
        <p:spPr>
          <a:xfrm>
            <a:off x="8375303" y="7152233"/>
            <a:ext cx="158152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成员</a:t>
            </a:r>
            <a:endParaRPr lang="en-US" sz="825" dirty="0"/>
          </a:p>
        </p:txBody>
      </p:sp>
      <p:sp>
        <p:nvSpPr>
          <p:cNvPr id="109" name="Shape 107"/>
          <p:cNvSpPr/>
          <p:nvPr/>
        </p:nvSpPr>
        <p:spPr>
          <a:xfrm>
            <a:off x="9994925" y="7385596"/>
            <a:ext cx="1979563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0" name="Text 108"/>
          <p:cNvSpPr/>
          <p:nvPr/>
        </p:nvSpPr>
        <p:spPr>
          <a:xfrm>
            <a:off x="9994925" y="7152233"/>
            <a:ext cx="1941463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角色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11974488" y="7385596"/>
            <a:ext cx="4319215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2" name="Text 110"/>
          <p:cNvSpPr/>
          <p:nvPr/>
        </p:nvSpPr>
        <p:spPr>
          <a:xfrm>
            <a:off x="11974488" y="7152233"/>
            <a:ext cx="4334492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主要贡献 · 模块 / 任务</a:t>
            </a:r>
            <a:endParaRPr lang="en-US" sz="825" dirty="0"/>
          </a:p>
        </p:txBody>
      </p:sp>
      <p:sp>
        <p:nvSpPr>
          <p:cNvPr id="113" name="Shape 111"/>
          <p:cNvSpPr/>
          <p:nvPr/>
        </p:nvSpPr>
        <p:spPr>
          <a:xfrm>
            <a:off x="16293703" y="7385596"/>
            <a:ext cx="1079897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4" name="Text 112"/>
          <p:cNvSpPr/>
          <p:nvPr/>
        </p:nvSpPr>
        <p:spPr>
          <a:xfrm>
            <a:off x="16217503" y="7152233"/>
            <a:ext cx="1117997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825" kern="0" spc="11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工时</a:t>
            </a:r>
            <a:endParaRPr lang="en-US" sz="825" dirty="0"/>
          </a:p>
        </p:txBody>
      </p:sp>
      <p:sp>
        <p:nvSpPr>
          <p:cNvPr id="115" name="Shape 113"/>
          <p:cNvSpPr/>
          <p:nvPr/>
        </p:nvSpPr>
        <p:spPr>
          <a:xfrm>
            <a:off x="8375303" y="7787506"/>
            <a:ext cx="161962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16" name="Text 114"/>
          <p:cNvSpPr/>
          <p:nvPr/>
        </p:nvSpPr>
        <p:spPr>
          <a:xfrm>
            <a:off x="8375303" y="7471321"/>
            <a:ext cx="15815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A93A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 姓名 A ]</a:t>
            </a:r>
            <a:endParaRPr lang="en-US" sz="1350" dirty="0"/>
          </a:p>
        </p:txBody>
      </p:sp>
      <p:sp>
        <p:nvSpPr>
          <p:cNvPr id="117" name="Shape 115"/>
          <p:cNvSpPr/>
          <p:nvPr/>
        </p:nvSpPr>
        <p:spPr>
          <a:xfrm>
            <a:off x="9994925" y="7787506"/>
            <a:ext cx="197956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18" name="Text 116"/>
          <p:cNvSpPr/>
          <p:nvPr/>
        </p:nvSpPr>
        <p:spPr>
          <a:xfrm>
            <a:off x="9994925" y="7471321"/>
            <a:ext cx="194146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kern="0" spc="5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ROLE ]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1974488" y="7787506"/>
            <a:ext cx="43192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0" name="Text 118"/>
          <p:cNvSpPr/>
          <p:nvPr/>
        </p:nvSpPr>
        <p:spPr>
          <a:xfrm>
            <a:off x="11974488" y="7471321"/>
            <a:ext cx="433449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 模块 / 任务 ]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16293703" y="7787506"/>
            <a:ext cx="10798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2" name="Text 120"/>
          <p:cNvSpPr/>
          <p:nvPr/>
        </p:nvSpPr>
        <p:spPr>
          <a:xfrm>
            <a:off x="16217503" y="7471321"/>
            <a:ext cx="111799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% ]</a:t>
            </a:r>
            <a:endParaRPr lang="en-US" sz="1350" dirty="0"/>
          </a:p>
        </p:txBody>
      </p:sp>
      <p:sp>
        <p:nvSpPr>
          <p:cNvPr id="123" name="Shape 121"/>
          <p:cNvSpPr/>
          <p:nvPr/>
        </p:nvSpPr>
        <p:spPr>
          <a:xfrm>
            <a:off x="8375303" y="8189416"/>
            <a:ext cx="161962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4" name="Text 122"/>
          <p:cNvSpPr/>
          <p:nvPr/>
        </p:nvSpPr>
        <p:spPr>
          <a:xfrm>
            <a:off x="8375303" y="7873231"/>
            <a:ext cx="15815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A93A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 姓名 B ]</a:t>
            </a:r>
            <a:endParaRPr lang="en-US" sz="1350" dirty="0"/>
          </a:p>
        </p:txBody>
      </p:sp>
      <p:sp>
        <p:nvSpPr>
          <p:cNvPr id="125" name="Shape 123"/>
          <p:cNvSpPr/>
          <p:nvPr/>
        </p:nvSpPr>
        <p:spPr>
          <a:xfrm>
            <a:off x="9994925" y="8189416"/>
            <a:ext cx="197956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6" name="Text 124"/>
          <p:cNvSpPr/>
          <p:nvPr/>
        </p:nvSpPr>
        <p:spPr>
          <a:xfrm>
            <a:off x="9994925" y="7873231"/>
            <a:ext cx="194146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kern="0" spc="5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ROLE ]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11974488" y="8189416"/>
            <a:ext cx="43192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28" name="Text 126"/>
          <p:cNvSpPr/>
          <p:nvPr/>
        </p:nvSpPr>
        <p:spPr>
          <a:xfrm>
            <a:off x="11974488" y="7873231"/>
            <a:ext cx="433449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 模块 / 任务 ]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16293703" y="8189416"/>
            <a:ext cx="10798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0" name="Text 128"/>
          <p:cNvSpPr/>
          <p:nvPr/>
        </p:nvSpPr>
        <p:spPr>
          <a:xfrm>
            <a:off x="16217503" y="7873231"/>
            <a:ext cx="111799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% ]</a:t>
            </a:r>
            <a:endParaRPr lang="en-US" sz="1350" dirty="0"/>
          </a:p>
        </p:txBody>
      </p:sp>
      <p:sp>
        <p:nvSpPr>
          <p:cNvPr id="131" name="Shape 129"/>
          <p:cNvSpPr/>
          <p:nvPr/>
        </p:nvSpPr>
        <p:spPr>
          <a:xfrm>
            <a:off x="8375303" y="8591327"/>
            <a:ext cx="161962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2" name="Text 130"/>
          <p:cNvSpPr/>
          <p:nvPr/>
        </p:nvSpPr>
        <p:spPr>
          <a:xfrm>
            <a:off x="8375303" y="8275141"/>
            <a:ext cx="15815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A93A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 姓名 C ]</a:t>
            </a:r>
            <a:endParaRPr lang="en-US" sz="1350" dirty="0"/>
          </a:p>
        </p:txBody>
      </p:sp>
      <p:sp>
        <p:nvSpPr>
          <p:cNvPr id="133" name="Shape 131"/>
          <p:cNvSpPr/>
          <p:nvPr/>
        </p:nvSpPr>
        <p:spPr>
          <a:xfrm>
            <a:off x="9994925" y="8591327"/>
            <a:ext cx="197956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4" name="Text 132"/>
          <p:cNvSpPr/>
          <p:nvPr/>
        </p:nvSpPr>
        <p:spPr>
          <a:xfrm>
            <a:off x="9994925" y="8275141"/>
            <a:ext cx="194146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kern="0" spc="5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ROLE ]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1974488" y="8591327"/>
            <a:ext cx="43192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6" name="Text 134"/>
          <p:cNvSpPr/>
          <p:nvPr/>
        </p:nvSpPr>
        <p:spPr>
          <a:xfrm>
            <a:off x="11974488" y="8275141"/>
            <a:ext cx="433449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 模块 / 任务 ]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16293703" y="8591327"/>
            <a:ext cx="10798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38" name="Text 136"/>
          <p:cNvSpPr/>
          <p:nvPr/>
        </p:nvSpPr>
        <p:spPr>
          <a:xfrm>
            <a:off x="16217503" y="8275141"/>
            <a:ext cx="111799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% ]</a:t>
            </a:r>
            <a:endParaRPr lang="en-US" sz="1350" dirty="0"/>
          </a:p>
        </p:txBody>
      </p:sp>
      <p:sp>
        <p:nvSpPr>
          <p:cNvPr id="139" name="Shape 137"/>
          <p:cNvSpPr/>
          <p:nvPr/>
        </p:nvSpPr>
        <p:spPr>
          <a:xfrm>
            <a:off x="8375303" y="8993237"/>
            <a:ext cx="1619622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40" name="Text 138"/>
          <p:cNvSpPr/>
          <p:nvPr/>
        </p:nvSpPr>
        <p:spPr>
          <a:xfrm>
            <a:off x="8375303" y="8677052"/>
            <a:ext cx="15815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A93A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 姓名 D ]</a:t>
            </a:r>
            <a:endParaRPr lang="en-US" sz="1350" dirty="0"/>
          </a:p>
        </p:txBody>
      </p:sp>
      <p:sp>
        <p:nvSpPr>
          <p:cNvPr id="141" name="Shape 139"/>
          <p:cNvSpPr/>
          <p:nvPr/>
        </p:nvSpPr>
        <p:spPr>
          <a:xfrm>
            <a:off x="9994925" y="8993237"/>
            <a:ext cx="197956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42" name="Text 140"/>
          <p:cNvSpPr/>
          <p:nvPr/>
        </p:nvSpPr>
        <p:spPr>
          <a:xfrm>
            <a:off x="9994925" y="8677052"/>
            <a:ext cx="194146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kern="0" spc="5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ROLE ]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11974488" y="8993237"/>
            <a:ext cx="431921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44" name="Text 142"/>
          <p:cNvSpPr/>
          <p:nvPr/>
        </p:nvSpPr>
        <p:spPr>
          <a:xfrm>
            <a:off x="11974488" y="8677052"/>
            <a:ext cx="433449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 模块 / 任务 ]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16293703" y="8993237"/>
            <a:ext cx="1079897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46" name="Text 144"/>
          <p:cNvSpPr/>
          <p:nvPr/>
        </p:nvSpPr>
        <p:spPr>
          <a:xfrm>
            <a:off x="16217503" y="8677052"/>
            <a:ext cx="111799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% ]</a:t>
            </a:r>
            <a:endParaRPr lang="en-US" sz="1350" dirty="0"/>
          </a:p>
        </p:txBody>
      </p:sp>
      <p:sp>
        <p:nvSpPr>
          <p:cNvPr id="147" name="Shape 145"/>
          <p:cNvSpPr/>
          <p:nvPr/>
        </p:nvSpPr>
        <p:spPr>
          <a:xfrm>
            <a:off x="914400" y="96059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8" name="Text 146"/>
          <p:cNvSpPr/>
          <p:nvPr/>
        </p:nvSpPr>
        <p:spPr>
          <a:xfrm>
            <a:off x="914400" y="9777413"/>
            <a:ext cx="3397662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 · PROCESS — SPEC · TIMELINE · TEAM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9331449" y="9729788"/>
            <a:ext cx="2407965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分工与工时占比待小组核对后填入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16781487" y="9777413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791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51353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05576" y="266700"/>
            <a:ext cx="1669033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0" name="Text 8"/>
          <p:cNvSpPr/>
          <p:nvPr/>
        </p:nvSpPr>
        <p:spPr>
          <a:xfrm>
            <a:off x="7877026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392939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4605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85167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509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2071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8412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18974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553158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5877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1" name="Text 19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3" name="Text 21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981200" y="1066800"/>
            <a:ext cx="270776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 · DO / DON'T (V1)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259050" y="1066800"/>
            <a:ext cx="21907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III · OF VII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4400" y="1390650"/>
            <a:ext cx="16952976" cy="1295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v1 做的事， 和刻意不做的事。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914400" y="2781300"/>
            <a:ext cx="14716125" cy="38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边界不是缺陷，是判断。"不做"的每一条，都是为了让"做"的每一条做透。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9393362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9" name="Shape 27"/>
          <p:cNvSpPr/>
          <p:nvPr/>
        </p:nvSpPr>
        <p:spPr>
          <a:xfrm>
            <a:off x="914400" y="3470895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0" name="Shape 28"/>
          <p:cNvSpPr/>
          <p:nvPr/>
        </p:nvSpPr>
        <p:spPr>
          <a:xfrm>
            <a:off x="9134475" y="3489945"/>
            <a:ext cx="9525" cy="5903416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1" name="Shape 29"/>
          <p:cNvSpPr/>
          <p:nvPr/>
        </p:nvSpPr>
        <p:spPr>
          <a:xfrm>
            <a:off x="1219200" y="4142408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2" name="Text 30"/>
          <p:cNvSpPr/>
          <p:nvPr/>
        </p:nvSpPr>
        <p:spPr>
          <a:xfrm>
            <a:off x="1219200" y="3704258"/>
            <a:ext cx="309116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1F5A3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✓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585466" y="3699495"/>
            <a:ext cx="1673796" cy="3667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做了 · v1 scope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96311" y="3856658"/>
            <a:ext cx="1509564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ITEMS · IN-SCOPE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1219200" y="5109642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6" name="Text 34"/>
          <p:cNvSpPr/>
          <p:nvPr/>
        </p:nvSpPr>
        <p:spPr>
          <a:xfrm>
            <a:off x="1524000" y="4413870"/>
            <a:ext cx="381515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本地文件 / 直链 / YouTube / Bilibili 输入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524000" y="4760565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四种来源，统一进 fetch stage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219200" y="5924476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9" name="Text 37"/>
          <p:cNvSpPr/>
          <p:nvPr/>
        </p:nvSpPr>
        <p:spPr>
          <a:xfrm>
            <a:off x="1524000" y="5228704"/>
            <a:ext cx="491871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中英文 ASR · Hook · 三幕 · 章节 · 引用 · 实体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524000" y="5575399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一条 episode 出 6 类结构化产物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1219200" y="6739310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2" name="Text 40"/>
          <p:cNvSpPr/>
          <p:nvPr/>
        </p:nvSpPr>
        <p:spPr>
          <a:xfrm>
            <a:off x="1524000" y="6043538"/>
            <a:ext cx="3529187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引用可点击跳原音频（毫秒级 seek）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524000" y="6390233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段内字符位置线性插值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1219200" y="7554144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5" name="Text 43"/>
          <p:cNvSpPr/>
          <p:nvPr/>
        </p:nvSpPr>
        <p:spPr>
          <a:xfrm>
            <a:off x="1524000" y="6858372"/>
            <a:ext cx="336140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秒 TTS 浓缩（豆包 BigTTS 2.0）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524000" y="7205067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按钮触发的独立子 pipeline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1219200" y="8368978"/>
            <a:ext cx="7610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8" name="Text 46"/>
          <p:cNvSpPr/>
          <p:nvPr/>
        </p:nvSpPr>
        <p:spPr>
          <a:xfrm>
            <a:off x="1524000" y="7673206"/>
            <a:ext cx="332822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Markdown / JSON / MP3 三种导出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524000" y="8019901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给人读 · 给机器读 · 给耳朵听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1524000" y="8488040"/>
            <a:ext cx="24717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WebSocket 实时进度推送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524000" y="8834735"/>
            <a:ext cx="7524845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单条长连接广播 stage 事件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9448800" y="4142408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3" name="Text 51"/>
          <p:cNvSpPr/>
          <p:nvPr/>
        </p:nvSpPr>
        <p:spPr>
          <a:xfrm>
            <a:off x="9448800" y="3704258"/>
            <a:ext cx="25018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✗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9756130" y="3699495"/>
            <a:ext cx="1639267" cy="3667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不做 · 刻意排除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5316944" y="3856658"/>
            <a:ext cx="1828056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ITEMS · OUT-OF-SCOPE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9448800" y="5109642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7" name="Text 55"/>
          <p:cNvSpPr/>
          <p:nvPr/>
        </p:nvSpPr>
        <p:spPr>
          <a:xfrm>
            <a:off x="9753600" y="4413870"/>
            <a:ext cx="1846287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多用户 · 公网部署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9753600" y="4760565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单用户场景，省一整套 auth 体系</a:t>
            </a:r>
            <a:endParaRPr lang="en-US" sz="1275" dirty="0"/>
          </a:p>
        </p:txBody>
      </p:sp>
      <p:sp>
        <p:nvSpPr>
          <p:cNvPr id="59" name="Shape 57"/>
          <p:cNvSpPr/>
          <p:nvPr/>
        </p:nvSpPr>
        <p:spPr>
          <a:xfrm>
            <a:off x="9448800" y="5924476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9753600" y="5228704"/>
            <a:ext cx="15430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实时直播流转写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9753600" y="5575399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离线场景已够用，省 streaming ASR</a:t>
            </a:r>
            <a:endParaRPr lang="en-US" sz="1275" dirty="0"/>
          </a:p>
        </p:txBody>
      </p:sp>
      <p:sp>
        <p:nvSpPr>
          <p:cNvPr id="62" name="Shape 60"/>
          <p:cNvSpPr/>
          <p:nvPr/>
        </p:nvSpPr>
        <p:spPr>
          <a:xfrm>
            <a:off x="9448800" y="6739310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3" name="Text 61"/>
          <p:cNvSpPr/>
          <p:nvPr/>
        </p:nvSpPr>
        <p:spPr>
          <a:xfrm>
            <a:off x="9753600" y="6043538"/>
            <a:ext cx="133350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视频画面分析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9753600" y="6390233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播客以音频为主，画面信息密度低</a:t>
            </a:r>
            <a:endParaRPr lang="en-US" sz="1275" dirty="0"/>
          </a:p>
        </p:txBody>
      </p:sp>
      <p:sp>
        <p:nvSpPr>
          <p:cNvPr id="65" name="Shape 63"/>
          <p:cNvSpPr/>
          <p:nvPr/>
        </p:nvSpPr>
        <p:spPr>
          <a:xfrm>
            <a:off x="9448800" y="7554144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6" name="Text 64"/>
          <p:cNvSpPr/>
          <p:nvPr/>
        </p:nvSpPr>
        <p:spPr>
          <a:xfrm>
            <a:off x="9753600" y="6858372"/>
            <a:ext cx="207183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 6 小时 / &gt; 1 GB 输入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9753600" y="7205067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超过此阈值需重新设计分片策略</a:t>
            </a:r>
            <a:endParaRPr lang="en-US" sz="1275" dirty="0"/>
          </a:p>
        </p:txBody>
      </p:sp>
      <p:sp>
        <p:nvSpPr>
          <p:cNvPr id="68" name="Shape 66"/>
          <p:cNvSpPr/>
          <p:nvPr/>
        </p:nvSpPr>
        <p:spPr>
          <a:xfrm>
            <a:off x="9448800" y="8368978"/>
            <a:ext cx="7620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9" name="Text 67"/>
          <p:cNvSpPr/>
          <p:nvPr/>
        </p:nvSpPr>
        <p:spPr>
          <a:xfrm>
            <a:off x="9753600" y="7673206"/>
            <a:ext cx="196006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 SaaS · 收费层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9753600" y="8019901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课程产物，不做计费 / quota / 法务</a:t>
            </a:r>
            <a:endParaRPr lang="en-US" sz="1275" dirty="0"/>
          </a:p>
        </p:txBody>
      </p:sp>
      <p:sp>
        <p:nvSpPr>
          <p:cNvPr id="71" name="Text 69"/>
          <p:cNvSpPr/>
          <p:nvPr/>
        </p:nvSpPr>
        <p:spPr>
          <a:xfrm>
            <a:off x="9753600" y="8488040"/>
            <a:ext cx="280587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多语言混合内容的同语言摘要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9753600" y="8834735"/>
            <a:ext cx="753465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列入 § 07 · open work</a:t>
            </a:r>
            <a:endParaRPr lang="en-US" sz="1275" dirty="0"/>
          </a:p>
        </p:txBody>
      </p:sp>
      <p:sp>
        <p:nvSpPr>
          <p:cNvPr id="73" name="Shape 71"/>
          <p:cNvSpPr/>
          <p:nvPr/>
        </p:nvSpPr>
        <p:spPr>
          <a:xfrm>
            <a:off x="914400" y="9621962"/>
            <a:ext cx="16459200" cy="557213"/>
          </a:xfrm>
          <a:prstGeom prst="rect">
            <a:avLst/>
          </a:prstGeom>
          <a:solidFill>
            <a:srgbClr val="F7F5F0"/>
          </a:solidFill>
        </p:spPr>
      </p:sp>
      <p:sp>
        <p:nvSpPr>
          <p:cNvPr id="74" name="Shape 72"/>
          <p:cNvSpPr/>
          <p:nvPr/>
        </p:nvSpPr>
        <p:spPr>
          <a:xfrm>
            <a:off x="914400" y="9621962"/>
            <a:ext cx="38100" cy="557213"/>
          </a:xfrm>
          <a:prstGeom prst="rect">
            <a:avLst/>
          </a:prstGeom>
          <a:solidFill>
            <a:srgbClr val="A8770F"/>
          </a:solidFill>
        </p:spPr>
      </p:sp>
      <p:sp>
        <p:nvSpPr>
          <p:cNvPr id="75" name="Text 73"/>
          <p:cNvSpPr/>
          <p:nvPr/>
        </p:nvSpPr>
        <p:spPr>
          <a:xfrm>
            <a:off x="1200150" y="9812462"/>
            <a:ext cx="2892868" cy="2143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A877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ARCHITECTURAL CONSTRAINTS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237360" y="9793412"/>
            <a:ext cx="1171464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127.0.0.1 (loopback) </a:t>
            </a: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 </a:t>
            </a: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asyncio · single </a:t>
            </a: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SQLite + FS </a:t>
            </a:r>
            <a:r>
              <a:rPr lang="en-US" sz="1275" kern="0" spc="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QUEUE </a:t>
            </a:r>
            <a:r>
              <a:rPr lang="en-US" sz="1275" kern="0" spc="2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(no Redis / Celery)</a:t>
            </a:r>
            <a:endParaRPr lang="en-US" sz="1275" dirty="0"/>
          </a:p>
        </p:txBody>
      </p:sp>
      <p:sp>
        <p:nvSpPr>
          <p:cNvPr id="77" name="Shape 75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8" name="Text 76"/>
          <p:cNvSpPr/>
          <p:nvPr/>
        </p:nvSpPr>
        <p:spPr>
          <a:xfrm>
            <a:off x="914400" y="9782175"/>
            <a:ext cx="1091208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 · SCOPE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087171" y="9744075"/>
            <a:ext cx="2612752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"What it doesn't do is also a design choice."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7919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51353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7702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182645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74609" y="266700"/>
            <a:ext cx="1669033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2" name="Text 10"/>
          <p:cNvSpPr/>
          <p:nvPr/>
        </p:nvSpPr>
        <p:spPr>
          <a:xfrm>
            <a:off x="9546059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0061972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509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2071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8412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18974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553158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5877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1" name="Text 19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3" name="Text 21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981200" y="1066800"/>
            <a:ext cx="376732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TWO UIS / ONE BACKEND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364718" y="1066800"/>
            <a:ext cx="208508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IV · OF VII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4400" y="1390650"/>
            <a:ext cx="16952976" cy="1295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两套并行 UI， 同一个后端。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914400" y="2781300"/>
            <a:ext cx="14716125" cy="38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v1 把功能讲清楚 · v2 把信息层级讲漂亮 · 共用一条 API 契约。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3470895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9" name="Shape 27"/>
          <p:cNvSpPr/>
          <p:nvPr/>
        </p:nvSpPr>
        <p:spPr>
          <a:xfrm>
            <a:off x="914400" y="3489945"/>
            <a:ext cx="8229600" cy="30718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9134475" y="3489945"/>
            <a:ext cx="9525" cy="30718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1" name="Shape 29"/>
          <p:cNvSpPr/>
          <p:nvPr/>
        </p:nvSpPr>
        <p:spPr>
          <a:xfrm>
            <a:off x="1219200" y="3861420"/>
            <a:ext cx="948705" cy="21431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2" name="Text 30"/>
          <p:cNvSpPr/>
          <p:nvPr/>
        </p:nvSpPr>
        <p:spPr>
          <a:xfrm>
            <a:off x="1295400" y="3899520"/>
            <a:ext cx="872505" cy="1762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· :5173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2301255" y="3718545"/>
            <a:ext cx="2625219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frontend/ — 功能优先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7644259" y="3832845"/>
            <a:ext cx="1261616" cy="2619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current production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19200" y="4256708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样式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2286000" y="4228133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 CSS · 渐变 · 系统字体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219200" y="4623420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动效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2286000" y="4594845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 · 状态切换走 CSS transition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219200" y="4990133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角色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2286000" y="4961558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把流程跑通，给用户拿到结果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219200" y="5356845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路由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2286000" y="5328270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react-router · 4 个主要页面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219200" y="5723558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状态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2286000" y="5694983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 Context · 本地 cache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219200" y="6090270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取舍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2286000" y="6061695"/>
            <a:ext cx="6739985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显式 &gt; 优雅 · loading 状态全部肉眼可见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144000" y="3489945"/>
            <a:ext cx="8229600" cy="30718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48" name="Shape 46"/>
          <p:cNvSpPr/>
          <p:nvPr/>
        </p:nvSpPr>
        <p:spPr>
          <a:xfrm>
            <a:off x="9448800" y="3861420"/>
            <a:ext cx="948705" cy="214313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49" name="Text 47"/>
          <p:cNvSpPr/>
          <p:nvPr/>
        </p:nvSpPr>
        <p:spPr>
          <a:xfrm>
            <a:off x="9525000" y="3899520"/>
            <a:ext cx="872505" cy="1762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 · :5174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0530855" y="3718545"/>
            <a:ext cx="3005232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frontend-v2/ — 内容优先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6391186" y="3832845"/>
            <a:ext cx="753814" cy="2619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visual A/B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448800" y="4256708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样式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0515600" y="4228133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Tailwind · Apple Liquid Glass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9448800" y="4623420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动效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0515600" y="4594845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framer-motion · Aceternity UI</a:t>
            </a:r>
            <a:endParaRPr lang="en-US" sz="1425" dirty="0"/>
          </a:p>
        </p:txBody>
      </p:sp>
      <p:sp>
        <p:nvSpPr>
          <p:cNvPr id="56" name="Text 54"/>
          <p:cNvSpPr/>
          <p:nvPr/>
        </p:nvSpPr>
        <p:spPr>
          <a:xfrm>
            <a:off x="9448800" y="4990133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角色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10515600" y="4961558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克制配色 · 让信息层级出来</a:t>
            </a:r>
            <a:endParaRPr lang="en-US" sz="1425" dirty="0"/>
          </a:p>
        </p:txBody>
      </p:sp>
      <p:sp>
        <p:nvSpPr>
          <p:cNvPr id="58" name="Text 56"/>
          <p:cNvSpPr/>
          <p:nvPr/>
        </p:nvSpPr>
        <p:spPr>
          <a:xfrm>
            <a:off x="9448800" y="5356845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路由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10515600" y="5328270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 v1 · 完全复用 API 契约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9448800" y="5723558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状态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10515600" y="5694983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 v1 · 仅替换视觉层</a:t>
            </a:r>
            <a:endParaRPr lang="en-US" sz="1425" dirty="0"/>
          </a:p>
        </p:txBody>
      </p:sp>
      <p:sp>
        <p:nvSpPr>
          <p:cNvPr id="62" name="Text 60"/>
          <p:cNvSpPr/>
          <p:nvPr/>
        </p:nvSpPr>
        <p:spPr>
          <a:xfrm>
            <a:off x="9448800" y="6090270"/>
            <a:ext cx="99060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取舍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10515600" y="6061695"/>
            <a:ext cx="6749796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优雅 &gt; 显式 · 微交互承担状态信号</a:t>
            </a:r>
            <a:endParaRPr lang="en-US" sz="1425" dirty="0"/>
          </a:p>
        </p:txBody>
      </p:sp>
      <p:sp>
        <p:nvSpPr>
          <p:cNvPr id="64" name="Text 62"/>
          <p:cNvSpPr/>
          <p:nvPr/>
        </p:nvSpPr>
        <p:spPr>
          <a:xfrm>
            <a:off x="914400" y="6804645"/>
            <a:ext cx="3412072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▣ DETAIL STUDIES · 详情页四个特别打磨的地方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360441" y="6771308"/>
            <a:ext cx="3446179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each chosen because it changes what "summary" feels like.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14400" y="8809583"/>
            <a:ext cx="164592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7" name="Shape 65"/>
          <p:cNvSpPr/>
          <p:nvPr/>
        </p:nvSpPr>
        <p:spPr>
          <a:xfrm>
            <a:off x="914400" y="7085633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8" name="Shape 66"/>
          <p:cNvSpPr/>
          <p:nvPr/>
        </p:nvSpPr>
        <p:spPr>
          <a:xfrm>
            <a:off x="5019675" y="7104683"/>
            <a:ext cx="9525" cy="1704901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9" name="Text 67"/>
          <p:cNvSpPr/>
          <p:nvPr/>
        </p:nvSpPr>
        <p:spPr>
          <a:xfrm>
            <a:off x="1123950" y="7276133"/>
            <a:ext cx="3796760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01 — HOOK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123950" y="7490445"/>
            <a:ext cx="3796760" cy="289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Hook 大字引用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123950" y="7837140"/>
            <a:ext cx="379676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字内一句话定位全集主题。视觉上最大的字，逻辑上最先看到的字。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123950" y="8423821"/>
            <a:ext cx="37967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↳ 让 "讲了啥" 在一眼之内成立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134475" y="7104683"/>
            <a:ext cx="9525" cy="1704901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4" name="Text 72"/>
          <p:cNvSpPr/>
          <p:nvPr/>
        </p:nvSpPr>
        <p:spPr>
          <a:xfrm>
            <a:off x="5238750" y="7276133"/>
            <a:ext cx="3796760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02 — STICKY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5238750" y="7490445"/>
            <a:ext cx="3796760" cy="289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Sticky 原音频播放器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5238750" y="7837140"/>
            <a:ext cx="379676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滚动时永远在顶。无论你跳到哪一章，播放控制都在手边，不用回到页头。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238750" y="8423821"/>
            <a:ext cx="37967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↳ 阅读和听是同一件事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13249275" y="7104683"/>
            <a:ext cx="9525" cy="1704901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9" name="Text 77"/>
          <p:cNvSpPr/>
          <p:nvPr/>
        </p:nvSpPr>
        <p:spPr>
          <a:xfrm>
            <a:off x="9353550" y="7276133"/>
            <a:ext cx="3796760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03 — SEEK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9353550" y="7490445"/>
            <a:ext cx="3796760" cy="289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章节引用可点击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9353550" y="7837140"/>
            <a:ext cx="379676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时间戳由段内字符位置线性插值；点一下 → seek + 自动播放 + 滚动跟随。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353550" y="8423821"/>
            <a:ext cx="37967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↳ 三动作合成一个手势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3468350" y="7276133"/>
            <a:ext cx="3806571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04 — DIGEST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13468350" y="7490445"/>
            <a:ext cx="3806571" cy="289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Digest 流动彩虹按钮</a:t>
            </a:r>
            <a:endParaRPr lang="en-US" sz="1650" dirty="0"/>
          </a:p>
        </p:txBody>
      </p:sp>
      <p:sp>
        <p:nvSpPr>
          <p:cNvPr id="85" name="Text 83"/>
          <p:cNvSpPr/>
          <p:nvPr/>
        </p:nvSpPr>
        <p:spPr>
          <a:xfrm>
            <a:off x="13468350" y="7837140"/>
            <a:ext cx="3806571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视觉上区别于黑色原音频按钮 —— AI 产物在 UI 上一眼可辨。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3468350" y="8423821"/>
            <a:ext cx="380657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↳ AI 输出要可识别、可拒绝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8" name="Text 86"/>
          <p:cNvSpPr/>
          <p:nvPr/>
        </p:nvSpPr>
        <p:spPr>
          <a:xfrm>
            <a:off x="914400" y="9782175"/>
            <a:ext cx="219075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 · FRONTEND — V1 / V2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590062" y="9744075"/>
            <a:ext cx="2709223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screenshots &amp; scroll-GIF available on request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9926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488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971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76533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0088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22570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09088" y="266700"/>
            <a:ext cx="1460376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4" name="Text 12"/>
          <p:cNvSpPr/>
          <p:nvPr/>
        </p:nvSpPr>
        <p:spPr>
          <a:xfrm>
            <a:off x="10380538" y="338138"/>
            <a:ext cx="70715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05·1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106745" y="328613"/>
            <a:ext cx="92437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后端·8 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40914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235682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30136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606983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61741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067359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3" name="Text 21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5" name="Text 23"/>
          <p:cNvSpPr/>
          <p:nvPr/>
        </p:nvSpPr>
        <p:spPr>
          <a:xfrm>
            <a:off x="1390650" y="1066800"/>
            <a:ext cx="20193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 · PART 1 / 2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3467100" y="1066800"/>
            <a:ext cx="447370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· 8-STAGE PIPELINE · CONTRACTS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470460" y="1066800"/>
            <a:ext cx="197934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V · OF VII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4400" y="1390650"/>
            <a:ext cx="16952976" cy="1043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18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一条链接，过八段流水线 —— 前端拿到一份可点击的摘要。</a:t>
            </a: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914400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914400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1" name="Shape 29"/>
          <p:cNvSpPr/>
          <p:nvPr/>
        </p:nvSpPr>
        <p:spPr>
          <a:xfrm>
            <a:off x="914400" y="2777430"/>
            <a:ext cx="2007394" cy="38100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32" name="Text 30"/>
          <p:cNvSpPr/>
          <p:nvPr/>
        </p:nvSpPr>
        <p:spPr>
          <a:xfrm>
            <a:off x="1085850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 · DOWNLOAD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085850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fetch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085850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yt-dlp / ffmpeg 归一化音频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85850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6" name="Text 34"/>
          <p:cNvSpPr/>
          <p:nvPr/>
        </p:nvSpPr>
        <p:spPr>
          <a:xfrm>
            <a:off x="1085850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15s </a:t>
            </a: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1h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78944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Shape 36"/>
          <p:cNvSpPr/>
          <p:nvPr/>
        </p:nvSpPr>
        <p:spPr>
          <a:xfrm>
            <a:off x="2978944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9" name="Shape 37"/>
          <p:cNvSpPr/>
          <p:nvPr/>
        </p:nvSpPr>
        <p:spPr>
          <a:xfrm>
            <a:off x="2978944" y="2777430"/>
            <a:ext cx="2007394" cy="38100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40" name="Text 38"/>
          <p:cNvSpPr/>
          <p:nvPr/>
        </p:nvSpPr>
        <p:spPr>
          <a:xfrm>
            <a:off x="3150394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 · ASR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3150394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transcribe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3150394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 Seed-ASR fallback Whisper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50394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4" name="Text 42"/>
          <p:cNvSpPr/>
          <p:nvPr/>
        </p:nvSpPr>
        <p:spPr>
          <a:xfrm>
            <a:off x="3150394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90s </a:t>
            </a: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1h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43488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Shape 44"/>
          <p:cNvSpPr/>
          <p:nvPr/>
        </p:nvSpPr>
        <p:spPr>
          <a:xfrm>
            <a:off x="5043488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7" name="Shape 45"/>
          <p:cNvSpPr/>
          <p:nvPr/>
        </p:nvSpPr>
        <p:spPr>
          <a:xfrm>
            <a:off x="5043488" y="2777430"/>
            <a:ext cx="2007394" cy="38100"/>
          </a:xfrm>
          <a:prstGeom prst="rect">
            <a:avLst/>
          </a:prstGeom>
          <a:solidFill>
            <a:srgbClr val="5B3A8F"/>
          </a:solidFill>
        </p:spPr>
      </p:sp>
      <p:sp>
        <p:nvSpPr>
          <p:cNvPr id="48" name="Text 46"/>
          <p:cNvSpPr/>
          <p:nvPr/>
        </p:nvSpPr>
        <p:spPr>
          <a:xfrm>
            <a:off x="5214938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3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 · LLM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5214938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hook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5214938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DeepSeek 一句话定位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214938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2" name="Text 50"/>
          <p:cNvSpPr/>
          <p:nvPr/>
        </p:nvSpPr>
        <p:spPr>
          <a:xfrm>
            <a:off x="5214938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108031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Shape 52"/>
          <p:cNvSpPr/>
          <p:nvPr/>
        </p:nvSpPr>
        <p:spPr>
          <a:xfrm>
            <a:off x="7108031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5" name="Shape 53"/>
          <p:cNvSpPr/>
          <p:nvPr/>
        </p:nvSpPr>
        <p:spPr>
          <a:xfrm>
            <a:off x="7108031" y="2777430"/>
            <a:ext cx="2007394" cy="38100"/>
          </a:xfrm>
          <a:prstGeom prst="rect">
            <a:avLst/>
          </a:prstGeom>
          <a:solidFill>
            <a:srgbClr val="5B3A8F"/>
          </a:solidFill>
        </p:spPr>
      </p:sp>
      <p:sp>
        <p:nvSpPr>
          <p:cNvPr id="56" name="Text 54"/>
          <p:cNvSpPr/>
          <p:nvPr/>
        </p:nvSpPr>
        <p:spPr>
          <a:xfrm>
            <a:off x="7279481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3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 · LLM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7279481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three-act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7279481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DeepSeek 三幕摘要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279481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7279481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172575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2" name="Shape 60"/>
          <p:cNvSpPr/>
          <p:nvPr/>
        </p:nvSpPr>
        <p:spPr>
          <a:xfrm>
            <a:off x="9172575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3" name="Shape 61"/>
          <p:cNvSpPr/>
          <p:nvPr/>
        </p:nvSpPr>
        <p:spPr>
          <a:xfrm>
            <a:off x="9172575" y="2777430"/>
            <a:ext cx="2007394" cy="38100"/>
          </a:xfrm>
          <a:prstGeom prst="rect">
            <a:avLst/>
          </a:prstGeom>
          <a:solidFill>
            <a:srgbClr val="5B3A8F"/>
          </a:solidFill>
        </p:spPr>
      </p:sp>
      <p:sp>
        <p:nvSpPr>
          <p:cNvPr id="64" name="Text 62"/>
          <p:cNvSpPr/>
          <p:nvPr/>
        </p:nvSpPr>
        <p:spPr>
          <a:xfrm>
            <a:off x="9344025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3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L5 · LLM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9344025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chapters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9344025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DeepSeek 章节 outline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344025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8" name="Text 66"/>
          <p:cNvSpPr/>
          <p:nvPr/>
        </p:nvSpPr>
        <p:spPr>
          <a:xfrm>
            <a:off x="9344025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1237119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Shape 68"/>
          <p:cNvSpPr/>
          <p:nvPr/>
        </p:nvSpPr>
        <p:spPr>
          <a:xfrm>
            <a:off x="11237119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1" name="Shape 69"/>
          <p:cNvSpPr/>
          <p:nvPr/>
        </p:nvSpPr>
        <p:spPr>
          <a:xfrm>
            <a:off x="11237119" y="2777430"/>
            <a:ext cx="2007394" cy="38100"/>
          </a:xfrm>
          <a:prstGeom prst="rect">
            <a:avLst/>
          </a:prstGeom>
          <a:solidFill>
            <a:srgbClr val="A02A1E"/>
          </a:solidFill>
        </p:spPr>
      </p:sp>
      <p:sp>
        <p:nvSpPr>
          <p:cNvPr id="72" name="Text 70"/>
          <p:cNvSpPr/>
          <p:nvPr/>
        </p:nvSpPr>
        <p:spPr>
          <a:xfrm>
            <a:off x="11408569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A02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L6 · SELF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11408569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quote-verify</a:t>
            </a:r>
            <a:endParaRPr lang="en-US" sz="2100" dirty="0"/>
          </a:p>
        </p:txBody>
      </p:sp>
      <p:sp>
        <p:nvSpPr>
          <p:cNvPr id="74" name="Text 72"/>
          <p:cNvSpPr/>
          <p:nvPr/>
        </p:nvSpPr>
        <p:spPr>
          <a:xfrm>
            <a:off x="11408569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自研 · 字符位置插值 毫秒级时间戳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11408569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6" name="Text 74"/>
          <p:cNvSpPr/>
          <p:nvPr/>
        </p:nvSpPr>
        <p:spPr>
          <a:xfrm>
            <a:off x="11408569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200ms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3301663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Shape 76"/>
          <p:cNvSpPr/>
          <p:nvPr/>
        </p:nvSpPr>
        <p:spPr>
          <a:xfrm>
            <a:off x="13301663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9" name="Shape 77"/>
          <p:cNvSpPr/>
          <p:nvPr/>
        </p:nvSpPr>
        <p:spPr>
          <a:xfrm>
            <a:off x="13301663" y="2777430"/>
            <a:ext cx="2007394" cy="38100"/>
          </a:xfrm>
          <a:prstGeom prst="rect">
            <a:avLst/>
          </a:prstGeom>
          <a:solidFill>
            <a:srgbClr val="5B3A8F"/>
          </a:solidFill>
        </p:spPr>
      </p:sp>
      <p:sp>
        <p:nvSpPr>
          <p:cNvPr id="80" name="Text 78"/>
          <p:cNvSpPr/>
          <p:nvPr/>
        </p:nvSpPr>
        <p:spPr>
          <a:xfrm>
            <a:off x="13473113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3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L7 · LLM</a:t>
            </a:r>
            <a:endParaRPr lang="en-US" sz="975" dirty="0"/>
          </a:p>
        </p:txBody>
      </p:sp>
      <p:sp>
        <p:nvSpPr>
          <p:cNvPr id="81" name="Text 79"/>
          <p:cNvSpPr/>
          <p:nvPr/>
        </p:nvSpPr>
        <p:spPr>
          <a:xfrm>
            <a:off x="13473113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entities</a:t>
            </a:r>
            <a:endParaRPr lang="en-US" sz="2100" dirty="0"/>
          </a:p>
        </p:txBody>
      </p:sp>
      <p:sp>
        <p:nvSpPr>
          <p:cNvPr id="82" name="Text 80"/>
          <p:cNvSpPr/>
          <p:nvPr/>
        </p:nvSpPr>
        <p:spPr>
          <a:xfrm>
            <a:off x="13473113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DeepSeek 人 / 书 / 产品名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3473113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4" name="Text 82"/>
          <p:cNvSpPr/>
          <p:nvPr/>
        </p:nvSpPr>
        <p:spPr>
          <a:xfrm>
            <a:off x="13473113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8s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15366206" y="2777430"/>
            <a:ext cx="2007394" cy="175818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Shape 84"/>
          <p:cNvSpPr/>
          <p:nvPr/>
        </p:nvSpPr>
        <p:spPr>
          <a:xfrm>
            <a:off x="15366206" y="4526087"/>
            <a:ext cx="20073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7" name="Shape 85"/>
          <p:cNvSpPr/>
          <p:nvPr/>
        </p:nvSpPr>
        <p:spPr>
          <a:xfrm>
            <a:off x="15366206" y="2777430"/>
            <a:ext cx="2007394" cy="38100"/>
          </a:xfrm>
          <a:prstGeom prst="rect">
            <a:avLst/>
          </a:prstGeom>
          <a:solidFill>
            <a:srgbClr val="A8770F"/>
          </a:solidFill>
        </p:spPr>
      </p:sp>
      <p:sp>
        <p:nvSpPr>
          <p:cNvPr id="88" name="Text 86"/>
          <p:cNvSpPr/>
          <p:nvPr/>
        </p:nvSpPr>
        <p:spPr>
          <a:xfrm>
            <a:off x="15537656" y="2967930"/>
            <a:ext cx="174069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A877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L8 · EXPORT</a:t>
            </a:r>
            <a:endParaRPr lang="en-US" sz="975" dirty="0"/>
          </a:p>
        </p:txBody>
      </p:sp>
      <p:sp>
        <p:nvSpPr>
          <p:cNvPr id="89" name="Text 87"/>
          <p:cNvSpPr/>
          <p:nvPr/>
        </p:nvSpPr>
        <p:spPr>
          <a:xfrm>
            <a:off x="15537656" y="3210818"/>
            <a:ext cx="1740694" cy="344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export</a:t>
            </a:r>
            <a:endParaRPr lang="en-US" sz="2100" dirty="0"/>
          </a:p>
        </p:txBody>
      </p:sp>
      <p:sp>
        <p:nvSpPr>
          <p:cNvPr id="90" name="Text 88"/>
          <p:cNvSpPr/>
          <p:nvPr/>
        </p:nvSpPr>
        <p:spPr>
          <a:xfrm>
            <a:off x="15537656" y="3593678"/>
            <a:ext cx="174069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md · json 产物落盘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5537656" y="4130799"/>
            <a:ext cx="1664494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2" name="Text 90"/>
          <p:cNvSpPr/>
          <p:nvPr/>
        </p:nvSpPr>
        <p:spPr>
          <a:xfrm>
            <a:off x="15537656" y="4216524"/>
            <a:ext cx="1740694" cy="214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</a:t>
            </a:r>
            <a:r>
              <a:rPr lang="en-US" sz="1050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2s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914400" y="4668962"/>
            <a:ext cx="111792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下载 / ASR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2222822" y="4676105"/>
            <a:ext cx="557808" cy="2143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2971130" y="4668962"/>
            <a:ext cx="57380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自研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3735437" y="4668962"/>
            <a:ext cx="57380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导出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11908259" y="4649912"/>
            <a:ext cx="562930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i="1" kern="0" spc="26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＋ TTS digest · 按钮触发的独立子 pipeline · 豆包 BigTTS 2.0 (wss) → 详见下一页</a:t>
            </a:r>
            <a:endParaRPr lang="en-US" sz="1275" dirty="0"/>
          </a:p>
        </p:txBody>
      </p:sp>
      <p:sp>
        <p:nvSpPr>
          <p:cNvPr id="98" name="Shape 96"/>
          <p:cNvSpPr/>
          <p:nvPr/>
        </p:nvSpPr>
        <p:spPr>
          <a:xfrm>
            <a:off x="914400" y="7964612"/>
            <a:ext cx="164592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9" name="Shape 97"/>
          <p:cNvSpPr/>
          <p:nvPr/>
        </p:nvSpPr>
        <p:spPr>
          <a:xfrm>
            <a:off x="914400" y="5145212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0" name="Shape 98"/>
          <p:cNvSpPr/>
          <p:nvPr/>
        </p:nvSpPr>
        <p:spPr>
          <a:xfrm>
            <a:off x="9134475" y="5164262"/>
            <a:ext cx="9525" cy="280035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101" name="Text 99"/>
          <p:cNvSpPr/>
          <p:nvPr/>
        </p:nvSpPr>
        <p:spPr>
          <a:xfrm>
            <a:off x="1181100" y="5388099"/>
            <a:ext cx="399083" cy="3571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A</a:t>
            </a:r>
            <a:endParaRPr lang="en-US" sz="1950" dirty="0"/>
          </a:p>
        </p:txBody>
      </p:sp>
      <p:sp>
        <p:nvSpPr>
          <p:cNvPr id="102" name="Text 100"/>
          <p:cNvSpPr/>
          <p:nvPr/>
        </p:nvSpPr>
        <p:spPr>
          <a:xfrm>
            <a:off x="1599233" y="5373812"/>
            <a:ext cx="2645223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Engineering Decisions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1181100" y="5869112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独立 RETRY</a:t>
            </a:r>
            <a:endParaRPr lang="en-US" sz="975" dirty="0"/>
          </a:p>
        </p:txBody>
      </p:sp>
      <p:sp>
        <p:nvSpPr>
          <p:cNvPr id="104" name="Text 102"/>
          <p:cNvSpPr/>
          <p:nvPr/>
        </p:nvSpPr>
        <p:spPr>
          <a:xfrm>
            <a:off x="2571750" y="5840537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 stage 走 </a:t>
            </a:r>
            <a:r>
              <a:rPr lang="en-US" sz="1350" dirty="0">
                <a:solidFill>
                  <a:srgbClr val="1F3C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tenacity </a:t>
            </a: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指数退避，单步失败不重跑整条作业。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1181100" y="6221537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进度落盘</a:t>
            </a:r>
            <a:endParaRPr lang="en-US" sz="975" dirty="0"/>
          </a:p>
        </p:txBody>
      </p:sp>
      <p:sp>
        <p:nvSpPr>
          <p:cNvPr id="106" name="Text 104"/>
          <p:cNvSpPr/>
          <p:nvPr/>
        </p:nvSpPr>
        <p:spPr>
          <a:xfrm>
            <a:off x="2571750" y="6192962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F3C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stage_progress </a:t>
            </a: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 SQLite —— 进程重启可继续。</a:t>
            </a:r>
            <a:endParaRPr lang="en-US" sz="1350" dirty="0"/>
          </a:p>
        </p:txBody>
      </p:sp>
      <p:sp>
        <p:nvSpPr>
          <p:cNvPr id="107" name="Text 105"/>
          <p:cNvSpPr/>
          <p:nvPr/>
        </p:nvSpPr>
        <p:spPr>
          <a:xfrm>
            <a:off x="1181100" y="6573962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事件总线</a:t>
            </a:r>
            <a:endParaRPr lang="en-US" sz="975" dirty="0"/>
          </a:p>
        </p:txBody>
      </p:sp>
      <p:sp>
        <p:nvSpPr>
          <p:cNvPr id="108" name="Text 106"/>
          <p:cNvSpPr/>
          <p:nvPr/>
        </p:nvSpPr>
        <p:spPr>
          <a:xfrm>
            <a:off x="2571750" y="6545387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状态变化广播到 </a:t>
            </a:r>
            <a:r>
              <a:rPr lang="en-US" sz="1350" dirty="0">
                <a:solidFill>
                  <a:srgbClr val="1F3C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WebSocket</a:t>
            </a: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，前端实时看到进度。</a:t>
            </a:r>
            <a:endParaRPr lang="en-US" sz="1350" dirty="0"/>
          </a:p>
        </p:txBody>
      </p:sp>
      <p:sp>
        <p:nvSpPr>
          <p:cNvPr id="109" name="Text 107"/>
          <p:cNvSpPr/>
          <p:nvPr/>
        </p:nvSpPr>
        <p:spPr>
          <a:xfrm>
            <a:off x="1181100" y="6926387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单进程</a:t>
            </a:r>
            <a:endParaRPr lang="en-US" sz="975" dirty="0"/>
          </a:p>
        </p:txBody>
      </p:sp>
      <p:sp>
        <p:nvSpPr>
          <p:cNvPr id="110" name="Text 108"/>
          <p:cNvSpPr/>
          <p:nvPr/>
        </p:nvSpPr>
        <p:spPr>
          <a:xfrm>
            <a:off x="2571750" y="6897812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F3C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asyncio</a:t>
            </a: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，非 Celery / Redis —— 本地够用，留扩展口。</a:t>
            </a:r>
            <a:endParaRPr lang="en-US" sz="1350" dirty="0"/>
          </a:p>
        </p:txBody>
      </p:sp>
      <p:sp>
        <p:nvSpPr>
          <p:cNvPr id="111" name="Text 109"/>
          <p:cNvSpPr/>
          <p:nvPr/>
        </p:nvSpPr>
        <p:spPr>
          <a:xfrm>
            <a:off x="1181100" y="7278812"/>
            <a:ext cx="131445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幂等</a:t>
            </a:r>
            <a:endParaRPr lang="en-US" sz="975" dirty="0"/>
          </a:p>
        </p:txBody>
      </p:sp>
      <p:sp>
        <p:nvSpPr>
          <p:cNvPr id="112" name="Text 110"/>
          <p:cNvSpPr/>
          <p:nvPr/>
        </p:nvSpPr>
        <p:spPr>
          <a:xfrm>
            <a:off x="2571750" y="7250237"/>
            <a:ext cx="6484906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 stage 由 (episode_id, stage) 主键去重，重跑不创建脏数据。</a:t>
            </a:r>
            <a:endParaRPr lang="en-US" sz="1350" dirty="0"/>
          </a:p>
        </p:txBody>
      </p:sp>
      <p:sp>
        <p:nvSpPr>
          <p:cNvPr id="113" name="Text 111"/>
          <p:cNvSpPr/>
          <p:nvPr/>
        </p:nvSpPr>
        <p:spPr>
          <a:xfrm>
            <a:off x="9410700" y="5388099"/>
            <a:ext cx="374824" cy="3571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B</a:t>
            </a:r>
            <a:endParaRPr lang="en-US" sz="1950" dirty="0"/>
          </a:p>
        </p:txBody>
      </p:sp>
      <p:sp>
        <p:nvSpPr>
          <p:cNvPr id="114" name="Text 112"/>
          <p:cNvSpPr/>
          <p:nvPr/>
        </p:nvSpPr>
        <p:spPr>
          <a:xfrm>
            <a:off x="9804574" y="5373812"/>
            <a:ext cx="2789932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Front ⇄ Back · Contract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9410700" y="5869112"/>
            <a:ext cx="131445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</a:t>
            </a:r>
            <a:endParaRPr lang="en-US" sz="975" dirty="0"/>
          </a:p>
        </p:txBody>
      </p:sp>
      <p:sp>
        <p:nvSpPr>
          <p:cNvPr id="116" name="Text 114"/>
          <p:cNvSpPr/>
          <p:nvPr/>
        </p:nvSpPr>
        <p:spPr>
          <a:xfrm>
            <a:off x="10801350" y="5840537"/>
            <a:ext cx="6494717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/api/episodes/* </a:t>
            </a: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调度 episode 生命周期。</a:t>
            </a:r>
            <a:endParaRPr lang="en-US" sz="1350" dirty="0"/>
          </a:p>
        </p:txBody>
      </p:sp>
      <p:sp>
        <p:nvSpPr>
          <p:cNvPr id="117" name="Text 115"/>
          <p:cNvSpPr/>
          <p:nvPr/>
        </p:nvSpPr>
        <p:spPr>
          <a:xfrm>
            <a:off x="9410700" y="6235824"/>
            <a:ext cx="131445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WEBSOCKET</a:t>
            </a:r>
            <a:endParaRPr lang="en-US" sz="975" dirty="0"/>
          </a:p>
        </p:txBody>
      </p:sp>
      <p:sp>
        <p:nvSpPr>
          <p:cNvPr id="118" name="Text 116"/>
          <p:cNvSpPr/>
          <p:nvPr/>
        </p:nvSpPr>
        <p:spPr>
          <a:xfrm>
            <a:off x="10801350" y="6207249"/>
            <a:ext cx="6494717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/api/ws/jobs </a:t>
            </a: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单条长连接广播 stage 事件。</a:t>
            </a:r>
            <a:endParaRPr lang="en-US" sz="1350" dirty="0"/>
          </a:p>
        </p:txBody>
      </p:sp>
      <p:sp>
        <p:nvSpPr>
          <p:cNvPr id="119" name="Text 117"/>
          <p:cNvSpPr/>
          <p:nvPr/>
        </p:nvSpPr>
        <p:spPr>
          <a:xfrm>
            <a:off x="9410700" y="6602537"/>
            <a:ext cx="131445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</a:t>
            </a:r>
            <a:endParaRPr lang="en-US" sz="975" dirty="0"/>
          </a:p>
        </p:txBody>
      </p:sp>
      <p:sp>
        <p:nvSpPr>
          <p:cNvPr id="120" name="Text 118"/>
          <p:cNvSpPr/>
          <p:nvPr/>
        </p:nvSpPr>
        <p:spPr>
          <a:xfrm>
            <a:off x="10801350" y="6573962"/>
            <a:ext cx="6494717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serve </a:t>
            </a: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FastAPI 同时托管 SPA 与产物文件。</a:t>
            </a:r>
            <a:endParaRPr lang="en-US" sz="1350" dirty="0"/>
          </a:p>
        </p:txBody>
      </p:sp>
      <p:sp>
        <p:nvSpPr>
          <p:cNvPr id="121" name="Text 119"/>
          <p:cNvSpPr/>
          <p:nvPr/>
        </p:nvSpPr>
        <p:spPr>
          <a:xfrm>
            <a:off x="9410700" y="6969249"/>
            <a:ext cx="1314450" cy="8239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契约文件</a:t>
            </a:r>
            <a:endParaRPr lang="en-US" sz="975" dirty="0"/>
          </a:p>
        </p:txBody>
      </p:sp>
      <p:sp>
        <p:nvSpPr>
          <p:cNvPr id="122" name="Text 120"/>
          <p:cNvSpPr/>
          <p:nvPr/>
        </p:nvSpPr>
        <p:spPr>
          <a:xfrm>
            <a:off x="10801350" y="6940674"/>
            <a:ext cx="6494717" cy="8524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contracts/http-api.md contracts/job-events.md contracts/episode-output.schema.json</a:t>
            </a:r>
            <a:endParaRPr lang="en-US" sz="1350" dirty="0"/>
          </a:p>
        </p:txBody>
      </p:sp>
      <p:sp>
        <p:nvSpPr>
          <p:cNvPr id="123" name="Shape 121"/>
          <p:cNvSpPr/>
          <p:nvPr/>
        </p:nvSpPr>
        <p:spPr>
          <a:xfrm>
            <a:off x="914400" y="96059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4" name="Text 122"/>
          <p:cNvSpPr/>
          <p:nvPr/>
        </p:nvSpPr>
        <p:spPr>
          <a:xfrm>
            <a:off x="914400" y="9777413"/>
            <a:ext cx="4007538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 · PART 1 — BACKEND · 8 STAGES + CONTRACTS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9430866" y="9729788"/>
            <a:ext cx="2806718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end-to-end ≈ 2 min 30 s for a 60 min episode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16781487" y="9777413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9926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488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971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76533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0088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22570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80538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896451" y="328613"/>
            <a:ext cx="92437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后端·8 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669464" y="266700"/>
            <a:ext cx="1460450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6" name="Text 14"/>
          <p:cNvSpPr/>
          <p:nvPr/>
        </p:nvSpPr>
        <p:spPr>
          <a:xfrm>
            <a:off x="11840914" y="338138"/>
            <a:ext cx="70715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05·2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2567121" y="328613"/>
            <a:ext cx="863352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外部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30136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606983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61741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067359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3" name="Text 21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5" name="Text 23"/>
          <p:cNvSpPr/>
          <p:nvPr/>
        </p:nvSpPr>
        <p:spPr>
          <a:xfrm>
            <a:off x="1390650" y="1066800"/>
            <a:ext cx="20193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 · PART 2 / 2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3467100" y="1066800"/>
            <a:ext cx="4002786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EXTERNAL API SURFACE · 3 PROVIDERS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470460" y="1066800"/>
            <a:ext cx="197934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V · OF VII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4400" y="1390650"/>
            <a:ext cx="16952976" cy="1085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kern="0" spc="-19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三条外部依赖， 每一条都有备胎。</a:t>
            </a:r>
            <a:endParaRPr lang="en-US" sz="3750" dirty="0"/>
          </a:p>
        </p:txBody>
      </p:sp>
      <p:sp>
        <p:nvSpPr>
          <p:cNvPr id="29" name="Text 27"/>
          <p:cNvSpPr/>
          <p:nvPr/>
        </p:nvSpPr>
        <p:spPr>
          <a:xfrm>
            <a:off x="914400" y="2571750"/>
            <a:ext cx="14716125" cy="38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ASR / LLM / TTS 三家 provider —— 由 </a:t>
            </a:r>
            <a:r>
              <a:rPr lang="en-US" sz="195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Protocol-typed factory </a:t>
            </a:r>
            <a:r>
              <a:rPr lang="en-US" sz="19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抽象，配置一行 env 切换。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400" y="3204195"/>
            <a:ext cx="164592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1" name="Shape 29"/>
          <p:cNvSpPr/>
          <p:nvPr/>
        </p:nvSpPr>
        <p:spPr>
          <a:xfrm>
            <a:off x="914400" y="3223245"/>
            <a:ext cx="5486400" cy="47005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Shape 30"/>
          <p:cNvSpPr/>
          <p:nvPr/>
        </p:nvSpPr>
        <p:spPr>
          <a:xfrm>
            <a:off x="6391275" y="3223245"/>
            <a:ext cx="9525" cy="4700588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3" name="Shape 31"/>
          <p:cNvSpPr/>
          <p:nvPr/>
        </p:nvSpPr>
        <p:spPr>
          <a:xfrm>
            <a:off x="1181100" y="3847133"/>
            <a:ext cx="4943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34" name="Text 32"/>
          <p:cNvSpPr/>
          <p:nvPr/>
        </p:nvSpPr>
        <p:spPr>
          <a:xfrm>
            <a:off x="1181100" y="3432795"/>
            <a:ext cx="38100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①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581150" y="3547095"/>
            <a:ext cx="12763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ASR · 语音识别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4626" y="3547095"/>
            <a:ext cx="1139949" cy="204788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37" name="Text 35"/>
          <p:cNvSpPr/>
          <p:nvPr/>
        </p:nvSpPr>
        <p:spPr>
          <a:xfrm>
            <a:off x="5060826" y="3575670"/>
            <a:ext cx="106374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 · POLL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81100" y="3970958"/>
            <a:ext cx="5091779" cy="3476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豆包 Seed-ASR 2.0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81100" y="4318620"/>
            <a:ext cx="5091779" cy="2619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Volcengine · ByteDance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81100" y="4771058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接口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81100" y="4966320"/>
            <a:ext cx="5091779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submit → query 两步轮询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181100" y="5304458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81100" y="5490195"/>
            <a:ext cx="5091779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openspeech.bytedance.com /api/v3/auc/bigmodel/{submit,query}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81100" y="6042645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81100" y="6228383"/>
            <a:ext cx="5091779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volc.seedasr.auc 本地上传 · volc.bigasr.auc_turbo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81100" y="6780833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支持语言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81100" y="6976095"/>
            <a:ext cx="5091779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 · 英 · 日 · 韩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1181100" y="7314233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81100" y="7499970"/>
            <a:ext cx="509177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 Whisper · </a:t>
            </a: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 ASR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6400800" y="3223245"/>
            <a:ext cx="5486400" cy="47005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" name="Shape 49"/>
          <p:cNvSpPr/>
          <p:nvPr/>
        </p:nvSpPr>
        <p:spPr>
          <a:xfrm>
            <a:off x="11877675" y="3223245"/>
            <a:ext cx="9525" cy="4700588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2" name="Shape 50"/>
          <p:cNvSpPr/>
          <p:nvPr/>
        </p:nvSpPr>
        <p:spPr>
          <a:xfrm>
            <a:off x="6667500" y="3847133"/>
            <a:ext cx="4943475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3" name="Text 51"/>
          <p:cNvSpPr/>
          <p:nvPr/>
        </p:nvSpPr>
        <p:spPr>
          <a:xfrm>
            <a:off x="6667500" y="3432795"/>
            <a:ext cx="38100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1F5A3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②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067550" y="3547095"/>
            <a:ext cx="217251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· 摘要 / 章节 / 实体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553328" y="3547095"/>
            <a:ext cx="1057647" cy="204788"/>
          </a:xfrm>
          <a:prstGeom prst="rect">
            <a:avLst/>
          </a:prstGeom>
          <a:solidFill>
            <a:srgbClr val="1F5A35"/>
          </a:solidFill>
        </p:spPr>
      </p:sp>
      <p:sp>
        <p:nvSpPr>
          <p:cNvPr id="56" name="Text 54"/>
          <p:cNvSpPr/>
          <p:nvPr/>
        </p:nvSpPr>
        <p:spPr>
          <a:xfrm>
            <a:off x="10629528" y="3575670"/>
            <a:ext cx="981447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 · SSE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67500" y="3970958"/>
            <a:ext cx="5091779" cy="3476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DeepSeek Chat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6667500" y="4318620"/>
            <a:ext cx="5091779" cy="2619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OpenAI-compatible · v1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6667500" y="4771058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模型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67500" y="4966320"/>
            <a:ext cx="5091779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deepseek-chat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667500" y="5290170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67500" y="5475908"/>
            <a:ext cx="5091779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api.deepseek.com /v1/chat/completions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67500" y="6028358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用途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67500" y="6223620"/>
            <a:ext cx="5091779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Hook · 三幕 · 章节 outline · 实体抽取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6667500" y="6561758"/>
            <a:ext cx="5091779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调用频次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667500" y="6757020"/>
            <a:ext cx="5091779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每集 ≈ 4 – 6 次 · 串行</a:t>
            </a:r>
            <a:endParaRPr lang="en-US" sz="1275" dirty="0"/>
          </a:p>
        </p:txBody>
      </p:sp>
      <p:sp>
        <p:nvSpPr>
          <p:cNvPr id="67" name="Text 65"/>
          <p:cNvSpPr/>
          <p:nvPr/>
        </p:nvSpPr>
        <p:spPr>
          <a:xfrm>
            <a:off x="6667500" y="7095158"/>
            <a:ext cx="509177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67500" y="7280895"/>
            <a:ext cx="5091779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 (qwen-max) · </a:t>
            </a: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</a:t>
            </a:r>
            <a:endParaRPr lang="en-US" sz="1125" dirty="0"/>
          </a:p>
        </p:txBody>
      </p:sp>
      <p:sp>
        <p:nvSpPr>
          <p:cNvPr id="69" name="Shape 67"/>
          <p:cNvSpPr/>
          <p:nvPr/>
        </p:nvSpPr>
        <p:spPr>
          <a:xfrm>
            <a:off x="11887200" y="3223245"/>
            <a:ext cx="5486400" cy="47005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Shape 68"/>
          <p:cNvSpPr/>
          <p:nvPr/>
        </p:nvSpPr>
        <p:spPr>
          <a:xfrm>
            <a:off x="12153900" y="3847133"/>
            <a:ext cx="49530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1" name="Text 69"/>
          <p:cNvSpPr/>
          <p:nvPr/>
        </p:nvSpPr>
        <p:spPr>
          <a:xfrm>
            <a:off x="12153900" y="3432795"/>
            <a:ext cx="38100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③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12553950" y="3547095"/>
            <a:ext cx="1807071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 · 30 秒 DIGEST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6213782" y="3547095"/>
            <a:ext cx="893118" cy="204788"/>
          </a:xfrm>
          <a:prstGeom prst="rect">
            <a:avLst/>
          </a:prstGeom>
          <a:solidFill>
            <a:srgbClr val="A02A1E"/>
          </a:solidFill>
        </p:spPr>
      </p:sp>
      <p:sp>
        <p:nvSpPr>
          <p:cNvPr id="74" name="Text 72"/>
          <p:cNvSpPr/>
          <p:nvPr/>
        </p:nvSpPr>
        <p:spPr>
          <a:xfrm>
            <a:off x="16289982" y="3575670"/>
            <a:ext cx="816918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WSS · BIN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2153900" y="3970958"/>
            <a:ext cx="5101590" cy="3476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豆包 BigTTS 2.0 · Seed-TTS</a:t>
            </a:r>
            <a:endParaRPr lang="en-US" sz="1950" dirty="0"/>
          </a:p>
        </p:txBody>
      </p:sp>
      <p:sp>
        <p:nvSpPr>
          <p:cNvPr id="76" name="Text 74"/>
          <p:cNvSpPr/>
          <p:nvPr/>
        </p:nvSpPr>
        <p:spPr>
          <a:xfrm>
            <a:off x="12153900" y="4318620"/>
            <a:ext cx="5101590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WebSocket binary · 自研协议层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12153900" y="4785345"/>
            <a:ext cx="510159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协议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2153900" y="4980608"/>
            <a:ext cx="510159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二进制双向流（不是 pip 包，自己实现）</a:t>
            </a:r>
            <a:endParaRPr lang="en-US" sz="1275" dirty="0"/>
          </a:p>
        </p:txBody>
      </p:sp>
      <p:sp>
        <p:nvSpPr>
          <p:cNvPr id="79" name="Text 77"/>
          <p:cNvSpPr/>
          <p:nvPr/>
        </p:nvSpPr>
        <p:spPr>
          <a:xfrm>
            <a:off x="12153900" y="5318745"/>
            <a:ext cx="510159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2153900" y="5504483"/>
            <a:ext cx="5101590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wss://openspeech.bytedance.com /api/v3/tts/bidirection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2153900" y="6056933"/>
            <a:ext cx="510159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2153900" y="6242670"/>
            <a:ext cx="510159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seed-tts-2.0 · 字符版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2153900" y="6566520"/>
            <a:ext cx="5101590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切句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2153900" y="6761783"/>
            <a:ext cx="5101590" cy="2809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utf-8 字节切句 · ≤ 1024 B / msg</a:t>
            </a:r>
            <a:endParaRPr lang="en-US" sz="1275" dirty="0"/>
          </a:p>
        </p:txBody>
      </p:sp>
      <p:sp>
        <p:nvSpPr>
          <p:cNvPr id="85" name="Text 83"/>
          <p:cNvSpPr/>
          <p:nvPr/>
        </p:nvSpPr>
        <p:spPr>
          <a:xfrm>
            <a:off x="12153900" y="7099920"/>
            <a:ext cx="510159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2153900" y="7285658"/>
            <a:ext cx="510159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Doubao TTS v1 (HTTP) · </a:t>
            </a:r>
            <a:r>
              <a:rPr lang="en-US" sz="1125" b="1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</a:t>
            </a:r>
            <a:r>
              <a:rPr lang="en-US" sz="1125" dirty="0">
                <a:solidFill>
                  <a:srgbClr val="5B64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 CosyVoice v2</a:t>
            </a:r>
            <a:endParaRPr lang="en-US" sz="1125" dirty="0"/>
          </a:p>
        </p:txBody>
      </p:sp>
      <p:sp>
        <p:nvSpPr>
          <p:cNvPr id="87" name="Shape 85"/>
          <p:cNvSpPr/>
          <p:nvPr/>
        </p:nvSpPr>
        <p:spPr>
          <a:xfrm>
            <a:off x="914400" y="8076233"/>
            <a:ext cx="16459200" cy="585788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8" name="Text 86"/>
          <p:cNvSpPr/>
          <p:nvPr/>
        </p:nvSpPr>
        <p:spPr>
          <a:xfrm>
            <a:off x="1219200" y="8281020"/>
            <a:ext cx="1981200" cy="2143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▢ ALSO USED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3390900" y="8266733"/>
            <a:ext cx="6591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5E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yt-dlp</a:t>
            </a:r>
            <a:endParaRPr lang="en-US" sz="1275" dirty="0"/>
          </a:p>
        </p:txBody>
      </p:sp>
      <p:sp>
        <p:nvSpPr>
          <p:cNvPr id="90" name="Text 88"/>
          <p:cNvSpPr/>
          <p:nvPr/>
        </p:nvSpPr>
        <p:spPr>
          <a:xfrm>
            <a:off x="4069110" y="8247683"/>
            <a:ext cx="1695227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YouTube / Bilibili 下载</a:t>
            </a:r>
            <a:endParaRPr lang="en-US" sz="1275" dirty="0"/>
          </a:p>
        </p:txBody>
      </p:sp>
      <p:sp>
        <p:nvSpPr>
          <p:cNvPr id="91" name="Text 89"/>
          <p:cNvSpPr/>
          <p:nvPr/>
        </p:nvSpPr>
        <p:spPr>
          <a:xfrm>
            <a:off x="6031037" y="8266733"/>
            <a:ext cx="659160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5E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ffmpeg</a:t>
            </a:r>
            <a:endParaRPr lang="en-US" sz="1275" dirty="0"/>
          </a:p>
        </p:txBody>
      </p:sp>
      <p:sp>
        <p:nvSpPr>
          <p:cNvPr id="92" name="Text 90"/>
          <p:cNvSpPr/>
          <p:nvPr/>
        </p:nvSpPr>
        <p:spPr>
          <a:xfrm>
            <a:off x="6709246" y="8247683"/>
            <a:ext cx="1658541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音频归一化 · 转 mp3</a:t>
            </a:r>
            <a:endParaRPr lang="en-US" sz="1275" dirty="0"/>
          </a:p>
        </p:txBody>
      </p:sp>
      <p:sp>
        <p:nvSpPr>
          <p:cNvPr id="93" name="Text 91"/>
          <p:cNvSpPr/>
          <p:nvPr/>
        </p:nvSpPr>
        <p:spPr>
          <a:xfrm>
            <a:off x="8634487" y="8261970"/>
            <a:ext cx="127449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5E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provider 抽象</a:t>
            </a:r>
            <a:endParaRPr lang="en-US" sz="1275" dirty="0"/>
          </a:p>
        </p:txBody>
      </p:sp>
      <p:sp>
        <p:nvSpPr>
          <p:cNvPr id="94" name="Text 92"/>
          <p:cNvSpPr/>
          <p:nvPr/>
        </p:nvSpPr>
        <p:spPr>
          <a:xfrm>
            <a:off x="9928027" y="8247683"/>
            <a:ext cx="421709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create_xxx_client() 工厂 + Protocol 接口，一行 env 切换</a:t>
            </a:r>
            <a:endParaRPr lang="en-US" sz="1275" dirty="0"/>
          </a:p>
        </p:txBody>
      </p:sp>
      <p:sp>
        <p:nvSpPr>
          <p:cNvPr id="95" name="Shape 93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6" name="Text 94"/>
          <p:cNvSpPr/>
          <p:nvPr/>
        </p:nvSpPr>
        <p:spPr>
          <a:xfrm>
            <a:off x="914400" y="9782175"/>
            <a:ext cx="4181756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05 · PART 2 — 3 PROVIDERS · EACH WITH FALLBACK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757865" y="9744075"/>
            <a:ext cx="4367317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all three providers fronted by a Protocol-typed factory · no hard coupling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9926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488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971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76533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0088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22570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80538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89645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40914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35682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129915" y="266700"/>
            <a:ext cx="1460376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18" name="Text 16"/>
          <p:cNvSpPr/>
          <p:nvPr/>
        </p:nvSpPr>
        <p:spPr>
          <a:xfrm>
            <a:off x="13301365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06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81727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61741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067359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3" name="Text 21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5" name="Text 23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06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981200" y="1066800"/>
            <a:ext cx="25908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60 SECONDS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364718" y="1066800"/>
            <a:ext cx="208508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VI · OF VII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4400" y="1390650"/>
            <a:ext cx="16952976" cy="1295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22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现场 60 秒 demo — 从一个链接到一个 digest。</a:t>
            </a:r>
            <a:endParaRPr lang="en-US" sz="4500" dirty="0"/>
          </a:p>
        </p:txBody>
      </p:sp>
      <p:sp>
        <p:nvSpPr>
          <p:cNvPr id="29" name="Shape 27"/>
          <p:cNvSpPr/>
          <p:nvPr/>
        </p:nvSpPr>
        <p:spPr>
          <a:xfrm>
            <a:off x="914400" y="3914775"/>
            <a:ext cx="4533900" cy="453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7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5850" y="4086225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1" name="Shape 29"/>
          <p:cNvSpPr/>
          <p:nvPr/>
        </p:nvSpPr>
        <p:spPr>
          <a:xfrm>
            <a:off x="1296293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2" name="Shape 30"/>
          <p:cNvSpPr/>
          <p:nvPr/>
        </p:nvSpPr>
        <p:spPr>
          <a:xfrm>
            <a:off x="1506810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3" name="Shape 31"/>
          <p:cNvSpPr/>
          <p:nvPr/>
        </p:nvSpPr>
        <p:spPr>
          <a:xfrm>
            <a:off x="1717328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4" name="Shape 32"/>
          <p:cNvSpPr/>
          <p:nvPr/>
        </p:nvSpPr>
        <p:spPr>
          <a:xfrm>
            <a:off x="1927845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5" name="Shape 33"/>
          <p:cNvSpPr/>
          <p:nvPr/>
        </p:nvSpPr>
        <p:spPr>
          <a:xfrm>
            <a:off x="2138363" y="4086225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6" name="Shape 34"/>
          <p:cNvSpPr/>
          <p:nvPr/>
        </p:nvSpPr>
        <p:spPr>
          <a:xfrm>
            <a:off x="2348805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7" name="Shape 35"/>
          <p:cNvSpPr/>
          <p:nvPr/>
        </p:nvSpPr>
        <p:spPr>
          <a:xfrm>
            <a:off x="2769840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8" name="Shape 36"/>
          <p:cNvSpPr/>
          <p:nvPr/>
        </p:nvSpPr>
        <p:spPr>
          <a:xfrm>
            <a:off x="3190875" y="4086225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9" name="Shape 37"/>
          <p:cNvSpPr/>
          <p:nvPr/>
        </p:nvSpPr>
        <p:spPr>
          <a:xfrm>
            <a:off x="3401318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0" name="Shape 38"/>
          <p:cNvSpPr/>
          <p:nvPr/>
        </p:nvSpPr>
        <p:spPr>
          <a:xfrm>
            <a:off x="3822353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1" name="Shape 39"/>
          <p:cNvSpPr/>
          <p:nvPr/>
        </p:nvSpPr>
        <p:spPr>
          <a:xfrm>
            <a:off x="4032870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2" name="Shape 40"/>
          <p:cNvSpPr/>
          <p:nvPr/>
        </p:nvSpPr>
        <p:spPr>
          <a:xfrm>
            <a:off x="4243388" y="4086225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3" name="Shape 41"/>
          <p:cNvSpPr/>
          <p:nvPr/>
        </p:nvSpPr>
        <p:spPr>
          <a:xfrm>
            <a:off x="4453830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4" name="Shape 42"/>
          <p:cNvSpPr/>
          <p:nvPr/>
        </p:nvSpPr>
        <p:spPr>
          <a:xfrm>
            <a:off x="4664348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5" name="Shape 43"/>
          <p:cNvSpPr/>
          <p:nvPr/>
        </p:nvSpPr>
        <p:spPr>
          <a:xfrm>
            <a:off x="4874865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6" name="Shape 44"/>
          <p:cNvSpPr/>
          <p:nvPr/>
        </p:nvSpPr>
        <p:spPr>
          <a:xfrm>
            <a:off x="5085383" y="4086225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7" name="Shape 45"/>
          <p:cNvSpPr/>
          <p:nvPr/>
        </p:nvSpPr>
        <p:spPr>
          <a:xfrm>
            <a:off x="1085850" y="429666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8" name="Shape 46"/>
          <p:cNvSpPr/>
          <p:nvPr/>
        </p:nvSpPr>
        <p:spPr>
          <a:xfrm>
            <a:off x="2348805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49" name="Shape 47"/>
          <p:cNvSpPr/>
          <p:nvPr/>
        </p:nvSpPr>
        <p:spPr>
          <a:xfrm>
            <a:off x="2769840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0" name="Shape 48"/>
          <p:cNvSpPr/>
          <p:nvPr/>
        </p:nvSpPr>
        <p:spPr>
          <a:xfrm>
            <a:off x="2980358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1" name="Shape 49"/>
          <p:cNvSpPr/>
          <p:nvPr/>
        </p:nvSpPr>
        <p:spPr>
          <a:xfrm>
            <a:off x="3401318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2" name="Shape 50"/>
          <p:cNvSpPr/>
          <p:nvPr/>
        </p:nvSpPr>
        <p:spPr>
          <a:xfrm>
            <a:off x="4032870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3" name="Shape 51"/>
          <p:cNvSpPr/>
          <p:nvPr/>
        </p:nvSpPr>
        <p:spPr>
          <a:xfrm>
            <a:off x="5085383" y="429666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4" name="Shape 52"/>
          <p:cNvSpPr/>
          <p:nvPr/>
        </p:nvSpPr>
        <p:spPr>
          <a:xfrm>
            <a:off x="1085850" y="450718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5" name="Shape 53"/>
          <p:cNvSpPr/>
          <p:nvPr/>
        </p:nvSpPr>
        <p:spPr>
          <a:xfrm>
            <a:off x="1506810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6" name="Shape 54"/>
          <p:cNvSpPr/>
          <p:nvPr/>
        </p:nvSpPr>
        <p:spPr>
          <a:xfrm>
            <a:off x="1717328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7" name="Shape 55"/>
          <p:cNvSpPr/>
          <p:nvPr/>
        </p:nvSpPr>
        <p:spPr>
          <a:xfrm>
            <a:off x="1927845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8" name="Shape 56"/>
          <p:cNvSpPr/>
          <p:nvPr/>
        </p:nvSpPr>
        <p:spPr>
          <a:xfrm>
            <a:off x="2348805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59" name="Shape 57"/>
          <p:cNvSpPr/>
          <p:nvPr/>
        </p:nvSpPr>
        <p:spPr>
          <a:xfrm>
            <a:off x="2559323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0" name="Shape 58"/>
          <p:cNvSpPr/>
          <p:nvPr/>
        </p:nvSpPr>
        <p:spPr>
          <a:xfrm>
            <a:off x="2769840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1" name="Shape 59"/>
          <p:cNvSpPr/>
          <p:nvPr/>
        </p:nvSpPr>
        <p:spPr>
          <a:xfrm>
            <a:off x="3611835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2" name="Shape 60"/>
          <p:cNvSpPr/>
          <p:nvPr/>
        </p:nvSpPr>
        <p:spPr>
          <a:xfrm>
            <a:off x="3822353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3" name="Shape 61"/>
          <p:cNvSpPr/>
          <p:nvPr/>
        </p:nvSpPr>
        <p:spPr>
          <a:xfrm>
            <a:off x="4032870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4" name="Shape 62"/>
          <p:cNvSpPr/>
          <p:nvPr/>
        </p:nvSpPr>
        <p:spPr>
          <a:xfrm>
            <a:off x="4453830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5" name="Shape 63"/>
          <p:cNvSpPr/>
          <p:nvPr/>
        </p:nvSpPr>
        <p:spPr>
          <a:xfrm>
            <a:off x="4664348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6" name="Shape 64"/>
          <p:cNvSpPr/>
          <p:nvPr/>
        </p:nvSpPr>
        <p:spPr>
          <a:xfrm>
            <a:off x="5085383" y="450718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7" name="Shape 65"/>
          <p:cNvSpPr/>
          <p:nvPr/>
        </p:nvSpPr>
        <p:spPr>
          <a:xfrm>
            <a:off x="1085850" y="471770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8" name="Shape 66"/>
          <p:cNvSpPr/>
          <p:nvPr/>
        </p:nvSpPr>
        <p:spPr>
          <a:xfrm>
            <a:off x="1506810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69" name="Shape 67"/>
          <p:cNvSpPr/>
          <p:nvPr/>
        </p:nvSpPr>
        <p:spPr>
          <a:xfrm>
            <a:off x="1717328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0" name="Shape 68"/>
          <p:cNvSpPr/>
          <p:nvPr/>
        </p:nvSpPr>
        <p:spPr>
          <a:xfrm>
            <a:off x="1927845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1" name="Shape 69"/>
          <p:cNvSpPr/>
          <p:nvPr/>
        </p:nvSpPr>
        <p:spPr>
          <a:xfrm>
            <a:off x="2348805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2" name="Shape 70"/>
          <p:cNvSpPr/>
          <p:nvPr/>
        </p:nvSpPr>
        <p:spPr>
          <a:xfrm>
            <a:off x="2769840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3" name="Shape 71"/>
          <p:cNvSpPr/>
          <p:nvPr/>
        </p:nvSpPr>
        <p:spPr>
          <a:xfrm>
            <a:off x="2980358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4" name="Shape 72"/>
          <p:cNvSpPr/>
          <p:nvPr/>
        </p:nvSpPr>
        <p:spPr>
          <a:xfrm>
            <a:off x="3401318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5" name="Shape 73"/>
          <p:cNvSpPr/>
          <p:nvPr/>
        </p:nvSpPr>
        <p:spPr>
          <a:xfrm>
            <a:off x="3611835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6" name="Shape 74"/>
          <p:cNvSpPr/>
          <p:nvPr/>
        </p:nvSpPr>
        <p:spPr>
          <a:xfrm>
            <a:off x="4032870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7" name="Shape 75"/>
          <p:cNvSpPr/>
          <p:nvPr/>
        </p:nvSpPr>
        <p:spPr>
          <a:xfrm>
            <a:off x="4453830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8" name="Shape 76"/>
          <p:cNvSpPr/>
          <p:nvPr/>
        </p:nvSpPr>
        <p:spPr>
          <a:xfrm>
            <a:off x="4664348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79" name="Shape 77"/>
          <p:cNvSpPr/>
          <p:nvPr/>
        </p:nvSpPr>
        <p:spPr>
          <a:xfrm>
            <a:off x="5085383" y="471770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0" name="Shape 78"/>
          <p:cNvSpPr/>
          <p:nvPr/>
        </p:nvSpPr>
        <p:spPr>
          <a:xfrm>
            <a:off x="1085850" y="492822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1" name="Shape 79"/>
          <p:cNvSpPr/>
          <p:nvPr/>
        </p:nvSpPr>
        <p:spPr>
          <a:xfrm>
            <a:off x="1506810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2" name="Shape 80"/>
          <p:cNvSpPr/>
          <p:nvPr/>
        </p:nvSpPr>
        <p:spPr>
          <a:xfrm>
            <a:off x="1717328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3" name="Shape 81"/>
          <p:cNvSpPr/>
          <p:nvPr/>
        </p:nvSpPr>
        <p:spPr>
          <a:xfrm>
            <a:off x="1927845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4" name="Shape 82"/>
          <p:cNvSpPr/>
          <p:nvPr/>
        </p:nvSpPr>
        <p:spPr>
          <a:xfrm>
            <a:off x="2348805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5" name="Shape 83"/>
          <p:cNvSpPr/>
          <p:nvPr/>
        </p:nvSpPr>
        <p:spPr>
          <a:xfrm>
            <a:off x="2559323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6" name="Shape 84"/>
          <p:cNvSpPr/>
          <p:nvPr/>
        </p:nvSpPr>
        <p:spPr>
          <a:xfrm>
            <a:off x="2980358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7" name="Shape 85"/>
          <p:cNvSpPr/>
          <p:nvPr/>
        </p:nvSpPr>
        <p:spPr>
          <a:xfrm>
            <a:off x="3190875" y="492822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8" name="Shape 86"/>
          <p:cNvSpPr/>
          <p:nvPr/>
        </p:nvSpPr>
        <p:spPr>
          <a:xfrm>
            <a:off x="3401318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89" name="Shape 87"/>
          <p:cNvSpPr/>
          <p:nvPr/>
        </p:nvSpPr>
        <p:spPr>
          <a:xfrm>
            <a:off x="3822353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0" name="Shape 88"/>
          <p:cNvSpPr/>
          <p:nvPr/>
        </p:nvSpPr>
        <p:spPr>
          <a:xfrm>
            <a:off x="4032870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1" name="Shape 89"/>
          <p:cNvSpPr/>
          <p:nvPr/>
        </p:nvSpPr>
        <p:spPr>
          <a:xfrm>
            <a:off x="4453830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2" name="Shape 90"/>
          <p:cNvSpPr/>
          <p:nvPr/>
        </p:nvSpPr>
        <p:spPr>
          <a:xfrm>
            <a:off x="4664348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3" name="Shape 91"/>
          <p:cNvSpPr/>
          <p:nvPr/>
        </p:nvSpPr>
        <p:spPr>
          <a:xfrm>
            <a:off x="5085383" y="492822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4" name="Shape 92"/>
          <p:cNvSpPr/>
          <p:nvPr/>
        </p:nvSpPr>
        <p:spPr>
          <a:xfrm>
            <a:off x="1085850" y="5138738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5" name="Shape 93"/>
          <p:cNvSpPr/>
          <p:nvPr/>
        </p:nvSpPr>
        <p:spPr>
          <a:xfrm>
            <a:off x="2348805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6" name="Shape 94"/>
          <p:cNvSpPr/>
          <p:nvPr/>
        </p:nvSpPr>
        <p:spPr>
          <a:xfrm>
            <a:off x="2559323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7" name="Shape 95"/>
          <p:cNvSpPr/>
          <p:nvPr/>
        </p:nvSpPr>
        <p:spPr>
          <a:xfrm>
            <a:off x="2769840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8" name="Shape 96"/>
          <p:cNvSpPr/>
          <p:nvPr/>
        </p:nvSpPr>
        <p:spPr>
          <a:xfrm>
            <a:off x="3190875" y="5138738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99" name="Shape 97"/>
          <p:cNvSpPr/>
          <p:nvPr/>
        </p:nvSpPr>
        <p:spPr>
          <a:xfrm>
            <a:off x="3611835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0" name="Shape 98"/>
          <p:cNvSpPr/>
          <p:nvPr/>
        </p:nvSpPr>
        <p:spPr>
          <a:xfrm>
            <a:off x="3822353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1" name="Shape 99"/>
          <p:cNvSpPr/>
          <p:nvPr/>
        </p:nvSpPr>
        <p:spPr>
          <a:xfrm>
            <a:off x="5085383" y="5138738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2" name="Shape 100"/>
          <p:cNvSpPr/>
          <p:nvPr/>
        </p:nvSpPr>
        <p:spPr>
          <a:xfrm>
            <a:off x="1085850" y="534918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3" name="Shape 101"/>
          <p:cNvSpPr/>
          <p:nvPr/>
        </p:nvSpPr>
        <p:spPr>
          <a:xfrm>
            <a:off x="1296293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4" name="Shape 102"/>
          <p:cNvSpPr/>
          <p:nvPr/>
        </p:nvSpPr>
        <p:spPr>
          <a:xfrm>
            <a:off x="1506810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5" name="Shape 103"/>
          <p:cNvSpPr/>
          <p:nvPr/>
        </p:nvSpPr>
        <p:spPr>
          <a:xfrm>
            <a:off x="1717328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6" name="Shape 104"/>
          <p:cNvSpPr/>
          <p:nvPr/>
        </p:nvSpPr>
        <p:spPr>
          <a:xfrm>
            <a:off x="1927845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7" name="Shape 105"/>
          <p:cNvSpPr/>
          <p:nvPr/>
        </p:nvSpPr>
        <p:spPr>
          <a:xfrm>
            <a:off x="2138363" y="534918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8" name="Shape 106"/>
          <p:cNvSpPr/>
          <p:nvPr/>
        </p:nvSpPr>
        <p:spPr>
          <a:xfrm>
            <a:off x="2348805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9" name="Shape 107"/>
          <p:cNvSpPr/>
          <p:nvPr/>
        </p:nvSpPr>
        <p:spPr>
          <a:xfrm>
            <a:off x="2769840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0" name="Shape 108"/>
          <p:cNvSpPr/>
          <p:nvPr/>
        </p:nvSpPr>
        <p:spPr>
          <a:xfrm>
            <a:off x="3190875" y="534918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1" name="Shape 109"/>
          <p:cNvSpPr/>
          <p:nvPr/>
        </p:nvSpPr>
        <p:spPr>
          <a:xfrm>
            <a:off x="3611835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2" name="Shape 110"/>
          <p:cNvSpPr/>
          <p:nvPr/>
        </p:nvSpPr>
        <p:spPr>
          <a:xfrm>
            <a:off x="3822353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3" name="Shape 111"/>
          <p:cNvSpPr/>
          <p:nvPr/>
        </p:nvSpPr>
        <p:spPr>
          <a:xfrm>
            <a:off x="4032870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4" name="Shape 112"/>
          <p:cNvSpPr/>
          <p:nvPr/>
        </p:nvSpPr>
        <p:spPr>
          <a:xfrm>
            <a:off x="4243388" y="534918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5" name="Shape 113"/>
          <p:cNvSpPr/>
          <p:nvPr/>
        </p:nvSpPr>
        <p:spPr>
          <a:xfrm>
            <a:off x="4453830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6" name="Shape 114"/>
          <p:cNvSpPr/>
          <p:nvPr/>
        </p:nvSpPr>
        <p:spPr>
          <a:xfrm>
            <a:off x="4664348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7" name="Shape 115"/>
          <p:cNvSpPr/>
          <p:nvPr/>
        </p:nvSpPr>
        <p:spPr>
          <a:xfrm>
            <a:off x="4874865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8" name="Shape 116"/>
          <p:cNvSpPr/>
          <p:nvPr/>
        </p:nvSpPr>
        <p:spPr>
          <a:xfrm>
            <a:off x="5085383" y="534918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19" name="Shape 117"/>
          <p:cNvSpPr/>
          <p:nvPr/>
        </p:nvSpPr>
        <p:spPr>
          <a:xfrm>
            <a:off x="2769840" y="555969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0" name="Shape 118"/>
          <p:cNvSpPr/>
          <p:nvPr/>
        </p:nvSpPr>
        <p:spPr>
          <a:xfrm>
            <a:off x="2980358" y="555969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1" name="Shape 119"/>
          <p:cNvSpPr/>
          <p:nvPr/>
        </p:nvSpPr>
        <p:spPr>
          <a:xfrm>
            <a:off x="3401318" y="555969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2" name="Shape 120"/>
          <p:cNvSpPr/>
          <p:nvPr/>
        </p:nvSpPr>
        <p:spPr>
          <a:xfrm>
            <a:off x="3822353" y="555969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3" name="Shape 121"/>
          <p:cNvSpPr/>
          <p:nvPr/>
        </p:nvSpPr>
        <p:spPr>
          <a:xfrm>
            <a:off x="1085850" y="577021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4" name="Shape 122"/>
          <p:cNvSpPr/>
          <p:nvPr/>
        </p:nvSpPr>
        <p:spPr>
          <a:xfrm>
            <a:off x="1506810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5" name="Shape 123"/>
          <p:cNvSpPr/>
          <p:nvPr/>
        </p:nvSpPr>
        <p:spPr>
          <a:xfrm>
            <a:off x="1717328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6" name="Shape 124"/>
          <p:cNvSpPr/>
          <p:nvPr/>
        </p:nvSpPr>
        <p:spPr>
          <a:xfrm>
            <a:off x="1927845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7" name="Shape 125"/>
          <p:cNvSpPr/>
          <p:nvPr/>
        </p:nvSpPr>
        <p:spPr>
          <a:xfrm>
            <a:off x="2138363" y="577021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8" name="Shape 126"/>
          <p:cNvSpPr/>
          <p:nvPr/>
        </p:nvSpPr>
        <p:spPr>
          <a:xfrm>
            <a:off x="2559323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29" name="Shape 127"/>
          <p:cNvSpPr/>
          <p:nvPr/>
        </p:nvSpPr>
        <p:spPr>
          <a:xfrm>
            <a:off x="2980358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0" name="Shape 128"/>
          <p:cNvSpPr/>
          <p:nvPr/>
        </p:nvSpPr>
        <p:spPr>
          <a:xfrm>
            <a:off x="3190875" y="577021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1" name="Shape 129"/>
          <p:cNvSpPr/>
          <p:nvPr/>
        </p:nvSpPr>
        <p:spPr>
          <a:xfrm>
            <a:off x="3401318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2" name="Shape 130"/>
          <p:cNvSpPr/>
          <p:nvPr/>
        </p:nvSpPr>
        <p:spPr>
          <a:xfrm>
            <a:off x="3822353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3" name="Shape 131"/>
          <p:cNvSpPr/>
          <p:nvPr/>
        </p:nvSpPr>
        <p:spPr>
          <a:xfrm>
            <a:off x="4032870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4" name="Shape 132"/>
          <p:cNvSpPr/>
          <p:nvPr/>
        </p:nvSpPr>
        <p:spPr>
          <a:xfrm>
            <a:off x="4243388" y="577021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5" name="Shape 133"/>
          <p:cNvSpPr/>
          <p:nvPr/>
        </p:nvSpPr>
        <p:spPr>
          <a:xfrm>
            <a:off x="4453830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6" name="Shape 134"/>
          <p:cNvSpPr/>
          <p:nvPr/>
        </p:nvSpPr>
        <p:spPr>
          <a:xfrm>
            <a:off x="4664348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7" name="Shape 135"/>
          <p:cNvSpPr/>
          <p:nvPr/>
        </p:nvSpPr>
        <p:spPr>
          <a:xfrm>
            <a:off x="5085383" y="577021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8" name="Shape 136"/>
          <p:cNvSpPr/>
          <p:nvPr/>
        </p:nvSpPr>
        <p:spPr>
          <a:xfrm>
            <a:off x="1717328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39" name="Shape 137"/>
          <p:cNvSpPr/>
          <p:nvPr/>
        </p:nvSpPr>
        <p:spPr>
          <a:xfrm>
            <a:off x="1927845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0" name="Shape 138"/>
          <p:cNvSpPr/>
          <p:nvPr/>
        </p:nvSpPr>
        <p:spPr>
          <a:xfrm>
            <a:off x="2348805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1" name="Shape 139"/>
          <p:cNvSpPr/>
          <p:nvPr/>
        </p:nvSpPr>
        <p:spPr>
          <a:xfrm>
            <a:off x="2559323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2" name="Shape 140"/>
          <p:cNvSpPr/>
          <p:nvPr/>
        </p:nvSpPr>
        <p:spPr>
          <a:xfrm>
            <a:off x="2769840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3" name="Shape 141"/>
          <p:cNvSpPr/>
          <p:nvPr/>
        </p:nvSpPr>
        <p:spPr>
          <a:xfrm>
            <a:off x="3611835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4" name="Shape 142"/>
          <p:cNvSpPr/>
          <p:nvPr/>
        </p:nvSpPr>
        <p:spPr>
          <a:xfrm>
            <a:off x="3822353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5" name="Shape 143"/>
          <p:cNvSpPr/>
          <p:nvPr/>
        </p:nvSpPr>
        <p:spPr>
          <a:xfrm>
            <a:off x="4243388" y="598073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6" name="Shape 144"/>
          <p:cNvSpPr/>
          <p:nvPr/>
        </p:nvSpPr>
        <p:spPr>
          <a:xfrm>
            <a:off x="4664348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7" name="Shape 145"/>
          <p:cNvSpPr/>
          <p:nvPr/>
        </p:nvSpPr>
        <p:spPr>
          <a:xfrm>
            <a:off x="4874865" y="598073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8" name="Shape 146"/>
          <p:cNvSpPr/>
          <p:nvPr/>
        </p:nvSpPr>
        <p:spPr>
          <a:xfrm>
            <a:off x="1085850" y="6191250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49" name="Shape 147"/>
          <p:cNvSpPr/>
          <p:nvPr/>
        </p:nvSpPr>
        <p:spPr>
          <a:xfrm>
            <a:off x="1296293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0" name="Shape 148"/>
          <p:cNvSpPr/>
          <p:nvPr/>
        </p:nvSpPr>
        <p:spPr>
          <a:xfrm>
            <a:off x="1506810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1" name="Shape 149"/>
          <p:cNvSpPr/>
          <p:nvPr/>
        </p:nvSpPr>
        <p:spPr>
          <a:xfrm>
            <a:off x="1927845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2" name="Shape 150"/>
          <p:cNvSpPr/>
          <p:nvPr/>
        </p:nvSpPr>
        <p:spPr>
          <a:xfrm>
            <a:off x="2138363" y="6191250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3" name="Shape 151"/>
          <p:cNvSpPr/>
          <p:nvPr/>
        </p:nvSpPr>
        <p:spPr>
          <a:xfrm>
            <a:off x="2559323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4" name="Shape 152"/>
          <p:cNvSpPr/>
          <p:nvPr/>
        </p:nvSpPr>
        <p:spPr>
          <a:xfrm>
            <a:off x="2980358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5" name="Shape 153"/>
          <p:cNvSpPr/>
          <p:nvPr/>
        </p:nvSpPr>
        <p:spPr>
          <a:xfrm>
            <a:off x="3190875" y="6191250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6" name="Shape 154"/>
          <p:cNvSpPr/>
          <p:nvPr/>
        </p:nvSpPr>
        <p:spPr>
          <a:xfrm>
            <a:off x="4032870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7" name="Shape 155"/>
          <p:cNvSpPr/>
          <p:nvPr/>
        </p:nvSpPr>
        <p:spPr>
          <a:xfrm>
            <a:off x="4243388" y="6191250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8" name="Shape 156"/>
          <p:cNvSpPr/>
          <p:nvPr/>
        </p:nvSpPr>
        <p:spPr>
          <a:xfrm>
            <a:off x="4453830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59" name="Shape 157"/>
          <p:cNvSpPr/>
          <p:nvPr/>
        </p:nvSpPr>
        <p:spPr>
          <a:xfrm>
            <a:off x="4874865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0" name="Shape 158"/>
          <p:cNvSpPr/>
          <p:nvPr/>
        </p:nvSpPr>
        <p:spPr>
          <a:xfrm>
            <a:off x="5085383" y="6191250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1" name="Shape 159"/>
          <p:cNvSpPr/>
          <p:nvPr/>
        </p:nvSpPr>
        <p:spPr>
          <a:xfrm>
            <a:off x="1296293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2" name="Shape 160"/>
          <p:cNvSpPr/>
          <p:nvPr/>
        </p:nvSpPr>
        <p:spPr>
          <a:xfrm>
            <a:off x="1506810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3" name="Shape 161"/>
          <p:cNvSpPr/>
          <p:nvPr/>
        </p:nvSpPr>
        <p:spPr>
          <a:xfrm>
            <a:off x="1717328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4" name="Shape 162"/>
          <p:cNvSpPr/>
          <p:nvPr/>
        </p:nvSpPr>
        <p:spPr>
          <a:xfrm>
            <a:off x="2348805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5" name="Shape 163"/>
          <p:cNvSpPr/>
          <p:nvPr/>
        </p:nvSpPr>
        <p:spPr>
          <a:xfrm>
            <a:off x="2559323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6" name="Shape 164"/>
          <p:cNvSpPr/>
          <p:nvPr/>
        </p:nvSpPr>
        <p:spPr>
          <a:xfrm>
            <a:off x="2769840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7" name="Shape 165"/>
          <p:cNvSpPr/>
          <p:nvPr/>
        </p:nvSpPr>
        <p:spPr>
          <a:xfrm>
            <a:off x="2980358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8" name="Shape 166"/>
          <p:cNvSpPr/>
          <p:nvPr/>
        </p:nvSpPr>
        <p:spPr>
          <a:xfrm>
            <a:off x="3401318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69" name="Shape 167"/>
          <p:cNvSpPr/>
          <p:nvPr/>
        </p:nvSpPr>
        <p:spPr>
          <a:xfrm>
            <a:off x="3822353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0" name="Shape 168"/>
          <p:cNvSpPr/>
          <p:nvPr/>
        </p:nvSpPr>
        <p:spPr>
          <a:xfrm>
            <a:off x="4243388" y="640169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1" name="Shape 169"/>
          <p:cNvSpPr/>
          <p:nvPr/>
        </p:nvSpPr>
        <p:spPr>
          <a:xfrm>
            <a:off x="4664348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2" name="Shape 170"/>
          <p:cNvSpPr/>
          <p:nvPr/>
        </p:nvSpPr>
        <p:spPr>
          <a:xfrm>
            <a:off x="4874865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3" name="Shape 171"/>
          <p:cNvSpPr/>
          <p:nvPr/>
        </p:nvSpPr>
        <p:spPr>
          <a:xfrm>
            <a:off x="5085383" y="640169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4" name="Shape 172"/>
          <p:cNvSpPr/>
          <p:nvPr/>
        </p:nvSpPr>
        <p:spPr>
          <a:xfrm>
            <a:off x="1085850" y="661221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5" name="Shape 173"/>
          <p:cNvSpPr/>
          <p:nvPr/>
        </p:nvSpPr>
        <p:spPr>
          <a:xfrm>
            <a:off x="1506810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6" name="Shape 174"/>
          <p:cNvSpPr/>
          <p:nvPr/>
        </p:nvSpPr>
        <p:spPr>
          <a:xfrm>
            <a:off x="1927845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7" name="Shape 175"/>
          <p:cNvSpPr/>
          <p:nvPr/>
        </p:nvSpPr>
        <p:spPr>
          <a:xfrm>
            <a:off x="2138363" y="661221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8" name="Shape 176"/>
          <p:cNvSpPr/>
          <p:nvPr/>
        </p:nvSpPr>
        <p:spPr>
          <a:xfrm>
            <a:off x="2348805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79" name="Shape 177"/>
          <p:cNvSpPr/>
          <p:nvPr/>
        </p:nvSpPr>
        <p:spPr>
          <a:xfrm>
            <a:off x="3190875" y="661221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0" name="Shape 178"/>
          <p:cNvSpPr/>
          <p:nvPr/>
        </p:nvSpPr>
        <p:spPr>
          <a:xfrm>
            <a:off x="3401318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1" name="Shape 179"/>
          <p:cNvSpPr/>
          <p:nvPr/>
        </p:nvSpPr>
        <p:spPr>
          <a:xfrm>
            <a:off x="3611835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2" name="Shape 180"/>
          <p:cNvSpPr/>
          <p:nvPr/>
        </p:nvSpPr>
        <p:spPr>
          <a:xfrm>
            <a:off x="4032870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3" name="Shape 181"/>
          <p:cNvSpPr/>
          <p:nvPr/>
        </p:nvSpPr>
        <p:spPr>
          <a:xfrm>
            <a:off x="4243388" y="661221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4" name="Shape 182"/>
          <p:cNvSpPr/>
          <p:nvPr/>
        </p:nvSpPr>
        <p:spPr>
          <a:xfrm>
            <a:off x="4453830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5" name="Shape 183"/>
          <p:cNvSpPr/>
          <p:nvPr/>
        </p:nvSpPr>
        <p:spPr>
          <a:xfrm>
            <a:off x="4874865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6" name="Shape 184"/>
          <p:cNvSpPr/>
          <p:nvPr/>
        </p:nvSpPr>
        <p:spPr>
          <a:xfrm>
            <a:off x="5085383" y="661221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7" name="Shape 185"/>
          <p:cNvSpPr/>
          <p:nvPr/>
        </p:nvSpPr>
        <p:spPr>
          <a:xfrm>
            <a:off x="2769840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8" name="Shape 186"/>
          <p:cNvSpPr/>
          <p:nvPr/>
        </p:nvSpPr>
        <p:spPr>
          <a:xfrm>
            <a:off x="2980358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89" name="Shape 187"/>
          <p:cNvSpPr/>
          <p:nvPr/>
        </p:nvSpPr>
        <p:spPr>
          <a:xfrm>
            <a:off x="3401318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0" name="Shape 188"/>
          <p:cNvSpPr/>
          <p:nvPr/>
        </p:nvSpPr>
        <p:spPr>
          <a:xfrm>
            <a:off x="3611835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1" name="Shape 189"/>
          <p:cNvSpPr/>
          <p:nvPr/>
        </p:nvSpPr>
        <p:spPr>
          <a:xfrm>
            <a:off x="4032870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2" name="Shape 190"/>
          <p:cNvSpPr/>
          <p:nvPr/>
        </p:nvSpPr>
        <p:spPr>
          <a:xfrm>
            <a:off x="4243388" y="682272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3" name="Shape 191"/>
          <p:cNvSpPr/>
          <p:nvPr/>
        </p:nvSpPr>
        <p:spPr>
          <a:xfrm>
            <a:off x="4453830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4" name="Shape 192"/>
          <p:cNvSpPr/>
          <p:nvPr/>
        </p:nvSpPr>
        <p:spPr>
          <a:xfrm>
            <a:off x="4874865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5" name="Shape 193"/>
          <p:cNvSpPr/>
          <p:nvPr/>
        </p:nvSpPr>
        <p:spPr>
          <a:xfrm>
            <a:off x="5085383" y="682272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6" name="Shape 194"/>
          <p:cNvSpPr/>
          <p:nvPr/>
        </p:nvSpPr>
        <p:spPr>
          <a:xfrm>
            <a:off x="1085850" y="703324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7" name="Shape 195"/>
          <p:cNvSpPr/>
          <p:nvPr/>
        </p:nvSpPr>
        <p:spPr>
          <a:xfrm>
            <a:off x="1296293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8" name="Shape 196"/>
          <p:cNvSpPr/>
          <p:nvPr/>
        </p:nvSpPr>
        <p:spPr>
          <a:xfrm>
            <a:off x="1506810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99" name="Shape 197"/>
          <p:cNvSpPr/>
          <p:nvPr/>
        </p:nvSpPr>
        <p:spPr>
          <a:xfrm>
            <a:off x="1717328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0" name="Shape 198"/>
          <p:cNvSpPr/>
          <p:nvPr/>
        </p:nvSpPr>
        <p:spPr>
          <a:xfrm>
            <a:off x="1927845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1" name="Shape 199"/>
          <p:cNvSpPr/>
          <p:nvPr/>
        </p:nvSpPr>
        <p:spPr>
          <a:xfrm>
            <a:off x="2138363" y="703324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2" name="Shape 200"/>
          <p:cNvSpPr/>
          <p:nvPr/>
        </p:nvSpPr>
        <p:spPr>
          <a:xfrm>
            <a:off x="2348805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3" name="Shape 201"/>
          <p:cNvSpPr/>
          <p:nvPr/>
        </p:nvSpPr>
        <p:spPr>
          <a:xfrm>
            <a:off x="2769840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4" name="Shape 202"/>
          <p:cNvSpPr/>
          <p:nvPr/>
        </p:nvSpPr>
        <p:spPr>
          <a:xfrm>
            <a:off x="2980358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5" name="Shape 203"/>
          <p:cNvSpPr/>
          <p:nvPr/>
        </p:nvSpPr>
        <p:spPr>
          <a:xfrm>
            <a:off x="3190875" y="703324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6" name="Shape 204"/>
          <p:cNvSpPr/>
          <p:nvPr/>
        </p:nvSpPr>
        <p:spPr>
          <a:xfrm>
            <a:off x="3611835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7" name="Shape 205"/>
          <p:cNvSpPr/>
          <p:nvPr/>
        </p:nvSpPr>
        <p:spPr>
          <a:xfrm>
            <a:off x="3822353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8" name="Shape 206"/>
          <p:cNvSpPr/>
          <p:nvPr/>
        </p:nvSpPr>
        <p:spPr>
          <a:xfrm>
            <a:off x="4243388" y="703324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09" name="Shape 207"/>
          <p:cNvSpPr/>
          <p:nvPr/>
        </p:nvSpPr>
        <p:spPr>
          <a:xfrm>
            <a:off x="4453830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0" name="Shape 208"/>
          <p:cNvSpPr/>
          <p:nvPr/>
        </p:nvSpPr>
        <p:spPr>
          <a:xfrm>
            <a:off x="4664348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1" name="Shape 209"/>
          <p:cNvSpPr/>
          <p:nvPr/>
        </p:nvSpPr>
        <p:spPr>
          <a:xfrm>
            <a:off x="4874865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2" name="Shape 210"/>
          <p:cNvSpPr/>
          <p:nvPr/>
        </p:nvSpPr>
        <p:spPr>
          <a:xfrm>
            <a:off x="5085383" y="703324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3" name="Shape 211"/>
          <p:cNvSpPr/>
          <p:nvPr/>
        </p:nvSpPr>
        <p:spPr>
          <a:xfrm>
            <a:off x="1085850" y="7243763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4" name="Shape 212"/>
          <p:cNvSpPr/>
          <p:nvPr/>
        </p:nvSpPr>
        <p:spPr>
          <a:xfrm>
            <a:off x="2348805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5" name="Shape 213"/>
          <p:cNvSpPr/>
          <p:nvPr/>
        </p:nvSpPr>
        <p:spPr>
          <a:xfrm>
            <a:off x="2980358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6" name="Shape 214"/>
          <p:cNvSpPr/>
          <p:nvPr/>
        </p:nvSpPr>
        <p:spPr>
          <a:xfrm>
            <a:off x="3190875" y="7243763"/>
            <a:ext cx="191393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7" name="Shape 215"/>
          <p:cNvSpPr/>
          <p:nvPr/>
        </p:nvSpPr>
        <p:spPr>
          <a:xfrm>
            <a:off x="3401318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8" name="Shape 216"/>
          <p:cNvSpPr/>
          <p:nvPr/>
        </p:nvSpPr>
        <p:spPr>
          <a:xfrm>
            <a:off x="3822353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19" name="Shape 217"/>
          <p:cNvSpPr/>
          <p:nvPr/>
        </p:nvSpPr>
        <p:spPr>
          <a:xfrm>
            <a:off x="4032870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0" name="Shape 218"/>
          <p:cNvSpPr/>
          <p:nvPr/>
        </p:nvSpPr>
        <p:spPr>
          <a:xfrm>
            <a:off x="5085383" y="7243763"/>
            <a:ext cx="191467" cy="191393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1" name="Shape 219"/>
          <p:cNvSpPr/>
          <p:nvPr/>
        </p:nvSpPr>
        <p:spPr>
          <a:xfrm>
            <a:off x="1085850" y="7454205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2" name="Shape 220"/>
          <p:cNvSpPr/>
          <p:nvPr/>
        </p:nvSpPr>
        <p:spPr>
          <a:xfrm>
            <a:off x="1506810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3" name="Shape 221"/>
          <p:cNvSpPr/>
          <p:nvPr/>
        </p:nvSpPr>
        <p:spPr>
          <a:xfrm>
            <a:off x="1717328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4" name="Shape 222"/>
          <p:cNvSpPr/>
          <p:nvPr/>
        </p:nvSpPr>
        <p:spPr>
          <a:xfrm>
            <a:off x="1927845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5" name="Shape 223"/>
          <p:cNvSpPr/>
          <p:nvPr/>
        </p:nvSpPr>
        <p:spPr>
          <a:xfrm>
            <a:off x="2348805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6" name="Shape 224"/>
          <p:cNvSpPr/>
          <p:nvPr/>
        </p:nvSpPr>
        <p:spPr>
          <a:xfrm>
            <a:off x="2559323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7" name="Shape 225"/>
          <p:cNvSpPr/>
          <p:nvPr/>
        </p:nvSpPr>
        <p:spPr>
          <a:xfrm>
            <a:off x="2980358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8" name="Shape 226"/>
          <p:cNvSpPr/>
          <p:nvPr/>
        </p:nvSpPr>
        <p:spPr>
          <a:xfrm>
            <a:off x="3401318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29" name="Shape 227"/>
          <p:cNvSpPr/>
          <p:nvPr/>
        </p:nvSpPr>
        <p:spPr>
          <a:xfrm>
            <a:off x="3611835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0" name="Shape 228"/>
          <p:cNvSpPr/>
          <p:nvPr/>
        </p:nvSpPr>
        <p:spPr>
          <a:xfrm>
            <a:off x="4453830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1" name="Shape 229"/>
          <p:cNvSpPr/>
          <p:nvPr/>
        </p:nvSpPr>
        <p:spPr>
          <a:xfrm>
            <a:off x="4664348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2" name="Shape 230"/>
          <p:cNvSpPr/>
          <p:nvPr/>
        </p:nvSpPr>
        <p:spPr>
          <a:xfrm>
            <a:off x="5085383" y="7454205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3" name="Shape 231"/>
          <p:cNvSpPr/>
          <p:nvPr/>
        </p:nvSpPr>
        <p:spPr>
          <a:xfrm>
            <a:off x="1085850" y="766472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4" name="Shape 232"/>
          <p:cNvSpPr/>
          <p:nvPr/>
        </p:nvSpPr>
        <p:spPr>
          <a:xfrm>
            <a:off x="1506810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5" name="Shape 233"/>
          <p:cNvSpPr/>
          <p:nvPr/>
        </p:nvSpPr>
        <p:spPr>
          <a:xfrm>
            <a:off x="1717328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6" name="Shape 234"/>
          <p:cNvSpPr/>
          <p:nvPr/>
        </p:nvSpPr>
        <p:spPr>
          <a:xfrm>
            <a:off x="1927845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7" name="Shape 235"/>
          <p:cNvSpPr/>
          <p:nvPr/>
        </p:nvSpPr>
        <p:spPr>
          <a:xfrm>
            <a:off x="2348805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8" name="Shape 236"/>
          <p:cNvSpPr/>
          <p:nvPr/>
        </p:nvSpPr>
        <p:spPr>
          <a:xfrm>
            <a:off x="2769840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39" name="Shape 237"/>
          <p:cNvSpPr/>
          <p:nvPr/>
        </p:nvSpPr>
        <p:spPr>
          <a:xfrm>
            <a:off x="2980358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0" name="Shape 238"/>
          <p:cNvSpPr/>
          <p:nvPr/>
        </p:nvSpPr>
        <p:spPr>
          <a:xfrm>
            <a:off x="3190875" y="7664723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1" name="Shape 239"/>
          <p:cNvSpPr/>
          <p:nvPr/>
        </p:nvSpPr>
        <p:spPr>
          <a:xfrm>
            <a:off x="3822353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2" name="Shape 240"/>
          <p:cNvSpPr/>
          <p:nvPr/>
        </p:nvSpPr>
        <p:spPr>
          <a:xfrm>
            <a:off x="4032870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3" name="Shape 241"/>
          <p:cNvSpPr/>
          <p:nvPr/>
        </p:nvSpPr>
        <p:spPr>
          <a:xfrm>
            <a:off x="4453830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4" name="Shape 242"/>
          <p:cNvSpPr/>
          <p:nvPr/>
        </p:nvSpPr>
        <p:spPr>
          <a:xfrm>
            <a:off x="4664348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5" name="Shape 243"/>
          <p:cNvSpPr/>
          <p:nvPr/>
        </p:nvSpPr>
        <p:spPr>
          <a:xfrm>
            <a:off x="5085383" y="7664723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6" name="Shape 244"/>
          <p:cNvSpPr/>
          <p:nvPr/>
        </p:nvSpPr>
        <p:spPr>
          <a:xfrm>
            <a:off x="1085850" y="787524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7" name="Shape 245"/>
          <p:cNvSpPr/>
          <p:nvPr/>
        </p:nvSpPr>
        <p:spPr>
          <a:xfrm>
            <a:off x="2348805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8" name="Shape 246"/>
          <p:cNvSpPr/>
          <p:nvPr/>
        </p:nvSpPr>
        <p:spPr>
          <a:xfrm>
            <a:off x="2559323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49" name="Shape 247"/>
          <p:cNvSpPr/>
          <p:nvPr/>
        </p:nvSpPr>
        <p:spPr>
          <a:xfrm>
            <a:off x="2769840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0" name="Shape 248"/>
          <p:cNvSpPr/>
          <p:nvPr/>
        </p:nvSpPr>
        <p:spPr>
          <a:xfrm>
            <a:off x="3190875" y="7875240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1" name="Shape 249"/>
          <p:cNvSpPr/>
          <p:nvPr/>
        </p:nvSpPr>
        <p:spPr>
          <a:xfrm>
            <a:off x="3401318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2" name="Shape 250"/>
          <p:cNvSpPr/>
          <p:nvPr/>
        </p:nvSpPr>
        <p:spPr>
          <a:xfrm>
            <a:off x="3611835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3" name="Shape 251"/>
          <p:cNvSpPr/>
          <p:nvPr/>
        </p:nvSpPr>
        <p:spPr>
          <a:xfrm>
            <a:off x="4032870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4" name="Shape 252"/>
          <p:cNvSpPr/>
          <p:nvPr/>
        </p:nvSpPr>
        <p:spPr>
          <a:xfrm>
            <a:off x="5085383" y="7875240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5" name="Shape 253"/>
          <p:cNvSpPr/>
          <p:nvPr/>
        </p:nvSpPr>
        <p:spPr>
          <a:xfrm>
            <a:off x="1085850" y="808575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6" name="Shape 254"/>
          <p:cNvSpPr/>
          <p:nvPr/>
        </p:nvSpPr>
        <p:spPr>
          <a:xfrm>
            <a:off x="1296293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7" name="Shape 255"/>
          <p:cNvSpPr/>
          <p:nvPr/>
        </p:nvSpPr>
        <p:spPr>
          <a:xfrm>
            <a:off x="1506810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8" name="Shape 256"/>
          <p:cNvSpPr/>
          <p:nvPr/>
        </p:nvSpPr>
        <p:spPr>
          <a:xfrm>
            <a:off x="1717328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59" name="Shape 257"/>
          <p:cNvSpPr/>
          <p:nvPr/>
        </p:nvSpPr>
        <p:spPr>
          <a:xfrm>
            <a:off x="1927845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0" name="Shape 258"/>
          <p:cNvSpPr/>
          <p:nvPr/>
        </p:nvSpPr>
        <p:spPr>
          <a:xfrm>
            <a:off x="2138363" y="808575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1" name="Shape 259"/>
          <p:cNvSpPr/>
          <p:nvPr/>
        </p:nvSpPr>
        <p:spPr>
          <a:xfrm>
            <a:off x="2348805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2" name="Shape 260"/>
          <p:cNvSpPr/>
          <p:nvPr/>
        </p:nvSpPr>
        <p:spPr>
          <a:xfrm>
            <a:off x="2769840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3" name="Shape 261"/>
          <p:cNvSpPr/>
          <p:nvPr/>
        </p:nvSpPr>
        <p:spPr>
          <a:xfrm>
            <a:off x="2980358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4" name="Shape 262"/>
          <p:cNvSpPr/>
          <p:nvPr/>
        </p:nvSpPr>
        <p:spPr>
          <a:xfrm>
            <a:off x="3401318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5" name="Shape 263"/>
          <p:cNvSpPr/>
          <p:nvPr/>
        </p:nvSpPr>
        <p:spPr>
          <a:xfrm>
            <a:off x="3822353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6" name="Shape 264"/>
          <p:cNvSpPr/>
          <p:nvPr/>
        </p:nvSpPr>
        <p:spPr>
          <a:xfrm>
            <a:off x="4032870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7" name="Shape 265"/>
          <p:cNvSpPr/>
          <p:nvPr/>
        </p:nvSpPr>
        <p:spPr>
          <a:xfrm>
            <a:off x="4243388" y="8085758"/>
            <a:ext cx="191393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8" name="Shape 266"/>
          <p:cNvSpPr/>
          <p:nvPr/>
        </p:nvSpPr>
        <p:spPr>
          <a:xfrm>
            <a:off x="4453830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69" name="Shape 267"/>
          <p:cNvSpPr/>
          <p:nvPr/>
        </p:nvSpPr>
        <p:spPr>
          <a:xfrm>
            <a:off x="4664348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70" name="Shape 268"/>
          <p:cNvSpPr/>
          <p:nvPr/>
        </p:nvSpPr>
        <p:spPr>
          <a:xfrm>
            <a:off x="4874865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71" name="Shape 269"/>
          <p:cNvSpPr/>
          <p:nvPr/>
        </p:nvSpPr>
        <p:spPr>
          <a:xfrm>
            <a:off x="5085383" y="8085758"/>
            <a:ext cx="191467" cy="191467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72" name="Text 270"/>
          <p:cNvSpPr/>
          <p:nvPr/>
        </p:nvSpPr>
        <p:spPr>
          <a:xfrm>
            <a:off x="848678" y="8582025"/>
            <a:ext cx="4512945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6.1 </a:t>
            </a:r>
            <a:r>
              <a:rPr lang="en-US" sz="1275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占位 · 上线前替换为真实视频二维码或链接缩略图</a:t>
            </a:r>
            <a:endParaRPr lang="en-US" sz="1275" dirty="0"/>
          </a:p>
        </p:txBody>
      </p:sp>
      <p:sp>
        <p:nvSpPr>
          <p:cNvPr id="273" name="Text 271"/>
          <p:cNvSpPr/>
          <p:nvPr/>
        </p:nvSpPr>
        <p:spPr>
          <a:xfrm>
            <a:off x="6057900" y="3505795"/>
            <a:ext cx="6867525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SCAN · WALKTHROUGH</a:t>
            </a:r>
            <a:endParaRPr lang="en-US" sz="975" dirty="0"/>
          </a:p>
        </p:txBody>
      </p:sp>
      <p:sp>
        <p:nvSpPr>
          <p:cNvPr id="274" name="Text 272"/>
          <p:cNvSpPr/>
          <p:nvPr/>
        </p:nvSpPr>
        <p:spPr>
          <a:xfrm>
            <a:off x="6057900" y="3824883"/>
            <a:ext cx="6867525" cy="5181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提交链接 → 看完整个流程跑完。</a:t>
            </a:r>
            <a:endParaRPr lang="en-US" sz="3150" dirty="0"/>
          </a:p>
        </p:txBody>
      </p:sp>
      <p:sp>
        <p:nvSpPr>
          <p:cNvPr id="275" name="Text 273"/>
          <p:cNvSpPr/>
          <p:nvPr/>
        </p:nvSpPr>
        <p:spPr>
          <a:xfrm>
            <a:off x="6057900" y="4476378"/>
            <a:ext cx="6867525" cy="666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这段视频覆盖了我们今天讲的全部交互路径 —— 不再赘述细节，直接演示。</a:t>
            </a:r>
            <a:endParaRPr lang="en-US" sz="1650" dirty="0"/>
          </a:p>
        </p:txBody>
      </p:sp>
      <p:sp>
        <p:nvSpPr>
          <p:cNvPr id="276" name="Shape 274"/>
          <p:cNvSpPr/>
          <p:nvPr/>
        </p:nvSpPr>
        <p:spPr>
          <a:xfrm>
            <a:off x="6057900" y="5314578"/>
            <a:ext cx="6667500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77" name="Shape 275"/>
          <p:cNvSpPr/>
          <p:nvPr/>
        </p:nvSpPr>
        <p:spPr>
          <a:xfrm>
            <a:off x="6057900" y="6101283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78" name="Text 276"/>
          <p:cNvSpPr/>
          <p:nvPr/>
        </p:nvSpPr>
        <p:spPr>
          <a:xfrm>
            <a:off x="6667500" y="5462215"/>
            <a:ext cx="3383329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提交链接 · WebSocket 实时进度推送</a:t>
            </a:r>
            <a:endParaRPr lang="en-US" sz="1575" dirty="0"/>
          </a:p>
        </p:txBody>
      </p:sp>
      <p:sp>
        <p:nvSpPr>
          <p:cNvPr id="279" name="Text 277"/>
          <p:cNvSpPr/>
          <p:nvPr/>
        </p:nvSpPr>
        <p:spPr>
          <a:xfrm>
            <a:off x="6667500" y="5794623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8 个 stage indicator 依次点亮</a:t>
            </a:r>
            <a:endParaRPr lang="en-US" sz="975" dirty="0"/>
          </a:p>
        </p:txBody>
      </p:sp>
      <p:sp>
        <p:nvSpPr>
          <p:cNvPr id="280" name="Shape 278"/>
          <p:cNvSpPr/>
          <p:nvPr/>
        </p:nvSpPr>
        <p:spPr>
          <a:xfrm>
            <a:off x="6057900" y="6878464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81" name="Text 279"/>
          <p:cNvSpPr/>
          <p:nvPr/>
        </p:nvSpPr>
        <p:spPr>
          <a:xfrm>
            <a:off x="6667500" y="6239396"/>
            <a:ext cx="2482825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详情页 · hook / 三幕 / 章节</a:t>
            </a:r>
            <a:endParaRPr lang="en-US" sz="1575" dirty="0"/>
          </a:p>
        </p:txBody>
      </p:sp>
      <p:sp>
        <p:nvSpPr>
          <p:cNvPr id="282" name="Text 280"/>
          <p:cNvSpPr/>
          <p:nvPr/>
        </p:nvSpPr>
        <p:spPr>
          <a:xfrm>
            <a:off x="6667500" y="6571804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Sticky 播放器 + 大字 hook</a:t>
            </a:r>
            <a:endParaRPr lang="en-US" sz="975" dirty="0"/>
          </a:p>
        </p:txBody>
      </p:sp>
      <p:sp>
        <p:nvSpPr>
          <p:cNvPr id="283" name="Shape 281"/>
          <p:cNvSpPr/>
          <p:nvPr/>
        </p:nvSpPr>
        <p:spPr>
          <a:xfrm>
            <a:off x="6057900" y="7655644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84" name="Text 282"/>
          <p:cNvSpPr/>
          <p:nvPr/>
        </p:nvSpPr>
        <p:spPr>
          <a:xfrm>
            <a:off x="6667500" y="7016576"/>
            <a:ext cx="212787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点击引用 · seek 原音频</a:t>
            </a:r>
            <a:endParaRPr lang="en-US" sz="1575" dirty="0"/>
          </a:p>
        </p:txBody>
      </p:sp>
      <p:sp>
        <p:nvSpPr>
          <p:cNvPr id="285" name="Text 283"/>
          <p:cNvSpPr/>
          <p:nvPr/>
        </p:nvSpPr>
        <p:spPr>
          <a:xfrm>
            <a:off x="6667500" y="7348984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毫秒级 seek + 自动播放</a:t>
            </a:r>
            <a:endParaRPr lang="en-US" sz="975" dirty="0"/>
          </a:p>
        </p:txBody>
      </p:sp>
      <p:sp>
        <p:nvSpPr>
          <p:cNvPr id="286" name="Shape 284"/>
          <p:cNvSpPr/>
          <p:nvPr/>
        </p:nvSpPr>
        <p:spPr>
          <a:xfrm>
            <a:off x="6057900" y="8432825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87" name="Text 285"/>
          <p:cNvSpPr/>
          <p:nvPr/>
        </p:nvSpPr>
        <p:spPr>
          <a:xfrm>
            <a:off x="6667500" y="7793757"/>
            <a:ext cx="1939007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一键生成 TTS digest</a:t>
            </a:r>
            <a:endParaRPr lang="en-US" sz="1575" dirty="0"/>
          </a:p>
        </p:txBody>
      </p:sp>
      <p:sp>
        <p:nvSpPr>
          <p:cNvPr id="288" name="Text 286"/>
          <p:cNvSpPr/>
          <p:nvPr/>
        </p:nvSpPr>
        <p:spPr>
          <a:xfrm>
            <a:off x="6667500" y="8126164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wss 流式合成 · 30 s mp3</a:t>
            </a:r>
            <a:endParaRPr lang="en-US" sz="975" dirty="0"/>
          </a:p>
        </p:txBody>
      </p:sp>
      <p:sp>
        <p:nvSpPr>
          <p:cNvPr id="289" name="Shape 287"/>
          <p:cNvSpPr/>
          <p:nvPr/>
        </p:nvSpPr>
        <p:spPr>
          <a:xfrm>
            <a:off x="6057900" y="9210005"/>
            <a:ext cx="6667500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90" name="Text 288"/>
          <p:cNvSpPr/>
          <p:nvPr/>
        </p:nvSpPr>
        <p:spPr>
          <a:xfrm>
            <a:off x="6667500" y="8570937"/>
            <a:ext cx="2874396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下载 Markdown / JSON / MP3</a:t>
            </a:r>
            <a:endParaRPr lang="en-US" sz="1575" dirty="0"/>
          </a:p>
        </p:txBody>
      </p:sp>
      <p:sp>
        <p:nvSpPr>
          <p:cNvPr id="291" name="Text 289"/>
          <p:cNvSpPr/>
          <p:nvPr/>
        </p:nvSpPr>
        <p:spPr>
          <a:xfrm>
            <a:off x="6667500" y="8903345"/>
            <a:ext cx="6239637" cy="211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三种产物可独立分享</a:t>
            </a:r>
            <a:endParaRPr lang="en-US" sz="975" dirty="0"/>
          </a:p>
        </p:txBody>
      </p:sp>
      <p:sp>
        <p:nvSpPr>
          <p:cNvPr id="292" name="Shape 290"/>
          <p:cNvSpPr/>
          <p:nvPr/>
        </p:nvSpPr>
        <p:spPr>
          <a:xfrm>
            <a:off x="914400" y="96059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293" name="Text 291"/>
          <p:cNvSpPr/>
          <p:nvPr/>
        </p:nvSpPr>
        <p:spPr>
          <a:xfrm>
            <a:off x="914400" y="9777413"/>
            <a:ext cx="1429569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06 · LIVE DEMO</a:t>
            </a:r>
            <a:endParaRPr lang="en-US" sz="900" dirty="0"/>
          </a:p>
        </p:txBody>
      </p:sp>
      <p:sp>
        <p:nvSpPr>
          <p:cNvPr id="294" name="Text 292"/>
          <p:cNvSpPr/>
          <p:nvPr/>
        </p:nvSpPr>
        <p:spPr>
          <a:xfrm>
            <a:off x="8082186" y="9729788"/>
            <a:ext cx="2971508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视频文件路径见仓库 README · /docs/demo/</a:t>
            </a:r>
            <a:endParaRPr lang="en-US" sz="1200" dirty="0"/>
          </a:p>
        </p:txBody>
      </p:sp>
      <p:sp>
        <p:nvSpPr>
          <p:cNvPr id="295" name="Text 293"/>
          <p:cNvSpPr/>
          <p:nvPr/>
        </p:nvSpPr>
        <p:spPr>
          <a:xfrm>
            <a:off x="16781487" y="9777413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9926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488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971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76533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0088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225707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80538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896451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40914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356827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01365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606983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590291" y="266700"/>
            <a:ext cx="1460450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20" name="Text 18"/>
          <p:cNvSpPr/>
          <p:nvPr/>
        </p:nvSpPr>
        <p:spPr>
          <a:xfrm>
            <a:off x="14761741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07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277654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3" name="Text 21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1157288"/>
            <a:ext cx="3429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5" name="Text 23"/>
          <p:cNvSpPr/>
          <p:nvPr/>
        </p:nvSpPr>
        <p:spPr>
          <a:xfrm>
            <a:off x="1390650" y="1066800"/>
            <a:ext cx="53340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07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981200" y="1066800"/>
            <a:ext cx="317868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POST-MORTEM · SOLVED &amp; OPEN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259050" y="1066800"/>
            <a:ext cx="21907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VII · OF VII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4400" y="1390650"/>
            <a:ext cx="16952976" cy="11276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900" b="1" kern="0" spc="-19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六个 hard-won bug， 和我们还没解决的事。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914400" y="2956471"/>
            <a:ext cx="1146051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5A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A · SOLVED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75922" y="2918371"/>
            <a:ext cx="2207270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6 entries · root-cause &amp; lesson recorded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3589883"/>
            <a:ext cx="459581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2" name="Text 30"/>
          <p:cNvSpPr/>
          <p:nvPr/>
        </p:nvSpPr>
        <p:spPr>
          <a:xfrm>
            <a:off x="1028700" y="3308896"/>
            <a:ext cx="307181" cy="204788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1373981" y="3589883"/>
            <a:ext cx="2390031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4" name="Text 32"/>
          <p:cNvSpPr/>
          <p:nvPr/>
        </p:nvSpPr>
        <p:spPr>
          <a:xfrm>
            <a:off x="1488281" y="3308896"/>
            <a:ext cx="2237631" cy="204788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现象 · SYMPTOM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3764012" y="3589883"/>
            <a:ext cx="3309268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6" name="Text 34"/>
          <p:cNvSpPr/>
          <p:nvPr/>
        </p:nvSpPr>
        <p:spPr>
          <a:xfrm>
            <a:off x="3878312" y="3308896"/>
            <a:ext cx="3179946" cy="204788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根因 · ROOT CAUSE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7073280" y="3589883"/>
            <a:ext cx="3033713" cy="19050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8" name="Text 36"/>
          <p:cNvSpPr/>
          <p:nvPr/>
        </p:nvSpPr>
        <p:spPr>
          <a:xfrm>
            <a:off x="7187580" y="3308896"/>
            <a:ext cx="2896124" cy="204788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学到 · TAKEAWAY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914400" y="4317504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0" name="Text 38"/>
          <p:cNvSpPr/>
          <p:nvPr/>
        </p:nvSpPr>
        <p:spPr>
          <a:xfrm>
            <a:off x="1028700" y="3732758"/>
            <a:ext cx="307181" cy="49902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1373981" y="4317504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2" name="Text 40"/>
          <p:cNvSpPr/>
          <p:nvPr/>
        </p:nvSpPr>
        <p:spPr>
          <a:xfrm>
            <a:off x="1488281" y="3732758"/>
            <a:ext cx="2237631" cy="49902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 401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3764012" y="4317504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4" name="Text 42"/>
          <p:cNvSpPr/>
          <p:nvPr/>
        </p:nvSpPr>
        <p:spPr>
          <a:xfrm>
            <a:off x="3878312" y="3732758"/>
            <a:ext cx="3179946" cy="49902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Auth 头要 </a:t>
            </a:r>
            <a:r>
              <a:rPr lang="en-US" sz="12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Bearer;&lt;token&gt; </a:t>
            </a: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（分号，不是空格）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73280" y="4317504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6" name="Text 44"/>
          <p:cNvSpPr/>
          <p:nvPr/>
        </p:nvSpPr>
        <p:spPr>
          <a:xfrm>
            <a:off x="7187580" y="3732758"/>
            <a:ext cx="2896124" cy="49902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不是所有 API 都遵守 OAuth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914400" y="4809455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8" name="Text 46"/>
          <p:cNvSpPr/>
          <p:nvPr/>
        </p:nvSpPr>
        <p:spPr>
          <a:xfrm>
            <a:off x="1028700" y="4450854"/>
            <a:ext cx="307181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373981" y="4809455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0" name="Text 48"/>
          <p:cNvSpPr/>
          <p:nvPr/>
        </p:nvSpPr>
        <p:spPr>
          <a:xfrm>
            <a:off x="1488281" y="4450854"/>
            <a:ext cx="2237631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 400 · exceed max len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3764012" y="4809455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2" name="Text 50"/>
          <p:cNvSpPr/>
          <p:nvPr/>
        </p:nvSpPr>
        <p:spPr>
          <a:xfrm>
            <a:off x="3878312" y="4450854"/>
            <a:ext cx="317994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v1 单次 ≤ 1024 字节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73280" y="4809455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4" name="Text 52"/>
          <p:cNvSpPr/>
          <p:nvPr/>
        </p:nvSpPr>
        <p:spPr>
          <a:xfrm>
            <a:off x="7187580" y="4450854"/>
            <a:ext cx="2896124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utf-8 字节切句拼装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914400" y="5536183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6" name="Text 54"/>
          <p:cNvSpPr/>
          <p:nvPr/>
        </p:nvSpPr>
        <p:spPr>
          <a:xfrm>
            <a:off x="1028700" y="4942805"/>
            <a:ext cx="307181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02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⚠</a:t>
            </a:r>
            <a:endParaRPr lang="en-US" sz="1275" dirty="0"/>
          </a:p>
        </p:txBody>
      </p:sp>
      <p:sp>
        <p:nvSpPr>
          <p:cNvPr id="57" name="Shape 55"/>
          <p:cNvSpPr/>
          <p:nvPr/>
        </p:nvSpPr>
        <p:spPr>
          <a:xfrm>
            <a:off x="1373981" y="5536183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58" name="Text 56"/>
          <p:cNvSpPr/>
          <p:nvPr/>
        </p:nvSpPr>
        <p:spPr>
          <a:xfrm>
            <a:off x="1488281" y="4942805"/>
            <a:ext cx="2237631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BigTTS · concurrency exceeded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3764012" y="5536183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0" name="Text 58"/>
          <p:cNvSpPr/>
          <p:nvPr/>
        </p:nvSpPr>
        <p:spPr>
          <a:xfrm>
            <a:off x="3878312" y="4942805"/>
            <a:ext cx="3179946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resource_id 应为 </a:t>
            </a:r>
            <a:r>
              <a:rPr lang="en-US" sz="1200" dirty="0">
                <a:solidFill>
                  <a:srgbClr val="2C3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seed-tts-2.0 </a:t>
            </a: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，不是数字编号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073280" y="5536183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2" name="Text 60"/>
          <p:cNvSpPr/>
          <p:nvPr/>
        </p:nvSpPr>
        <p:spPr>
          <a:xfrm>
            <a:off x="7187580" y="4942805"/>
            <a:ext cx="2896124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错误信息可能误导</a:t>
            </a:r>
            <a:endParaRPr lang="en-US" sz="1275" dirty="0"/>
          </a:p>
        </p:txBody>
      </p:sp>
      <p:sp>
        <p:nvSpPr>
          <p:cNvPr id="63" name="Shape 61"/>
          <p:cNvSpPr/>
          <p:nvPr/>
        </p:nvSpPr>
        <p:spPr>
          <a:xfrm>
            <a:off x="914400" y="6028134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4" name="Text 62"/>
          <p:cNvSpPr/>
          <p:nvPr/>
        </p:nvSpPr>
        <p:spPr>
          <a:xfrm>
            <a:off x="1028700" y="5669533"/>
            <a:ext cx="307181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75" dirty="0"/>
          </a:p>
        </p:txBody>
      </p:sp>
      <p:sp>
        <p:nvSpPr>
          <p:cNvPr id="65" name="Shape 63"/>
          <p:cNvSpPr/>
          <p:nvPr/>
        </p:nvSpPr>
        <p:spPr>
          <a:xfrm>
            <a:off x="1373981" y="6028134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6" name="Text 64"/>
          <p:cNvSpPr/>
          <p:nvPr/>
        </p:nvSpPr>
        <p:spPr>
          <a:xfrm>
            <a:off x="1488281" y="5669533"/>
            <a:ext cx="2237631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digest.mp3 为空，无报错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3764012" y="6028134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68" name="Text 66"/>
          <p:cNvSpPr/>
          <p:nvPr/>
        </p:nvSpPr>
        <p:spPr>
          <a:xfrm>
            <a:off x="3878312" y="5669533"/>
            <a:ext cx="3179946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language=mixed 路由到英文音色被静默丢弃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073280" y="6028134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0" name="Text 68"/>
          <p:cNvSpPr/>
          <p:nvPr/>
        </p:nvSpPr>
        <p:spPr>
          <a:xfrm>
            <a:off x="7187580" y="5669533"/>
            <a:ext cx="2896124" cy="2728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静默失败比报错可怕</a:t>
            </a:r>
            <a:endParaRPr lang="en-US" sz="1275" dirty="0"/>
          </a:p>
        </p:txBody>
      </p:sp>
      <p:sp>
        <p:nvSpPr>
          <p:cNvPr id="71" name="Shape 69"/>
          <p:cNvSpPr/>
          <p:nvPr/>
        </p:nvSpPr>
        <p:spPr>
          <a:xfrm>
            <a:off x="914400" y="6754862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2" name="Text 70"/>
          <p:cNvSpPr/>
          <p:nvPr/>
        </p:nvSpPr>
        <p:spPr>
          <a:xfrm>
            <a:off x="1028700" y="6161484"/>
            <a:ext cx="307181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02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⚠</a:t>
            </a:r>
            <a:endParaRPr lang="en-US" sz="1275" dirty="0"/>
          </a:p>
        </p:txBody>
      </p:sp>
      <p:sp>
        <p:nvSpPr>
          <p:cNvPr id="73" name="Shape 71"/>
          <p:cNvSpPr/>
          <p:nvPr/>
        </p:nvSpPr>
        <p:spPr>
          <a:xfrm>
            <a:off x="1373981" y="6754862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4" name="Text 72"/>
          <p:cNvSpPr/>
          <p:nvPr/>
        </p:nvSpPr>
        <p:spPr>
          <a:xfrm>
            <a:off x="1488281" y="6161484"/>
            <a:ext cx="2237631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多 quote 时间戳全部一样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3764012" y="6754862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6" name="Text 74"/>
          <p:cNvSpPr/>
          <p:nvPr/>
        </p:nvSpPr>
        <p:spPr>
          <a:xfrm>
            <a:off x="3878312" y="6161484"/>
            <a:ext cx="3179946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旧逻辑返回 segment 起点，未做字符位置插值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073280" y="6754862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78" name="Text 76"/>
          <p:cNvSpPr/>
          <p:nvPr/>
        </p:nvSpPr>
        <p:spPr>
          <a:xfrm>
            <a:off x="7187580" y="6161484"/>
            <a:ext cx="2896124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02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数据分布要看</a:t>
            </a:r>
            <a:endParaRPr lang="en-US" sz="1275" dirty="0"/>
          </a:p>
        </p:txBody>
      </p:sp>
      <p:sp>
        <p:nvSpPr>
          <p:cNvPr id="79" name="Shape 77"/>
          <p:cNvSpPr/>
          <p:nvPr/>
        </p:nvSpPr>
        <p:spPr>
          <a:xfrm>
            <a:off x="914400" y="7426375"/>
            <a:ext cx="45958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0" name="Text 78"/>
          <p:cNvSpPr/>
          <p:nvPr/>
        </p:nvSpPr>
        <p:spPr>
          <a:xfrm>
            <a:off x="1028700" y="6888212"/>
            <a:ext cx="307181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275" dirty="0"/>
          </a:p>
        </p:txBody>
      </p:sp>
      <p:sp>
        <p:nvSpPr>
          <p:cNvPr id="81" name="Shape 79"/>
          <p:cNvSpPr/>
          <p:nvPr/>
        </p:nvSpPr>
        <p:spPr>
          <a:xfrm>
            <a:off x="1373981" y="7426375"/>
            <a:ext cx="2390031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2" name="Text 80"/>
          <p:cNvSpPr/>
          <p:nvPr/>
        </p:nvSpPr>
        <p:spPr>
          <a:xfrm>
            <a:off x="1488281" y="6888212"/>
            <a:ext cx="2237631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Retry worker 崩 · PendingRollback</a:t>
            </a:r>
            <a:endParaRPr lang="en-US" sz="1125" dirty="0"/>
          </a:p>
        </p:txBody>
      </p:sp>
      <p:sp>
        <p:nvSpPr>
          <p:cNvPr id="83" name="Shape 81"/>
          <p:cNvSpPr/>
          <p:nvPr/>
        </p:nvSpPr>
        <p:spPr>
          <a:xfrm>
            <a:off x="3764012" y="7426375"/>
            <a:ext cx="330926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4" name="Text 82"/>
          <p:cNvSpPr/>
          <p:nvPr/>
        </p:nvSpPr>
        <p:spPr>
          <a:xfrm>
            <a:off x="3878312" y="6888212"/>
            <a:ext cx="3179946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unique 约束撞车 + 未回滚事务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073280" y="7426375"/>
            <a:ext cx="3033713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86" name="Text 84"/>
          <p:cNvSpPr/>
          <p:nvPr/>
        </p:nvSpPr>
        <p:spPr>
          <a:xfrm>
            <a:off x="7187580" y="6888212"/>
            <a:ext cx="2896124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幂等是基本素养</a:t>
            </a:r>
            <a:endParaRPr lang="en-US" sz="1275" dirty="0"/>
          </a:p>
        </p:txBody>
      </p:sp>
      <p:sp>
        <p:nvSpPr>
          <p:cNvPr id="87" name="Text 85"/>
          <p:cNvSpPr/>
          <p:nvPr/>
        </p:nvSpPr>
        <p:spPr>
          <a:xfrm>
            <a:off x="10564192" y="2951708"/>
            <a:ext cx="1774701" cy="1952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A877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B · OPEN · 后续工作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5644887" y="2918371"/>
            <a:ext cx="1804913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471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M-numbered · roadmap items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10564192" y="3718471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0" name="Text 88"/>
          <p:cNvSpPr/>
          <p:nvPr/>
        </p:nvSpPr>
        <p:spPr>
          <a:xfrm>
            <a:off x="10945192" y="3327946"/>
            <a:ext cx="663269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集真实播客的人工准确率评估（本次未跑）。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[eval]</a:t>
            </a:r>
            <a:endParaRPr lang="en-US" sz="1350" dirty="0"/>
          </a:p>
        </p:txBody>
      </p:sp>
      <p:sp>
        <p:nvSpPr>
          <p:cNvPr id="91" name="Shape 89"/>
          <p:cNvSpPr/>
          <p:nvPr/>
        </p:nvSpPr>
        <p:spPr>
          <a:xfrm>
            <a:off x="10564192" y="4509046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2" name="Text 90"/>
          <p:cNvSpPr/>
          <p:nvPr/>
        </p:nvSpPr>
        <p:spPr>
          <a:xfrm>
            <a:off x="10945192" y="3861346"/>
            <a:ext cx="663269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 60 分钟样本的 ASR / LLM / TTS 分阶段耗时 —— 待 M2 机型 benchmark。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[perf]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10564192" y="5042446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4" name="Text 92"/>
          <p:cNvSpPr/>
          <p:nvPr/>
        </p:nvSpPr>
        <p:spPr>
          <a:xfrm>
            <a:off x="10945192" y="4651921"/>
            <a:ext cx="663269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多语言混合内容的同语言摘要质量优化。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[quality]</a:t>
            </a:r>
            <a:endParaRPr lang="en-US" sz="1350" dirty="0"/>
          </a:p>
        </p:txBody>
      </p:sp>
      <p:sp>
        <p:nvSpPr>
          <p:cNvPr id="95" name="Shape 93"/>
          <p:cNvSpPr/>
          <p:nvPr/>
        </p:nvSpPr>
        <p:spPr>
          <a:xfrm>
            <a:off x="10564192" y="5575846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6" name="Text 94"/>
          <p:cNvSpPr/>
          <p:nvPr/>
        </p:nvSpPr>
        <p:spPr>
          <a:xfrm>
            <a:off x="10945192" y="5185321"/>
            <a:ext cx="663269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Doubao 云端 smoke fixture，降低 provider API 变化带来的回归风险。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[infra]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10564192" y="6109246"/>
            <a:ext cx="6809408" cy="9525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98" name="Text 96"/>
          <p:cNvSpPr/>
          <p:nvPr/>
        </p:nvSpPr>
        <p:spPr>
          <a:xfrm>
            <a:off x="10945192" y="5718721"/>
            <a:ext cx="663269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 Playwright E2E —— batch · quote-seek · digest-retry 三条路径。 </a:t>
            </a:r>
            <a:r>
              <a:rPr lang="en-US" sz="825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[test]</a:t>
            </a:r>
            <a:endParaRPr lang="en-US" sz="1350" dirty="0"/>
          </a:p>
        </p:txBody>
      </p:sp>
      <p:sp>
        <p:nvSpPr>
          <p:cNvPr id="99" name="Shape 97"/>
          <p:cNvSpPr/>
          <p:nvPr/>
        </p:nvSpPr>
        <p:spPr>
          <a:xfrm>
            <a:off x="10564192" y="6290221"/>
            <a:ext cx="6809408" cy="1060996"/>
          </a:xfrm>
          <a:prstGeom prst="rect">
            <a:avLst/>
          </a:prstGeom>
          <a:solidFill>
            <a:srgbClr val="F8EBE7"/>
          </a:solidFill>
        </p:spPr>
      </p:sp>
      <p:sp>
        <p:nvSpPr>
          <p:cNvPr id="100" name="Shape 98"/>
          <p:cNvSpPr/>
          <p:nvPr/>
        </p:nvSpPr>
        <p:spPr>
          <a:xfrm>
            <a:off x="10564192" y="6290221"/>
            <a:ext cx="38100" cy="1060996"/>
          </a:xfrm>
          <a:prstGeom prst="rect">
            <a:avLst/>
          </a:prstGeom>
          <a:solidFill>
            <a:srgbClr val="A02A1E"/>
          </a:solidFill>
        </p:spPr>
      </p:sp>
      <p:sp>
        <p:nvSpPr>
          <p:cNvPr id="101" name="Text 99"/>
          <p:cNvSpPr/>
          <p:nvPr/>
        </p:nvSpPr>
        <p:spPr>
          <a:xfrm>
            <a:off x="10811842" y="6442621"/>
            <a:ext cx="6542774" cy="1762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A02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OBSERVATION</a:t>
            </a:r>
            <a:endParaRPr lang="en-US" sz="825" dirty="0"/>
          </a:p>
        </p:txBody>
      </p:sp>
      <p:sp>
        <p:nvSpPr>
          <p:cNvPr id="102" name="Text 100"/>
          <p:cNvSpPr/>
          <p:nvPr/>
        </p:nvSpPr>
        <p:spPr>
          <a:xfrm>
            <a:off x="10811842" y="6637883"/>
            <a:ext cx="6542774" cy="599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 6 个 bug 里，没有一个是 AI 第一次就能告诉你的 —— 都靠人去看响应、读协议、跟 DB 一行一行核对。</a:t>
            </a:r>
            <a:endParaRPr lang="en-US" sz="1425" dirty="0"/>
          </a:p>
        </p:txBody>
      </p:sp>
      <p:sp>
        <p:nvSpPr>
          <p:cNvPr id="103" name="Shape 101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104" name="Text 102"/>
          <p:cNvSpPr/>
          <p:nvPr/>
        </p:nvSpPr>
        <p:spPr>
          <a:xfrm>
            <a:off x="914400" y="9782175"/>
            <a:ext cx="219075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07 · BUGS — POST-MORTEM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8437141" y="9744075"/>
            <a:ext cx="3024240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each solved bug has a corresponding regression test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" name="Shape 1"/>
          <p:cNvSpPr/>
          <p:nvPr/>
        </p:nvSpPr>
        <p:spPr>
          <a:xfrm>
            <a:off x="4091211" y="323850"/>
            <a:ext cx="9525" cy="214313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4" name="Text 2"/>
          <p:cNvSpPr/>
          <p:nvPr/>
        </p:nvSpPr>
        <p:spPr>
          <a:xfrm>
            <a:off x="914400" y="323850"/>
            <a:ext cx="3005701" cy="25241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3888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84450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60926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166545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83041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488659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5081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810699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27121" y="338138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343034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49161" y="333375"/>
            <a:ext cx="496863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05·2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1665074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471202" y="338138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776820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93242" y="333375"/>
            <a:ext cx="286569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4098860" y="323850"/>
            <a:ext cx="4088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3" dirty="0">
                <a:solidFill>
                  <a:srgbClr val="8A9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943832" y="266700"/>
            <a:ext cx="1106909" cy="328613"/>
          </a:xfrm>
          <a:prstGeom prst="rect">
            <a:avLst/>
          </a:prstGeom>
          <a:solidFill>
            <a:srgbClr val="EAF0FB"/>
          </a:solidFill>
        </p:spPr>
      </p:sp>
      <p:sp>
        <p:nvSpPr>
          <p:cNvPr id="22" name="Text 20"/>
          <p:cNvSpPr/>
          <p:nvPr/>
        </p:nvSpPr>
        <p:spPr>
          <a:xfrm>
            <a:off x="15115282" y="338138"/>
            <a:ext cx="391716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5526048" y="328613"/>
            <a:ext cx="419919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53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收尾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279341" y="316706"/>
            <a:ext cx="9525" cy="228600"/>
          </a:xfrm>
          <a:prstGeom prst="rect">
            <a:avLst/>
          </a:prstGeom>
          <a:solidFill>
            <a:srgbClr val="C9CCD2"/>
          </a:solidFill>
        </p:spPr>
      </p:sp>
      <p:sp>
        <p:nvSpPr>
          <p:cNvPr id="25" name="Text 23"/>
          <p:cNvSpPr/>
          <p:nvPr/>
        </p:nvSpPr>
        <p:spPr>
          <a:xfrm>
            <a:off x="16517466" y="316706"/>
            <a:ext cx="932334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53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714500" y="2503215"/>
            <a:ext cx="7620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7" name="Text 25"/>
          <p:cNvSpPr/>
          <p:nvPr/>
        </p:nvSpPr>
        <p:spPr>
          <a:xfrm>
            <a:off x="2647950" y="2424633"/>
            <a:ext cx="2458641" cy="2047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1F3C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收尾一句 · CLOSING REMARK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5201841" y="2503215"/>
            <a:ext cx="762000" cy="9525"/>
          </a:xfrm>
          <a:prstGeom prst="rect">
            <a:avLst/>
          </a:prstGeom>
          <a:solidFill>
            <a:srgbClr val="1F3C7A"/>
          </a:solidFill>
        </p:spPr>
      </p:sp>
      <p:sp>
        <p:nvSpPr>
          <p:cNvPr id="29" name="Text 27"/>
          <p:cNvSpPr/>
          <p:nvPr/>
        </p:nvSpPr>
        <p:spPr>
          <a:xfrm>
            <a:off x="1714500" y="2938983"/>
            <a:ext cx="15304770" cy="2247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0" kern="0" spc="-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是</a:t>
            </a:r>
            <a:r>
              <a:rPr lang="en-US" sz="7500" i="1" kern="0" spc="-75" dirty="0">
                <a:solidFill>
                  <a:srgbClr val="1F3C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工具 </a:t>
            </a:r>
            <a:r>
              <a:rPr lang="en-US" sz="7500" kern="0" spc="-75" dirty="0">
                <a:solidFill>
                  <a:srgbClr val="1417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 不是答案。</a:t>
            </a:r>
            <a:endParaRPr lang="en-US" sz="7500" dirty="0"/>
          </a:p>
        </p:txBody>
      </p:sp>
      <p:sp>
        <p:nvSpPr>
          <p:cNvPr id="30" name="Text 28"/>
          <p:cNvSpPr/>
          <p:nvPr/>
        </p:nvSpPr>
        <p:spPr>
          <a:xfrm>
            <a:off x="1714500" y="5529783"/>
            <a:ext cx="14716125" cy="144675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这套东西，是</a:t>
            </a:r>
            <a:r>
              <a:rPr lang="en-US" sz="255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查</a:t>
            </a:r>
            <a:r>
              <a:rPr lang="en-US" sz="25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出来的、</a:t>
            </a:r>
            <a:r>
              <a:rPr lang="en-US" sz="255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设计</a:t>
            </a:r>
            <a:r>
              <a:rPr lang="en-US" sz="25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出来的、</a:t>
            </a:r>
            <a:r>
              <a:rPr lang="en-US" sz="2550" i="1" dirty="0">
                <a:solidFill>
                  <a:srgbClr val="A02A1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写 </a:t>
            </a:r>
            <a:r>
              <a:rPr lang="en-US" sz="2550" i="1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出来的 —— 每一行代码背后都有一个『为什么这么写』， 而那些『为什么』，AI 给不了你。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714500" y="7833792"/>
            <a:ext cx="148590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2" name="Text 30"/>
          <p:cNvSpPr/>
          <p:nvPr/>
        </p:nvSpPr>
        <p:spPr>
          <a:xfrm>
            <a:off x="1714500" y="8038579"/>
            <a:ext cx="4168036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1417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GOTIT · PODCAST-SUMMARY </a:t>
            </a: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COURSE PRE · 2026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3928527" y="8033817"/>
            <a:ext cx="2724323" cy="2143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 · 问答时间 — Q &amp; A —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14171C"/>
          </a:solidFill>
        </p:spPr>
      </p:sp>
      <p:sp>
        <p:nvSpPr>
          <p:cNvPr id="35" name="Text 33"/>
          <p:cNvSpPr/>
          <p:nvPr/>
        </p:nvSpPr>
        <p:spPr>
          <a:xfrm>
            <a:off x="914400" y="9782175"/>
            <a:ext cx="1344960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FIN · CLOSING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32366" y="9744075"/>
            <a:ext cx="1176114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i="1" kern="0" spc="24" dirty="0">
                <a:solidFill>
                  <a:srgbClr val="2C313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 end of report 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781487" y="9782175"/>
            <a:ext cx="668313" cy="185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5B64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728663"/>
            <a:ext cx="16459200" cy="9525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1333500" y="2890912"/>
            <a:ext cx="8216503" cy="1847850"/>
          </a:xfrm>
          <a:prstGeom prst="rect">
            <a:avLst/>
          </a:prstGeom>
          <a:noFill/>
          <a:effectLst>
            <a:outerShdw blurRad="762000" dist="38100" dir="5400000" algn="bl" rotWithShape="0">
              <a:srgbClr val="000000">
                <a:alpha val="6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0" i="1" kern="0" spc="-45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Thank you</a:t>
            </a:r>
            <a:r>
              <a:rPr lang="en-US" sz="15000" i="1" kern="0" spc="-450" dirty="0">
                <a:solidFill>
                  <a:srgbClr val="FF8A3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.</a:t>
            </a:r>
            <a:endParaRPr lang="en-US" sz="15000" dirty="0"/>
          </a:p>
        </p:txBody>
      </p:sp>
      <p:sp>
        <p:nvSpPr>
          <p:cNvPr id="15" name="Text 12"/>
          <p:cNvSpPr/>
          <p:nvPr/>
        </p:nvSpPr>
        <p:spPr>
          <a:xfrm>
            <a:off x="6097270" y="7641664"/>
            <a:ext cx="635347" cy="10763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kern="0" spc="-29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</a:t>
            </a:r>
            <a:endParaRPr lang="en-US" sz="5700" dirty="0"/>
          </a:p>
        </p:txBody>
      </p:sp>
      <p:sp>
        <p:nvSpPr>
          <p:cNvPr id="16" name="Text 13"/>
          <p:cNvSpPr/>
          <p:nvPr/>
        </p:nvSpPr>
        <p:spPr>
          <a:xfrm>
            <a:off x="6426547" y="8117914"/>
            <a:ext cx="491728" cy="457200"/>
          </a:xfrm>
          <a:prstGeom prst="rect">
            <a:avLst/>
          </a:prstGeom>
          <a:noFill/>
          <a:effectLst>
            <a:outerShdw blurRad="285750" dist="19050" dir="5400000" algn="bl" rotWithShape="0">
              <a:srgbClr val="000000">
                <a:alpha val="275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6882080" y="7641347"/>
            <a:ext cx="671289" cy="762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i="1" dirty="0">
                <a:solidFill>
                  <a:srgbClr val="FF8A3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&amp;</a:t>
            </a:r>
            <a:endParaRPr lang="en-US" sz="5700" dirty="0"/>
          </a:p>
        </p:txBody>
      </p:sp>
      <p:sp>
        <p:nvSpPr>
          <p:cNvPr id="18" name="Text 15"/>
          <p:cNvSpPr/>
          <p:nvPr/>
        </p:nvSpPr>
        <p:spPr>
          <a:xfrm>
            <a:off x="7702595" y="7641664"/>
            <a:ext cx="604317" cy="10763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kern="0" spc="-29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5700" dirty="0"/>
          </a:p>
        </p:txBody>
      </p:sp>
      <p:sp>
        <p:nvSpPr>
          <p:cNvPr id="20" name="Text 17"/>
          <p:cNvSpPr/>
          <p:nvPr/>
        </p:nvSpPr>
        <p:spPr>
          <a:xfrm>
            <a:off x="1333500" y="6224662"/>
            <a:ext cx="4763962" cy="7561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9154</Words>
  <Application>WPS 演示</Application>
  <PresentationFormat>On-screen Show (16:9)</PresentationFormat>
  <Paragraphs>1330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3" baseType="lpstr">
      <vt:lpstr>Arial</vt:lpstr>
      <vt:lpstr>宋体</vt:lpstr>
      <vt:lpstr>Wingdings</vt:lpstr>
      <vt:lpstr>JetBrains Mono</vt:lpstr>
      <vt:lpstr>苹方-简</vt:lpstr>
      <vt:lpstr>JetBrains Mono</vt:lpstr>
      <vt:lpstr>JetBrains Mono</vt:lpstr>
      <vt:lpstr>EB Garamond</vt:lpstr>
      <vt:lpstr>EB Garamond</vt:lpstr>
      <vt:lpstr>EB Garamond</vt:lpstr>
      <vt:lpstr>Noto Serif SC</vt:lpstr>
      <vt:lpstr>Noto Serif SC</vt:lpstr>
      <vt:lpstr>Noto Serif SC</vt:lpstr>
      <vt:lpstr>Noto Sans SC</vt:lpstr>
      <vt:lpstr>Noto Sans SC</vt:lpstr>
      <vt:lpstr>Noto Sans SC</vt:lpstr>
      <vt:lpstr>Calibri</vt:lpstr>
      <vt:lpstr>Helvetica Neue</vt:lpstr>
      <vt:lpstr>Thonburi</vt:lpstr>
      <vt:lpstr>微软雅黑</vt:lpstr>
      <vt:lpstr>汉仪旗黑</vt:lpstr>
      <vt:lpstr>汉仪书宋二KW</vt:lpstr>
      <vt:lpstr>宋体</vt:lpstr>
      <vt:lpstr>Arial Unicode MS</vt:lpstr>
      <vt:lpstr>等线</vt:lpstr>
      <vt:lpstr>汉仪中等线KW</vt:lpstr>
      <vt:lpstr>霞鹜文楷</vt:lpstr>
      <vt:lpstr>Apple Color Emoji</vt:lpstr>
      <vt:lpstr>儷宋 Pro</vt:lpstr>
      <vt:lpstr>Aa中宋 (非商业使用)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微信用户</cp:lastModifiedBy>
  <cp:revision>2</cp:revision>
  <dcterms:created xsi:type="dcterms:W3CDTF">2026-05-19T09:19:34Z</dcterms:created>
  <dcterms:modified xsi:type="dcterms:W3CDTF">2026-05-19T09:19:34Z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9B4A9D5295A4CCFD262B0C6AFB21F4CC_42</vt:lpwstr>
  </property>
  <property fmtid="{D5CDD505-2E9C-101B-9397-08002B2CF9AE}" pid="3" name="KSOProductBuildVer">
    <vt:lpwstr>2052-12.1.25869.25869</vt:lpwstr>
  </property>
</Properties>
</file>