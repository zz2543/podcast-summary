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52def90d854231" /><Relationship Type="http://schemas.openxmlformats.org/officeDocument/2006/relationships/extended-properties" Target="/docProps/app.xml" Id="R9830dc67ae9349d2" /><Relationship Type="http://schemas.openxmlformats.org/officeDocument/2006/relationships/officeDocument" Target="/ppt/presentation.xml" Id="Rd18fbc1000b143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61899a3ad247d3"/>
  </p:sldMasterIdLst>
  <p:notesMasterIdLst>
    <p:notesMasterId xmlns:r="http://schemas.openxmlformats.org/officeDocument/2006/relationships" r:id="Re3725992d08746d3"/>
  </p:notesMasterIdLst>
  <p:sldIdLst>
    <p:sldId xmlns:r="http://schemas.openxmlformats.org/officeDocument/2006/relationships" id="256" r:id="R1f17cb67830e4031"/>
    <p:sldId xmlns:r="http://schemas.openxmlformats.org/officeDocument/2006/relationships" id="257" r:id="Reeb6dbcd2d124a16"/>
    <p:sldId xmlns:r="http://schemas.openxmlformats.org/officeDocument/2006/relationships" id="258" r:id="R953bcdee52504cb6"/>
    <p:sldId xmlns:r="http://schemas.openxmlformats.org/officeDocument/2006/relationships" id="259" r:id="Rd80a03e1df174eb9"/>
    <p:sldId xmlns:r="http://schemas.openxmlformats.org/officeDocument/2006/relationships" id="260" r:id="R4b97bf7bfa634c07"/>
    <p:sldId xmlns:r="http://schemas.openxmlformats.org/officeDocument/2006/relationships" id="261" r:id="R71eda1e914a94b7b"/>
    <p:sldId xmlns:r="http://schemas.openxmlformats.org/officeDocument/2006/relationships" id="262" r:id="Red030174d31d4a80"/>
    <p:sldId xmlns:r="http://schemas.openxmlformats.org/officeDocument/2006/relationships" id="263" r:id="R2860dedd18154b99"/>
    <p:sldId xmlns:r="http://schemas.openxmlformats.org/officeDocument/2006/relationships" id="264" r:id="Raec1bbe8d56a49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1899a3ad247d3" /><Relationship Type="http://schemas.openxmlformats.org/officeDocument/2006/relationships/theme" Target="/ppt/theme/theme1.xml" Id="Rdef13348263e4852" /><Relationship Type="http://schemas.openxmlformats.org/officeDocument/2006/relationships/notesMaster" Target="/ppt/notesMasters/notesMaster1.xml" Id="Re3725992d08746d3" /><Relationship Type="http://schemas.openxmlformats.org/officeDocument/2006/relationships/presProps" Target="/ppt/presProps.xml" Id="R240c66edc23943ad" /><Relationship Type="http://schemas.openxmlformats.org/officeDocument/2006/relationships/viewProps" Target="/ppt/viewProps.xml" Id="Rf2a21fb27a07444e" /><Relationship Type="http://schemas.openxmlformats.org/officeDocument/2006/relationships/tableStyles" Target="/ppt/tableStyles.xml" Id="R2d41cefc1e1e48b1" /><Relationship Type="http://schemas.openxmlformats.org/officeDocument/2006/relationships/slide" Target="/ppt/slides/slide1.xml" Id="R1f17cb67830e4031" /><Relationship Type="http://schemas.openxmlformats.org/officeDocument/2006/relationships/slide" Target="/ppt/slides/slide2.xml" Id="Reeb6dbcd2d124a16" /><Relationship Type="http://schemas.openxmlformats.org/officeDocument/2006/relationships/slide" Target="/ppt/slides/slide3.xml" Id="R953bcdee52504cb6" /><Relationship Type="http://schemas.openxmlformats.org/officeDocument/2006/relationships/slide" Target="/ppt/slides/slide4.xml" Id="Rd80a03e1df174eb9" /><Relationship Type="http://schemas.openxmlformats.org/officeDocument/2006/relationships/slide" Target="/ppt/slides/slide5.xml" Id="R4b97bf7bfa634c07" /><Relationship Type="http://schemas.openxmlformats.org/officeDocument/2006/relationships/slide" Target="/ppt/slides/slide6.xml" Id="R71eda1e914a94b7b" /><Relationship Type="http://schemas.openxmlformats.org/officeDocument/2006/relationships/slide" Target="/ppt/slides/slide7.xml" Id="Red030174d31d4a80" /><Relationship Type="http://schemas.openxmlformats.org/officeDocument/2006/relationships/slide" Target="/ppt/slides/slide8.xml" Id="R2860dedd18154b99" /><Relationship Type="http://schemas.openxmlformats.org/officeDocument/2006/relationships/slide" Target="/ppt/slides/slide9.xml" Id="Raec1bbe8d56a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93894da732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60f61d546c44b9" /><Relationship Type="http://schemas.openxmlformats.org/officeDocument/2006/relationships/notesMaster" Target="/ppt/notesMasters/notesMaster1.xml" Id="R9677c879782149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91842eb0084d64" /><Relationship Type="http://schemas.openxmlformats.org/officeDocument/2006/relationships/notesMaster" Target="/ppt/notesMasters/notesMaster1.xml" Id="Red529eb82d9b45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9770fb230f4dac" /><Relationship Type="http://schemas.openxmlformats.org/officeDocument/2006/relationships/notesMaster" Target="/ppt/notesMasters/notesMaster1.xml" Id="Rfe87e162900842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d8c4dfde8476c" /><Relationship Type="http://schemas.openxmlformats.org/officeDocument/2006/relationships/notesMaster" Target="/ppt/notesMasters/notesMaster1.xml" Id="R8b402609a0b34a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b11b7a66414686" /><Relationship Type="http://schemas.openxmlformats.org/officeDocument/2006/relationships/notesMaster" Target="/ppt/notesMasters/notesMaster1.xml" Id="Re13567cb9734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06ee41a2f4ada" /><Relationship Type="http://schemas.openxmlformats.org/officeDocument/2006/relationships/notesMaster" Target="/ppt/notesMasters/notesMaster1.xml" Id="Rcb22a85b695842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dc8924c2a34e2f" /><Relationship Type="http://schemas.openxmlformats.org/officeDocument/2006/relationships/notesMaster" Target="/ppt/notesMasters/notesMaster1.xml" Id="Rc119ee59770f46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0a85df3d3c4044" /><Relationship Type="http://schemas.openxmlformats.org/officeDocument/2006/relationships/notesMaster" Target="/ppt/notesMasters/notesMaster1.xml" Id="R291fc8d1e80344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8ba8b4ecc94855" /><Relationship Type="http://schemas.openxmlformats.org/officeDocument/2006/relationships/notesMaster" Target="/ppt/notesMasters/notesMaster1.xml" Id="R5468240a34c94f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957815fe24c6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f4338472389410d" /><Relationship Type="http://schemas.openxmlformats.org/officeDocument/2006/relationships/slideLayout" Target="/ppt/slideLayouts/slideLayout2.xml" Id="Rd2440330551048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440330551048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6534b3b3d84b81" /><Relationship Type="http://schemas.openxmlformats.org/officeDocument/2006/relationships/image" Target="/ppt/media/image.png" Id="R93d44f7d6d4948e3" /><Relationship Type="http://schemas.openxmlformats.org/officeDocument/2006/relationships/image" Target="/ppt/media/image.svg" Id="Rce66011a0c324824" /><Relationship Type="http://schemas.openxmlformats.org/officeDocument/2006/relationships/notesSlide" Target="/ppt/notesSlides/notesSlide1.xml" Id="Ra6f7677fd39d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689a037de24483" /><Relationship Type="http://schemas.openxmlformats.org/officeDocument/2006/relationships/image" Target="/ppt/media/image2.png" Id="R855b9d775bca4c1b" /><Relationship Type="http://schemas.openxmlformats.org/officeDocument/2006/relationships/image" Target="/ppt/media/image2.svg" Id="Rc456e6bbe55e4305" /><Relationship Type="http://schemas.openxmlformats.org/officeDocument/2006/relationships/image" Target="/ppt/media/image3.png" Id="R123e8e4337b64b2c" /><Relationship Type="http://schemas.openxmlformats.org/officeDocument/2006/relationships/image" Target="/ppt/media/image3.svg" Id="R2692aa834e1145e3" /><Relationship Type="http://schemas.openxmlformats.org/officeDocument/2006/relationships/image" Target="/ppt/media/image4.png" Id="R29f278b592804207" /><Relationship Type="http://schemas.openxmlformats.org/officeDocument/2006/relationships/image" Target="/ppt/media/image4.svg" Id="R18361f8fe5114d1b" /><Relationship Type="http://schemas.openxmlformats.org/officeDocument/2006/relationships/image" Target="/ppt/media/image5.png" Id="R2986ea0f03ae4552" /><Relationship Type="http://schemas.openxmlformats.org/officeDocument/2006/relationships/image" Target="/ppt/media/image5.svg" Id="R99a31d05e1634564" /><Relationship Type="http://schemas.openxmlformats.org/officeDocument/2006/relationships/notesSlide" Target="/ppt/notesSlides/notesSlide2.xml" Id="R936afb52b53d4b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29bd52e5da4271" /><Relationship Type="http://schemas.openxmlformats.org/officeDocument/2006/relationships/image" Target="/ppt/media/image6.png" Id="Reb15f2131e93425c" /><Relationship Type="http://schemas.openxmlformats.org/officeDocument/2006/relationships/image" Target="/ppt/media/image6.svg" Id="R19d1f4a46f6a4b05" /><Relationship Type="http://schemas.openxmlformats.org/officeDocument/2006/relationships/notesSlide" Target="/ppt/notesSlides/notesSlide3.xml" Id="R975ca649b1b547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d15932077a4af0" /><Relationship Type="http://schemas.openxmlformats.org/officeDocument/2006/relationships/image" Target="/ppt/media/image7.png" Id="R29d28e495e36402e" /><Relationship Type="http://schemas.openxmlformats.org/officeDocument/2006/relationships/image" Target="/ppt/media/image7.svg" Id="R97d2abc2962b4e26" /><Relationship Type="http://schemas.openxmlformats.org/officeDocument/2006/relationships/notesSlide" Target="/ppt/notesSlides/notesSlide4.xml" Id="R3436a5fc81d24a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0b228520f74e88" /><Relationship Type="http://schemas.openxmlformats.org/officeDocument/2006/relationships/image" Target="/ppt/media/image8.png" Id="R0b7c28cd629c44e0" /><Relationship Type="http://schemas.openxmlformats.org/officeDocument/2006/relationships/image" Target="/ppt/media/image8.svg" Id="Rdfc7f243becc439d" /><Relationship Type="http://schemas.openxmlformats.org/officeDocument/2006/relationships/notesSlide" Target="/ppt/notesSlides/notesSlide5.xml" Id="R802bc0c43f71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d0f6096e942d1" /><Relationship Type="http://schemas.openxmlformats.org/officeDocument/2006/relationships/image" Target="/ppt/media/image9.png" Id="R70c8d54b60954f17" /><Relationship Type="http://schemas.openxmlformats.org/officeDocument/2006/relationships/image" Target="/ppt/media/image9.svg" Id="Rd4d07a31912c408c" /><Relationship Type="http://schemas.openxmlformats.org/officeDocument/2006/relationships/notesSlide" Target="/ppt/notesSlides/notesSlide6.xml" Id="Ra2b66635bdb9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5140dcf994038" /><Relationship Type="http://schemas.openxmlformats.org/officeDocument/2006/relationships/image" Target="/ppt/media/image10.png" Id="R672b09f2192f4009" /><Relationship Type="http://schemas.openxmlformats.org/officeDocument/2006/relationships/image" Target="/ppt/media/image10.svg" Id="R55c9cca076764307" /><Relationship Type="http://schemas.openxmlformats.org/officeDocument/2006/relationships/notesSlide" Target="/ppt/notesSlides/notesSlide7.xml" Id="R6a6c89c6bde145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6f894c7b24a2b" /><Relationship Type="http://schemas.openxmlformats.org/officeDocument/2006/relationships/image" Target="/ppt/media/image11.png" Id="Re8234db0d94442e4" /><Relationship Type="http://schemas.openxmlformats.org/officeDocument/2006/relationships/image" Target="/ppt/media/image11.svg" Id="R4d2be8e0d93041b5" /><Relationship Type="http://schemas.openxmlformats.org/officeDocument/2006/relationships/notesSlide" Target="/ppt/notesSlides/notesSlide8.xml" Id="Rfbdc7ebbfc9f46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db62016ed470d" /><Relationship Type="http://schemas.openxmlformats.org/officeDocument/2006/relationships/image" Target="/ppt/media/image12.png" Id="Rc8b216d715fe4d75" /><Relationship Type="http://schemas.openxmlformats.org/officeDocument/2006/relationships/image" Target="/ppt/media/image12.svg" Id="R31bdc7d2d4f54c88" /><Relationship Type="http://schemas.openxmlformats.org/officeDocument/2006/relationships/notesSlide" Target="/ppt/notesSlides/notesSlide9.xml" Id="Re47f6783344245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44f7d6d4948e3">
            <a:extLst>
              <a:ext uri="{96DAC541-7B7A-43D3-8B79-37D633B846F1}">
                <asvg:svgBlip xmlns:asvg="http://schemas.microsoft.com/office/drawing/2016/SVG/main" r:embed="Rce66011a0c3248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BF1AA-C5BE-4F69-BCC9-82DE3A3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E49AB-4A5D-4AA4-BD5D-B66566D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EBAFC-9D69-47FE-8E37-F501BBB2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A20F0-F641-4300-BED2-74786DA6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862E8-7B95-47FF-AD2E-3D5CFE6F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E4374-2A20-4F29-89C7-82EC1B9C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1/9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FAC96-88FD-4087-A9C4-1B7ED827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23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Turning long podcasts into reusable knowledge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F68C-F375-4537-811A-BF5D6939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81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This is not a simple AI summarizer. It is a usable web product for audio intake, transcription, structured review, verified quotes, audio digest, and Markdown knowledge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FAF0B-F8F8-401B-980F-9A2B4C68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219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4B5E2-AA23-4883-8DF3-39F0768C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52950"/>
            <a:ext cx="1047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ASR + LLM + TTS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03DBA-813F-4769-9BE3-6446287A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76750"/>
            <a:ext cx="1181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6C5453-340A-4176-B617-F1A7D99E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552950"/>
            <a:ext cx="1009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Verified quotes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290E0-EDBA-482E-AC58-23BD2B03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08054-C038-4A94-8745-9F18466F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552950"/>
            <a:ext cx="1371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5070B"/>
                </a:solidFill>
                <a:latin typeface="Inter"/>
                <a:ea typeface="Inter"/>
                <a:cs typeface="Inter"/>
              </a:defRPr>
            </a:pPr>
            <a:r>
              <a:rPr sz="638" b="1">
                <a:solidFill>
                  <a:srgbClr val="05070B"/>
                </a:solidFill>
                <a:latin typeface="Inter"/>
                <a:ea typeface="Inter"/>
                <a:cs typeface="Inter"/>
              </a:rPr>
              <a:t>Markdown → Obsidian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1FFBB-789E-4DC3-A818-D4ECE4E6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FF644-56DA-4268-AFCD-401FA41D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108" y="2758440"/>
            <a:ext cx="43434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36" b="1">
                <a:solidFill>
                  <a:srgbClr val="2D8FCF"/>
                </a:solidFill>
                <a:latin typeface="Inter"/>
                <a:ea typeface="Inter"/>
                <a:cs typeface="Inter"/>
              </a:defRPr>
            </a:pPr>
            <a:r>
              <a:rPr sz="2736" b="1">
                <a:solidFill>
                  <a:srgbClr val="2D8FCF"/>
                </a:solidFill>
                <a:latin typeface="Inter"/>
                <a:ea typeface="Inter"/>
                <a:cs typeface="Inter"/>
              </a:rPr>
              <a:t>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272E8-5441-4D7A-8B70-A2CAEB54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25527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4E18C-133E-4B91-B18D-DE064D5E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Structured</a:t>
            </a:r>
          </a:p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Podcast</a:t>
            </a:r>
          </a:p>
          <a:p xmlns:a="http://schemas.openxmlformats.org/drawingml/2006/main">
            <a:pPr algn="l">
              <a:defRPr sz="18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E1709-7E01-4A43-9AA9-CDC4ECDA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8640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C3E4F-9551-497C-91E8-2DD45C8E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ADE08-0A9A-427D-855A-6D843D7E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EDD80-5799-4240-9412-30C2F581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6255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2D299-2427-44C8-9CE5-7E1634B4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4830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69B84-BA42-43C6-BD3C-9AED7675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527DD0-F3E5-4E32-A29B-3732040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340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9AD41-AB7A-46B9-8520-4AEB4C0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24450"/>
            <a:ext cx="762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CF8A51-A461-4666-917B-CBFD5CEF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102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681B7-FC0D-4033-9C46-757BD557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006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63152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b9d775bca4c1b">
            <a:extLst>
              <a:ext uri="{96DAC541-7B7A-43D3-8B79-37D633B846F1}">
                <asvg:svgBlip xmlns:asvg="http://schemas.microsoft.com/office/drawing/2016/SVG/main" r:embed="Rc456e6bbe55e43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E65DE-7AD0-41CC-9330-46CFA3AE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DBEB0-31F1-4463-8656-5EACA56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FD52F-AD90-4ABF-BAAC-16B8675F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5ACC4-2E5B-4C97-82EE-B2C1D2DF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6BF16-52DE-47BB-907D-F88DAE8E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10481-8D5A-423A-BF7D-4F34DC34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2/9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FB058-8146-42DE-A1B9-ACDF996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The problem is not just listening time; it is triage, review, and retention.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6A4B1-C3E2-4948-81A9-0920EDB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The goal is to turn a 60-90 minute episode into material users can scan quickly, review deeply, and keep in their knowledge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4BB71-8796-4561-8257-296EAE38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e8e4337b64b2c">
            <a:extLst>
              <a:ext uri="{96DAC541-7B7A-43D3-8B79-37D633B846F1}">
                <asvg:svgBlip xmlns:asvg="http://schemas.microsoft.com/office/drawing/2016/SVG/main" r:embed="R2692aa834e1145e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E09D6-D130-445A-9A4E-E1C3624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Fast understanding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AB82D-389E-40D3-8DB0-CA3C1A85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A hook and structured summary help users decide whether to go deeper.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576A2-C3BB-4856-9703-AE367B14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278b592804207">
            <a:extLst>
              <a:ext uri="{96DAC541-7B7A-43D3-8B79-37D633B846F1}">
                <asvg:svgBlip xmlns:asvg="http://schemas.microsoft.com/office/drawing/2016/SVG/main" r:embed="R18361f8fe5114d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39D71-DE2E-4834-AA9A-4E35AD2F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Trustworthy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10F6C-DF8F-4452-87ED-7911E1E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Chapters, quotes, and timestamps bring users back to source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2E2A8-EEEE-436C-9C20-C7735BD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57550"/>
            <a:ext cx="2952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6ea0f03ae4552">
            <a:extLst>
              <a:ext uri="{96DAC541-7B7A-43D3-8B79-37D633B846F1}">
                <asvg:svgBlip xmlns:asvg="http://schemas.microsoft.com/office/drawing/2016/SVG/main" r:embed="R99a31d05e16345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48650" y="35433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235A9-FE5D-4972-AA6B-9EE2DE4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Knowledge 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61938-41F9-4081-AFDE-C97EFC89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Markdown/JSON exports move the episode into Obsidian or similar tools.</a:t>
            </a:r>
          </a:p>
        </p:txBody>
      </p:sp>
    </p:spTree>
    <p:extLst>
      <p:ext uri="{BB962C8B-B14F-4D97-AF65-F5344CB8AC3E}">
        <p14:creationId xmlns:p14="http://schemas.microsoft.com/office/powerpoint/2010/main" val="3694459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5f2131e93425c">
            <a:extLst>
              <a:ext uri="{96DAC541-7B7A-43D3-8B79-37D633B846F1}">
                <asvg:svgBlip xmlns:asvg="http://schemas.microsoft.com/office/drawing/2016/SVG/main" r:embed="R19d1f4a46f6a4b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18231-62E6-4BA0-A3F2-9B2FD78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20464-47CB-4AE7-9A8B-9E0C65B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993E2-47C9-42D6-9295-2D854B5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9F9F1-6005-416A-8D13-B5BDE0FE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1FE1C-AC25-4D2A-97E0-32B8276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7D6E2-F930-41F4-B887-070943B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3/9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2D830-484E-4D12-AA8A-AAE6819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6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The product is not a static result page; it is an interactive website with motion and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DEAB3-8EE8-4E14-96A6-9DAE0D67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Upload, processing, summary reveal, chapter switching, quote seeking, and audio digest generation all provide clear feedback.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17DB3-AFDE-49C9-86A8-C4540C34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8387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1A93D-0DB0-47EA-A637-D02366BB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Motion storyboard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9B6F2-1D07-4B2B-8F0A-F24CD5C9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F4571-D876-4C96-A58B-40B8999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09FCA-2331-4A5D-8EE5-DB830DED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Upload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2AB7F-D112-4C6C-9112-765E269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67424-2C6B-4E46-B7BE-AC1B01C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FC05FC-CC54-47EB-BD7A-CDD82F6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ASR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D906F-B4BC-4D98-9278-C1AE85B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97C1C-3D5C-4F8D-88CA-667F6A04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6E6FF-1C85-4019-B408-D765C7E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74257E-777C-42E6-8710-D8E7DAF4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35335-9EE4-4830-A98C-099A959E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9FC3CE-2069-4DCE-A1D8-58B1D28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Quote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9FA93-B003-40B0-8E97-6FB5A70E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FCF">
              <a:alpha val="56471"/>
            </a:srgbClr>
          </a:solidFill>
          <a:ln xmlns:a="http://schemas.openxmlformats.org/drawingml/2006/main" w="9525">
            <a:solidFill>
              <a:srgbClr val="FFFFFF">
                <a:alpha val="43922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A9608-335D-439C-A5D1-A77C4107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719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BE5C48-B214-4F59-8919-BE90188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1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Digest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BBB0D-6EE3-4EFA-9D29-4B986CAD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1F961-320C-4594-9DDC-9F61CF0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74A70-9891-4384-ACCD-9B12D1D3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Task card changes after upload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B3097-5D9E-4739-9DD3-3F7B53CA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8B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9CC7A-4CB9-4B1C-AFBA-68C41B96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ASR/LLM progress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A255E3-68D1-4EAA-8817-39481F05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E88380-54C1-4283-8073-B3D83A77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Summary and chapters reveal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94201A-F08E-42C4-943C-F6D56591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D8B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DA243-04CE-4A09-A4C3-A55B307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Quote click seeks original audio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33FDA-2489-4F20-A932-515EDF99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C7E8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415F6-1228-4415-91E4-9DF98542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339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Audio digest button state</a:t>
            </a:r>
          </a:p>
        </p:txBody>
      </p:sp>
    </p:spTree>
    <p:extLst>
      <p:ext uri="{BB962C8B-B14F-4D97-AF65-F5344CB8AC3E}">
        <p14:creationId xmlns:p14="http://schemas.microsoft.com/office/powerpoint/2010/main" val="16190954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28e495e36402e">
            <a:extLst>
              <a:ext uri="{96DAC541-7B7A-43D3-8B79-37D633B846F1}">
                <asvg:svgBlip xmlns:asvg="http://schemas.microsoft.com/office/drawing/2016/SVG/main" r:embed="R97d2abc2962b4e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9D631-15BC-40E7-8F4B-D7950F5F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0806F-8C6F-43D2-ACC6-6EB0F0B8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97416-B1CD-49D0-8A4C-33CA405E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38A0A-B960-4F8D-8D68-78124B48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B4396-C895-4FA2-921B-59578D40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28C00-D589-487C-AFEA-76B1E2C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4/9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82EA6-ADBF-4182-A767-A069B68A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The core workflow integrates prompt design and Obsidian into one cognition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81395-44EA-4390-92B3-4677135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563BF-E251-490C-AEDA-A70B0747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Podcast / YouTube / Audio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D12E-9764-4121-8944-149B13F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raw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CB1BB-A35C-4EAF-99EF-F65A6554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28E67-7F1D-4079-B0D1-AC997977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06CA1-4DC4-4A04-BFF3-9BC5DE01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Audio acquisition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13FE5-58EA-4D1E-810F-1D8E76F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pipeline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3A6CC-769D-4C68-84DB-A8F501B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D59A4-F479-42DC-92D2-02E627A3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6A09E-FCF4-4AF6-B92E-C979A29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ASR transcription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FDDE1-1893-4BFF-B910-677CD5CD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timestamped transcript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7D61F-DE89-40FA-BD9F-C967445A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1465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DD26A-1608-4A2D-9ECF-39C5BD9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25E43-B978-4A13-9657-7D7F79EC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09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Prompted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DF048-D197-4039-B5AA-BAD15CF3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cognition-first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4590B-2951-42BD-B09C-1DDB6A0A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FA4332-CE6D-42B0-B6F2-86F17D9A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Quick browse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77D27-B7E6-46E1-AE6F-C158F71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Background / Core / Agreement / Conclusion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70CC2F-B993-4195-8BF5-6AA9105D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7FACAB-1EBC-47AD-88F3-533874F6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BBEC4-2840-46C9-AA68-082FE00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Chapter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CDDE30-456A-4FE9-85A3-C5D73A6D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key points / quotes / timestamps / entities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B38A1-BADB-4156-A659-C521DEC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F9F56D-48CB-4792-88BC-EF3C65E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63AB3-5811-4A04-B80A-A347EBB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Export and reuse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8D30-7AFF-4A6D-8159-24D82C66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 / JSON / TTS digest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1AB5E-BC55-43DC-A355-3833B13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10100"/>
            <a:ext cx="4000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A8EF3C-E4A3-4CB9-9889-290D43BD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95750"/>
            <a:ext cx="2076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2ECCB6-7E80-47EB-B38E-A970EB7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013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Knowledge base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CBFB8-5196-4E72-A13D-EF4F92B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8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Obsidian / Notion / notes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3D1E07-D2E5-4DDA-9B45-129FA04D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143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60895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c28cd629c44e0">
            <a:extLst>
              <a:ext uri="{96DAC541-7B7A-43D3-8B79-37D633B846F1}">
                <asvg:svgBlip xmlns:asvg="http://schemas.microsoft.com/office/drawing/2016/SVG/main" r:embed="Rdfc7f243becc43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214A-6138-4499-B320-71F61910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51346-1E7E-449F-8589-6CF52CC3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C2E5E-141D-4C6B-B255-EDA3AEF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2A6CE-3B10-4901-93D9-61DA46DC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34D81-F590-4BF7-9A15-2B6C6760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B733E-F69C-4B5F-9033-5129D5A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5/9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11C27-C9B0-48BE-B2D3-0912520E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The feature set is organized into five user-facing layers.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D9FA9-9091-4F60-9527-C4A9BEA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5AC34-B465-406F-B0B5-46F1AC2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Input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545DC-0193-4496-AF87-904C815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098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local audio, direct URL, YouTube, batch submission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5F9E5-20FC-4910-B51F-202B433E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405BB-4295-4A66-B85D-0715A5E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AI processing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6A902-8775-446F-B884-B706D77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ASR transcription, LLM summary, TTS audio digest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8D973-EF0A-4BE7-9A8F-12CACE7D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9A660-7313-4DA7-99F4-DCACFBFA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Cognitive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581C6-638B-4823-9A7B-4C71D46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052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Background / Core Argument / Agreement / Conclusion + chapter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C68FF-703F-4B01-A597-3BEBCEDC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>
              <a:alpha val="21961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784E1-D4F8-4814-A26D-A17C2AB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Interaction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F971D-C3D1-49EC-AE82-508CCEE4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529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motion, progress feedback, chapter expansion, quote seeking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BA5EB-48BD-462E-9F2F-96B8F029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9982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A2ACC-5F0E-4CD6-AD49-C6780E8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Knowledge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50F84-609B-4BC9-9FC2-196064D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00600"/>
            <a:ext cx="600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63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 / JSON export into Obsidian-style note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285A55-4ADB-4B85-857B-6DE7FFE5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902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Quick browsing answers “is this worth my time”; chapter review answers “where are the key ideas”; quotes answer “did the source really say this.”</a:t>
            </a:r>
          </a:p>
        </p:txBody>
      </p:sp>
    </p:spTree>
    <p:extLst>
      <p:ext uri="{BB962C8B-B14F-4D97-AF65-F5344CB8AC3E}">
        <p14:creationId xmlns:p14="http://schemas.microsoft.com/office/powerpoint/2010/main" val="6047277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8d54b60954f17">
            <a:extLst>
              <a:ext uri="{96DAC541-7B7A-43D3-8B79-37D633B846F1}">
                <asvg:svgBlip xmlns:asvg="http://schemas.microsoft.com/office/drawing/2016/SVG/main" r:embed="Rd4d07a31912c40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8997A-003B-407D-A4B4-7CEC3365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654CE-36F5-4A61-B570-6E67598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96E1-FF46-43C0-AFD4-6D0BECB3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551D7-F622-45E0-AA5D-9A073882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23F3A-4763-4703-A561-2122A0D3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2F52C-8D0F-46CD-8160-56E5C97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6/9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5C7E8-3171-4942-B8DC-A6DCAB3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838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Engineering highlights show the work behind the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CC63B-E4AD-49A5-863B-2453165C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1E9CE-45E8-4E57-A433-3070F582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Pipeline state 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162C2-09AD-4037-8827-EEF6928F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Job stages with retry, resume, and degradation semantics.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7CE83-4D4B-4B64-9767-223E3AEA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9E6CFF-539B-442F-A5F5-1567B1E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SQLite 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058A4-FC15-438F-89F8-8AFC2B90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episode, job, transcript, chapter, quote, entity,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D9F4F-DEC2-4449-87CC-F921A09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99230-5EAB-4896-BC2E-2AA51D5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Concurrency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6D7ED-6C27-4914-B348-A2AA6194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Batch tasks obey MAX_CONCURRENCY.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34821-B7C8-4FF8-9F0B-7EEF8CD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BBA9B-A77D-4061-B70E-BB6537B9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Quote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0571F-89D6-4A7B-A4A9-3EED7D4E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Quotes must match the transcript verbatim before display.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64B87-8780-4571-B1DC-4EC650E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95808E-DD38-4D18-8DCA-B1B5F669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Prompt versioning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7D858-0F53-4EB4-9EAB-8F2B378E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Prompts live in prompts/ and are loaded by role/version.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46711-61B1-48A1-8D0C-1FB2B422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8A5A5-AC70-442E-BA54-2830E401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Multi-format export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7B2B22-54E9-4181-AD4B-8C27F31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0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38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Markdown, JSON, original audio, and TTS digest are downloadable.</a:t>
            </a:r>
          </a:p>
        </p:txBody>
      </p:sp>
    </p:spTree>
    <p:extLst>
      <p:ext uri="{BB962C8B-B14F-4D97-AF65-F5344CB8AC3E}">
        <p14:creationId xmlns:p14="http://schemas.microsoft.com/office/powerpoint/2010/main" val="14567904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b09f2192f4009">
            <a:extLst>
              <a:ext uri="{96DAC541-7B7A-43D3-8B79-37D633B846F1}">
                <asvg:svgBlip xmlns:asvg="http://schemas.microsoft.com/office/drawing/2016/SVG/main" r:embed="R55c9cca0767643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E2AF3-E660-45E9-8202-7B7188D2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A8AC9-225C-419F-A27D-17FADC3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13B6A-7A9D-462D-98F4-911ACBF0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97BB2-2C85-49C9-BE6F-751D9554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CDDB-C24A-4DED-977B-2A8B8BEA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FFC27-BE96-4CB5-96CC-C00942DB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7/9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733B9-6011-41E3-BC08-2F41E2E1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Tradeoffs and fixes show engineering reality, not a surface demo.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2E41-65BA-401C-A888-F84B0561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A4540-0A4D-4C46-931F-FD79E424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81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1446E-B8CF-4DCE-AC3A-2017E16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8602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03CA1-0FE4-4308-9091-62022B8C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SQLite write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0ADAA-61BB-45F7-AF2E-3B60B3B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289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Fixed by committing immediately after each checkpoint.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77705-515D-4BC6-AD9B-518AC270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138C2-A7DB-4DD1-B707-C8C8D71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EC3DA-BC45-4CF8-989C-13597536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Double quote defense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47F07-83E8-41D0-9FB0-DB5E4302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Verify on write and filter verified quotes again during JSON export.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786AC-6392-400D-BC0C-6454A45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98B33-6E69-496B-B75C-70D04AD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F1143-F6E9-46D2-B2DF-DD3D7B5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433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Optional-stage degrade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D5EDD-20AC-45D6-903F-6EDC3AB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TTS/entity failures do not break the whole episode.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F887C-3373-4618-B03C-55007938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387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39D70-228D-4EC5-B3BD-0703EF91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8763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CC3342-BE4A-45BD-8FD9-8ADF1345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625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V1 scope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96EB8-44D3-44C0-8164-CE7FA5D6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863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No diarization/auth/local model so the core workflow can ship.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E3B6F-1DEE-4565-A314-847F3A09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Tradeoffs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FBE44-43BD-4B86-8F72-51A7255E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B8C0CC"/>
                </a:solidFill>
                <a:latin typeface="Inter"/>
                <a:ea typeface="Inter"/>
                <a:cs typeface="Inter"/>
              </a:rPr>
              <a:t>Real engineering work means fixing failures and controlling scope.</a:t>
            </a:r>
          </a:p>
        </p:txBody>
      </p:sp>
    </p:spTree>
    <p:extLst>
      <p:ext uri="{BB962C8B-B14F-4D97-AF65-F5344CB8AC3E}">
        <p14:creationId xmlns:p14="http://schemas.microsoft.com/office/powerpoint/2010/main" val="9678939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34db0d94442e4">
            <a:extLst>
              <a:ext uri="{96DAC541-7B7A-43D3-8B79-37D633B846F1}">
                <asvg:svgBlip xmlns:asvg="http://schemas.microsoft.com/office/drawing/2016/SVG/main" r:embed="R4d2be8e0d93041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9D708-4324-4F11-829B-839618D3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A0A42-1A87-42F2-B6A2-7376FD8D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26C9A-CC7A-48AD-8A54-FF9CF4D5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EA0F2-C702-4AE7-B287-11B1745A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266A9-EE61-47FA-89AF-89BD497A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856B9-5E2B-4A93-93E4-58C49F5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8/9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FCCB1-CB80-4BD9-8DD7-971AF42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Completion is backed by tests, verification, and production serving.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1D7BC-2904-43D4-8D94-C53384A4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8930C-4FF0-42BA-A538-23879F92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8FC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2D8FCF"/>
                </a:solidFill>
                <a:latin typeface="Inter"/>
                <a:ea typeface="Inter"/>
                <a:cs typeface="Inter"/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E4CF-ECA7-40D5-91BD-AC86617A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Backend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B4E9D-027E-41AD-9C3D-8BED3C8F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9DFDF-D691-40C3-9F94-E39E95FA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4D8B6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54D8B6"/>
                </a:solidFill>
                <a:latin typeface="Inter"/>
                <a:ea typeface="Inter"/>
                <a:cs typeface="Inter"/>
              </a:rPr>
              <a:t>87.98%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AD513-E583-4C9B-977D-D60BBAAD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Domain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2054E-FD9D-493C-AF02-54B03F16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717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B5A46-D62F-4A07-8184-B1421822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CA1D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CA1D3"/>
                </a:solidFill>
                <a:latin typeface="Inter"/>
                <a:ea typeface="Inter"/>
                <a:cs typeface="Inter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1C6CB-5B70-4B81-A5F1-6BE79564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Quote verifier: PASS 1 / FAIL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35370-3638-41D1-B657-2351E52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55EE4-31B4-47D3-8A4E-ADB26D43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5C7E8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55C7E8"/>
                </a:solidFill>
                <a:latin typeface="Inter"/>
                <a:ea typeface="Inter"/>
                <a:cs typeface="Inter"/>
              </a:rPr>
              <a:t>206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358D5-3326-444D-B675-C875D94A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Range endpoint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7227F-AB9F-44A5-9220-70CB1FB9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C5F2A-DFA4-4F31-B049-1F26575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B55B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8B55B"/>
                </a:solidFill>
                <a:latin typeface="Inter"/>
                <a:ea typeface="Inter"/>
                <a:cs typeface="Inter"/>
              </a:rPr>
              <a:t>≤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6EF9F-F159-42F5-BEA9-D634A440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MAX_CONCURRENCY=2 respected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68EF9-D2EA-4DD6-960D-4487E3DE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2857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DE146-CA64-4BC0-B2F5-27820D6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576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Serve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CC373-41EE-4647-B799-6E4479E8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6ECF5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E6ECF5"/>
                </a:solidFill>
                <a:latin typeface="Inter"/>
                <a:ea typeface="Inter"/>
                <a:cs typeface="Inter"/>
              </a:rPr>
              <a:t>make build &amp;&amp; make serve passed</a:t>
            </a:r>
          </a:p>
        </p:txBody>
      </p:sp>
    </p:spTree>
    <p:extLst>
      <p:ext uri="{BB962C8B-B14F-4D97-AF65-F5344CB8AC3E}">
        <p14:creationId xmlns:p14="http://schemas.microsoft.com/office/powerpoint/2010/main" val="14477615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216d715fe4d75">
            <a:extLst>
              <a:ext uri="{96DAC541-7B7A-43D3-8B79-37D633B846F1}">
                <asvg:svgBlip xmlns:asvg="http://schemas.microsoft.com/office/drawing/2016/SVG/main" r:embed="R31bdc7d2d4f54c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48670-8E2C-46EA-B014-0D4A32FC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Podsum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72500-4184-413B-8ADE-9F344447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1A72F-60D0-49AC-902B-131706D0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"/>
            <a:ext cx="209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6080C"/>
                </a:solidFill>
                <a:latin typeface="Inter"/>
                <a:ea typeface="Inter"/>
                <a:cs typeface="Inter"/>
              </a:defRPr>
            </a:pPr>
            <a:r>
              <a:rPr sz="525" b="1">
                <a:solidFill>
                  <a:srgbClr val="06080C"/>
                </a:solidFill>
                <a:latin typeface="Inter"/>
                <a:ea typeface="Inter"/>
                <a:cs typeface="Inter"/>
              </a:rPr>
              <a:t>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369AC-16D0-4398-B41E-F92438F0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29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Podcast Knowledge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5EC7F-73FF-4A8B-9327-7AEA0701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BF2FD-7F5A-4786-B6FA-00858917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9/9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3FDA4-67F0-4A54-826E-D92B683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685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Not just an AI podcast summarizer, but a real learning workflow tool.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D1541-1F3D-4651-89B2-656B7254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4E9F0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E4E9F0"/>
                </a:solidFill>
                <a:latin typeface="Inter"/>
                <a:ea typeface="Inter"/>
                <a:cs typeface="Inter"/>
              </a:rPr>
              <a:t>This is not a simple AI summarizer. It is a usable web product for audio intake, transcription, structured review, verified quotes, audio digest, and Markdown knowledge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C8EF-1950-45AF-A2AE-5F536FC7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3337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00000">
              <a:alpha val="33725"/>
            </a:srgbClr>
          </a:solidFill>
          <a:ln xmlns:a="http://schemas.openxmlformats.org/drawingml/2006/main" w="11906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EEF29-F581-457D-995E-8C8C7C26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C0CC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B8C0CC"/>
                </a:solidFill>
                <a:latin typeface="Inter"/>
                <a:ea typeface="Inter"/>
                <a:cs typeface="Inter"/>
              </a:rPr>
              <a:t>Final message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E54F8-ECC2-4D13-868F-E6760D3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2686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7FAFF"/>
                </a:solidFill>
                <a:latin typeface="Inter"/>
                <a:ea typeface="Inter"/>
                <a:cs typeface="Inter"/>
              </a:rPr>
              <a:t>From listening once to producing verifiable, reviewable, reusable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C2729-196A-422A-B39E-AC38CD55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76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389A5-C3F0-451A-8D50-CFB071D9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43450"/>
            <a:ext cx="76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4F840-2D85-4BB0-BA2D-F13ACB12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19650"/>
            <a:ext cx="76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62DE7-772D-4543-9135-82EBF8C8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762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36F73-CE56-4869-80E4-295927AB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7680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FBF6-3128-49EE-9708-2CA57B3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67250"/>
            <a:ext cx="762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2E68A-56EE-49D8-976D-6B48517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76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CC5C7-CE6E-4E6C-A727-D9A5E183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762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388F1B-A00F-432E-A5E6-3D0CA6E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38700"/>
            <a:ext cx="76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FC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8D326-7198-45CB-86D8-275931B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29150"/>
            <a:ext cx="76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8388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2026-05-12T06:35:59.8050000Z</dcterms:created>
  <dcterms:modified xsi:type="dcterms:W3CDTF">2026-05-12T06:35:59.8050000Z</dcterms:modified>
</coreProperties>
</file>